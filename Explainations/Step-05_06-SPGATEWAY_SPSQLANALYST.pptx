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1"/>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4" r:id="rId18"/>
    <p:sldId id="275" r:id="rId19"/>
    <p:sldId id="277" r:id="rId20"/>
  </p:sldIdLst>
  <p:sldSz cx="14630400" cy="8229600"/>
  <p:notesSz cx="8229600" cy="14630400"/>
  <p:embeddedFontLst>
    <p:embeddedFont>
      <p:font typeface="Consolas" panose="020B0609020204030204" pitchFamily="49" charset="0"/>
      <p:regular r:id="rId22"/>
      <p:bold r:id="rId23"/>
      <p:italic r:id="rId24"/>
      <p:boldItalic r:id="rId25"/>
    </p:embeddedFont>
    <p:embeddedFont>
      <p:font typeface="Montserrat Bold" panose="00000800000000000000" pitchFamily="2" charset="0"/>
      <p:bold r:id="rId26"/>
    </p:embeddedFont>
    <p:embeddedFont>
      <p:font typeface="Montserrat Light" panose="00000400000000000000" pitchFamily="2" charset="0"/>
      <p:regular r:id="rId27"/>
      <p:italic r:id="rId28"/>
    </p:embeddedFont>
    <p:embeddedFont>
      <p:font typeface="Source Sans 3"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sv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23.xml"/><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Shape 0"/>
          <p:cNvSpPr/>
          <p:nvPr/>
        </p:nvSpPr>
        <p:spPr>
          <a:xfrm>
            <a:off x="6086713" y="761643"/>
            <a:ext cx="4926806" cy="242649"/>
          </a:xfrm>
          <a:prstGeom prst="roundRect">
            <a:avLst>
              <a:gd name="adj" fmla="val 7423"/>
            </a:avLst>
          </a:prstGeom>
          <a:solidFill>
            <a:srgbClr val="262626"/>
          </a:solidFill>
          <a:ln/>
        </p:spPr>
      </p:sp>
      <p:sp>
        <p:nvSpPr>
          <p:cNvPr id="4" name="Text 1"/>
          <p:cNvSpPr/>
          <p:nvPr/>
        </p:nvSpPr>
        <p:spPr>
          <a:xfrm>
            <a:off x="6176724" y="806648"/>
            <a:ext cx="4746784" cy="152638"/>
          </a:xfrm>
          <a:prstGeom prst="rect">
            <a:avLst/>
          </a:prstGeom>
          <a:noFill/>
          <a:ln/>
        </p:spPr>
        <p:txBody>
          <a:bodyPr wrap="none" lIns="0" tIns="0" rIns="0" bIns="0" rtlCol="0" anchor="t"/>
          <a:lstStyle/>
          <a:p>
            <a:pPr marL="0" indent="0" algn="l">
              <a:lnSpc>
                <a:spcPts val="1200"/>
              </a:lnSpc>
              <a:buNone/>
            </a:pPr>
            <a:r>
              <a:rPr lang="en-US" sz="900" dirty="0">
                <a:solidFill>
                  <a:srgbClr val="E2E6E9"/>
                </a:solidFill>
                <a:latin typeface="Source Sans 3" pitchFamily="34" charset="0"/>
                <a:ea typeface="Source Sans 3" pitchFamily="34" charset="-122"/>
                <a:cs typeface="Source Sans 3" pitchFamily="34" charset="-120"/>
              </a:rPr>
              <a:t>PYTHON STORED PROCEDURES · SNOWFLAKE CORTEX AI · INTENT CLASSIFICATION · NL-TO-SQL</a:t>
            </a:r>
            <a:endParaRPr lang="en-US" sz="900" dirty="0"/>
          </a:p>
        </p:txBody>
      </p:sp>
      <p:sp>
        <p:nvSpPr>
          <p:cNvPr id="5" name="Shape 2"/>
          <p:cNvSpPr/>
          <p:nvPr/>
        </p:nvSpPr>
        <p:spPr>
          <a:xfrm>
            <a:off x="5978604" y="1121569"/>
            <a:ext cx="4004786" cy="1536859"/>
          </a:xfrm>
          <a:prstGeom prst="roundRect">
            <a:avLst>
              <a:gd name="adj" fmla="val 1465"/>
            </a:avLst>
          </a:prstGeom>
          <a:solidFill>
            <a:srgbClr val="E8580C"/>
          </a:solidFill>
          <a:ln/>
        </p:spPr>
      </p:sp>
      <p:sp>
        <p:nvSpPr>
          <p:cNvPr id="6" name="Text 3"/>
          <p:cNvSpPr/>
          <p:nvPr/>
        </p:nvSpPr>
        <p:spPr>
          <a:xfrm>
            <a:off x="6128623" y="1225868"/>
            <a:ext cx="3704749" cy="852726"/>
          </a:xfrm>
          <a:prstGeom prst="rect">
            <a:avLst/>
          </a:prstGeom>
          <a:noFill/>
          <a:ln/>
        </p:spPr>
        <p:txBody>
          <a:bodyPr wrap="square" lIns="0" tIns="0" rIns="0" bIns="0" rtlCol="0" anchor="t"/>
          <a:lstStyle/>
          <a:p>
            <a:pPr marL="0" indent="0" algn="l">
              <a:lnSpc>
                <a:spcPts val="3350"/>
              </a:lnSpc>
              <a:buNone/>
            </a:pPr>
            <a:r>
              <a:rPr lang="en-US" sz="2650" b="1" dirty="0">
                <a:solidFill>
                  <a:srgbClr val="000000"/>
                </a:solidFill>
                <a:latin typeface="Montserrat Bold" pitchFamily="34" charset="0"/>
                <a:ea typeface="Montserrat Bold" pitchFamily="34" charset="-122"/>
                <a:cs typeface="Montserrat Bold" pitchFamily="34" charset="-120"/>
              </a:rPr>
              <a:t>Step 05 — SP_GATEWAY</a:t>
            </a:r>
            <a:endParaRPr lang="en-US" sz="2650" dirty="0"/>
          </a:p>
        </p:txBody>
      </p:sp>
      <p:sp>
        <p:nvSpPr>
          <p:cNvPr id="7" name="Text 4"/>
          <p:cNvSpPr/>
          <p:nvPr/>
        </p:nvSpPr>
        <p:spPr>
          <a:xfrm>
            <a:off x="6128623" y="2182892"/>
            <a:ext cx="3704749" cy="381714"/>
          </a:xfrm>
          <a:prstGeom prst="rect">
            <a:avLst/>
          </a:prstGeom>
          <a:noFill/>
          <a:ln/>
        </p:spPr>
        <p:txBody>
          <a:bodyPr wrap="square" lIns="0" tIns="0" rIns="0" bIns="0" rtlCol="0" anchor="t"/>
          <a:lstStyle/>
          <a:p>
            <a:pPr marL="0" indent="0" algn="l">
              <a:lnSpc>
                <a:spcPts val="1500"/>
              </a:lnSpc>
              <a:buNone/>
            </a:pPr>
            <a:r>
              <a:rPr lang="en-US" sz="1150" dirty="0">
                <a:solidFill>
                  <a:srgbClr val="000000"/>
                </a:solidFill>
                <a:latin typeface="Source Sans 3" pitchFamily="34" charset="0"/>
                <a:ea typeface="Source Sans 3" pitchFamily="34" charset="-122"/>
                <a:cs typeface="Source Sans 3" pitchFamily="34" charset="-120"/>
              </a:rPr>
              <a:t>The Orchestrator — classifies intent, routes messages, handles fallbacks, and persists conversation history.</a:t>
            </a:r>
            <a:endParaRPr lang="en-US" sz="1150" dirty="0"/>
          </a:p>
        </p:txBody>
      </p:sp>
      <p:sp>
        <p:nvSpPr>
          <p:cNvPr id="8" name="Shape 5"/>
          <p:cNvSpPr/>
          <p:nvPr/>
        </p:nvSpPr>
        <p:spPr>
          <a:xfrm>
            <a:off x="10141029" y="1121569"/>
            <a:ext cx="4004786" cy="1536859"/>
          </a:xfrm>
          <a:prstGeom prst="roundRect">
            <a:avLst>
              <a:gd name="adj" fmla="val 1465"/>
            </a:avLst>
          </a:prstGeom>
          <a:solidFill>
            <a:srgbClr val="1D1F22"/>
          </a:solidFill>
          <a:ln/>
        </p:spPr>
      </p:sp>
      <p:sp>
        <p:nvSpPr>
          <p:cNvPr id="9" name="Text 6"/>
          <p:cNvSpPr/>
          <p:nvPr/>
        </p:nvSpPr>
        <p:spPr>
          <a:xfrm>
            <a:off x="10291048" y="1225868"/>
            <a:ext cx="3704749" cy="852726"/>
          </a:xfrm>
          <a:prstGeom prst="rect">
            <a:avLst/>
          </a:prstGeom>
          <a:noFill/>
          <a:ln/>
        </p:spPr>
        <p:txBody>
          <a:bodyPr wrap="square" lIns="0" tIns="0" rIns="0" bIns="0" rtlCol="0" anchor="t"/>
          <a:lstStyle/>
          <a:p>
            <a:pPr marL="0" indent="0" algn="l">
              <a:lnSpc>
                <a:spcPts val="3350"/>
              </a:lnSpc>
              <a:buNone/>
            </a:pPr>
            <a:r>
              <a:rPr lang="en-US" sz="2650" b="1" dirty="0">
                <a:solidFill>
                  <a:srgbClr val="E2E6E9"/>
                </a:solidFill>
                <a:latin typeface="Montserrat Bold" pitchFamily="34" charset="0"/>
                <a:ea typeface="Montserrat Bold" pitchFamily="34" charset="-122"/>
                <a:cs typeface="Montserrat Bold" pitchFamily="34" charset="-120"/>
              </a:rPr>
              <a:t>Step 06 — SP_SQL_ANALYST</a:t>
            </a:r>
            <a:endParaRPr lang="en-US" sz="2650" dirty="0"/>
          </a:p>
        </p:txBody>
      </p:sp>
      <p:sp>
        <p:nvSpPr>
          <p:cNvPr id="10" name="Text 7"/>
          <p:cNvSpPr/>
          <p:nvPr/>
        </p:nvSpPr>
        <p:spPr>
          <a:xfrm>
            <a:off x="10291048" y="2182892"/>
            <a:ext cx="3704749" cy="381714"/>
          </a:xfrm>
          <a:prstGeom prst="rect">
            <a:avLst/>
          </a:prstGeom>
          <a:noFill/>
          <a:ln/>
        </p:spPr>
        <p:txBody>
          <a:bodyPr wrap="square" lIns="0" tIns="0" rIns="0" bIns="0" rtlCol="0" anchor="t"/>
          <a:lstStyle/>
          <a:p>
            <a:pPr marL="0" indent="0" algn="l">
              <a:lnSpc>
                <a:spcPts val="1500"/>
              </a:lnSpc>
              <a:buNone/>
            </a:pPr>
            <a:r>
              <a:rPr lang="en-US" sz="1150" dirty="0">
                <a:solidFill>
                  <a:srgbClr val="E2E6E9"/>
                </a:solidFill>
                <a:latin typeface="Source Sans 3" pitchFamily="34" charset="0"/>
                <a:ea typeface="Source Sans 3" pitchFamily="34" charset="-122"/>
                <a:cs typeface="Source Sans 3" pitchFamily="34" charset="-120"/>
              </a:rPr>
              <a:t>The Data Query Engine — converts natural language to SQL, executes it, and narrates the results.</a:t>
            </a:r>
            <a:endParaRPr lang="en-US" sz="1150" dirty="0"/>
          </a:p>
        </p:txBody>
      </p:sp>
      <p:sp>
        <p:nvSpPr>
          <p:cNvPr id="11" name="Text 8"/>
          <p:cNvSpPr/>
          <p:nvPr/>
        </p:nvSpPr>
        <p:spPr>
          <a:xfrm>
            <a:off x="6086713" y="2775704"/>
            <a:ext cx="7943374" cy="190857"/>
          </a:xfrm>
          <a:prstGeom prst="rect">
            <a:avLst/>
          </a:prstGeom>
          <a:noFill/>
          <a:ln/>
        </p:spPr>
        <p:txBody>
          <a:bodyPr wrap="none" lIns="0" tIns="0" rIns="0" bIns="0" rtlCol="0" anchor="t"/>
          <a:lstStyle/>
          <a:p>
            <a:pPr marL="0" indent="0" algn="l">
              <a:lnSpc>
                <a:spcPts val="1500"/>
              </a:lnSpc>
              <a:buNone/>
            </a:pPr>
            <a:r>
              <a:rPr lang="en-US" sz="1150" b="1" dirty="0">
                <a:solidFill>
                  <a:srgbClr val="E2E6E9"/>
                </a:solidFill>
                <a:latin typeface="Source Sans 3" pitchFamily="34" charset="0"/>
                <a:ea typeface="Source Sans 3" pitchFamily="34" charset="-122"/>
                <a:cs typeface="Source Sans 3" pitchFamily="34" charset="-120"/>
              </a:rPr>
              <a:t>The Orchestrator and the Data Query Engine — How the Chatbot Routes and Answers</a:t>
            </a:r>
            <a:endParaRPr lang="en-US" sz="1150" dirty="0"/>
          </a:p>
        </p:txBody>
      </p:sp>
      <p:pic>
        <p:nvPicPr>
          <p:cNvPr id="12" name="Image 1" descr="preencoded.png"/>
          <p:cNvPicPr>
            <a:picLocks noChangeAspect="1"/>
          </p:cNvPicPr>
          <p:nvPr/>
        </p:nvPicPr>
        <p:blipFill>
          <a:blip r:embed="rId4"/>
          <a:stretch>
            <a:fillRect/>
          </a:stretch>
        </p:blipFill>
        <p:spPr>
          <a:xfrm>
            <a:off x="6086713" y="3083838"/>
            <a:ext cx="7943374" cy="3574494"/>
          </a:xfrm>
          <a:prstGeom prst="rect">
            <a:avLst/>
          </a:prstGeom>
        </p:spPr>
      </p:pic>
      <p:sp>
        <p:nvSpPr>
          <p:cNvPr id="13" name="Text 9"/>
          <p:cNvSpPr/>
          <p:nvPr/>
        </p:nvSpPr>
        <p:spPr>
          <a:xfrm>
            <a:off x="7283250" y="3341137"/>
            <a:ext cx="1390081" cy="195241"/>
          </a:xfrm>
          <a:prstGeom prst="rect">
            <a:avLst/>
          </a:prstGeom>
          <a:noFill/>
          <a:ln/>
        </p:spPr>
        <p:txBody>
          <a:bodyPr wrap="none" lIns="0" tIns="0" rIns="0" bIns="0" rtlCol="0" anchor="t"/>
          <a:lstStyle/>
          <a:p>
            <a:pPr marL="0" indent="0" algn="ctr">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Streamlit</a:t>
            </a:r>
            <a:endParaRPr lang="en-US" sz="1200" dirty="0"/>
          </a:p>
        </p:txBody>
      </p:sp>
      <p:sp>
        <p:nvSpPr>
          <p:cNvPr id="14" name="Text 10"/>
          <p:cNvSpPr/>
          <p:nvPr/>
        </p:nvSpPr>
        <p:spPr>
          <a:xfrm>
            <a:off x="7283250" y="3597480"/>
            <a:ext cx="1390081" cy="145596"/>
          </a:xfrm>
          <a:prstGeom prst="rect">
            <a:avLst/>
          </a:prstGeom>
          <a:noFill/>
          <a:ln/>
        </p:spPr>
        <p:txBody>
          <a:bodyPr wrap="none" lIns="0" tIns="0" rIns="0" bIns="0" rtlCol="0" anchor="t"/>
          <a:lstStyle/>
          <a:p>
            <a:pPr marL="0" indent="0" algn="ctr">
              <a:lnSpc>
                <a:spcPts val="1100"/>
              </a:lnSpc>
              <a:buNone/>
            </a:pPr>
            <a:r>
              <a:rPr lang="en-US" sz="1050" dirty="0">
                <a:solidFill>
                  <a:srgbClr val="E2E6E9"/>
                </a:solidFill>
                <a:latin typeface="Source Sans 3" pitchFamily="34" charset="0"/>
                <a:ea typeface="Source Sans 3" pitchFamily="34" charset="-122"/>
                <a:cs typeface="Source Sans 3" pitchFamily="34" charset="-120"/>
              </a:rPr>
              <a:t>UI sends user message</a:t>
            </a:r>
            <a:endParaRPr lang="en-US" sz="1050" dirty="0"/>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28160" y="4206118"/>
            <a:ext cx="307898" cy="307899"/>
          </a:xfrm>
          <a:prstGeom prst="rect">
            <a:avLst/>
          </a:prstGeom>
        </p:spPr>
      </p:pic>
      <p:sp>
        <p:nvSpPr>
          <p:cNvPr id="16" name="Text 11"/>
          <p:cNvSpPr/>
          <p:nvPr/>
        </p:nvSpPr>
        <p:spPr>
          <a:xfrm>
            <a:off x="8658056" y="5949209"/>
            <a:ext cx="1397719" cy="195242"/>
          </a:xfrm>
          <a:prstGeom prst="rect">
            <a:avLst/>
          </a:prstGeom>
          <a:noFill/>
          <a:ln/>
        </p:spPr>
        <p:txBody>
          <a:bodyPr wrap="none" lIns="0" tIns="0" rIns="0" bIns="0" rtlCol="0" anchor="t"/>
          <a:lstStyle/>
          <a:p>
            <a:pPr marL="0" indent="0" algn="ctr">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SP_GATEWAY</a:t>
            </a:r>
            <a:endParaRPr lang="en-US" sz="1200" dirty="0"/>
          </a:p>
        </p:txBody>
      </p:sp>
      <p:sp>
        <p:nvSpPr>
          <p:cNvPr id="17" name="Text 12"/>
          <p:cNvSpPr/>
          <p:nvPr/>
        </p:nvSpPr>
        <p:spPr>
          <a:xfrm>
            <a:off x="8658056" y="6205553"/>
            <a:ext cx="1397719" cy="291192"/>
          </a:xfrm>
          <a:prstGeom prst="rect">
            <a:avLst/>
          </a:prstGeom>
          <a:noFill/>
          <a:ln/>
        </p:spPr>
        <p:txBody>
          <a:bodyPr wrap="square" lIns="0" tIns="0" rIns="0" bIns="0" rtlCol="0" anchor="t"/>
          <a:lstStyle/>
          <a:p>
            <a:pPr marL="0" indent="0" algn="ctr">
              <a:lnSpc>
                <a:spcPts val="1100"/>
              </a:lnSpc>
              <a:buNone/>
            </a:pPr>
            <a:r>
              <a:rPr lang="en-US" sz="1050" dirty="0">
                <a:solidFill>
                  <a:srgbClr val="E2E6E9"/>
                </a:solidFill>
                <a:latin typeface="Source Sans 3" pitchFamily="34" charset="0"/>
                <a:ea typeface="Source Sans 3" pitchFamily="34" charset="-122"/>
                <a:cs typeface="Source Sans 3" pitchFamily="34" charset="-120"/>
              </a:rPr>
              <a:t>Classifies intent and routes</a:t>
            </a:r>
            <a:endParaRPr lang="en-US" sz="1050" dirty="0"/>
          </a:p>
        </p:txBody>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02966" y="5328876"/>
            <a:ext cx="307899" cy="307899"/>
          </a:xfrm>
          <a:prstGeom prst="rect">
            <a:avLst/>
          </a:prstGeom>
        </p:spPr>
      </p:pic>
      <p:sp>
        <p:nvSpPr>
          <p:cNvPr id="19" name="Text 13"/>
          <p:cNvSpPr/>
          <p:nvPr/>
        </p:nvSpPr>
        <p:spPr>
          <a:xfrm>
            <a:off x="10017586" y="3143986"/>
            <a:ext cx="1390081" cy="390483"/>
          </a:xfrm>
          <a:prstGeom prst="rect">
            <a:avLst/>
          </a:prstGeom>
          <a:noFill/>
          <a:ln/>
        </p:spPr>
        <p:txBody>
          <a:bodyPr wrap="square" lIns="0" tIns="0" rIns="0" bIns="0" rtlCol="0" anchor="t"/>
          <a:lstStyle/>
          <a:p>
            <a:pPr marL="0" indent="0" algn="ctr">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SP_SQL_ANALYST</a:t>
            </a:r>
            <a:endParaRPr lang="en-US" sz="1200" dirty="0"/>
          </a:p>
        </p:txBody>
      </p:sp>
      <p:sp>
        <p:nvSpPr>
          <p:cNvPr id="20" name="Text 14"/>
          <p:cNvSpPr/>
          <p:nvPr/>
        </p:nvSpPr>
        <p:spPr>
          <a:xfrm>
            <a:off x="10017586" y="3595571"/>
            <a:ext cx="1390081" cy="291191"/>
          </a:xfrm>
          <a:prstGeom prst="rect">
            <a:avLst/>
          </a:prstGeom>
          <a:noFill/>
          <a:ln/>
        </p:spPr>
        <p:txBody>
          <a:bodyPr wrap="square" lIns="0" tIns="0" rIns="0" bIns="0" rtlCol="0" anchor="t"/>
          <a:lstStyle/>
          <a:p>
            <a:pPr marL="0" indent="0" algn="ctr">
              <a:lnSpc>
                <a:spcPts val="1100"/>
              </a:lnSpc>
              <a:buNone/>
            </a:pPr>
            <a:r>
              <a:rPr lang="en-US" sz="1050" dirty="0">
                <a:solidFill>
                  <a:srgbClr val="E2E6E9"/>
                </a:solidFill>
                <a:latin typeface="Source Sans 3" pitchFamily="34" charset="0"/>
                <a:ea typeface="Source Sans 3" pitchFamily="34" charset="-122"/>
                <a:cs typeface="Source Sans 3" pitchFamily="34" charset="-120"/>
              </a:rPr>
              <a:t>Generates SQL, runs, narrates</a:t>
            </a:r>
            <a:endParaRPr lang="en-US" sz="1050" dirty="0"/>
          </a:p>
        </p:txBody>
      </p:sp>
      <p:pic>
        <p:nvPicPr>
          <p:cNvPr id="2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85409" y="4175567"/>
            <a:ext cx="307899" cy="307899"/>
          </a:xfrm>
          <a:prstGeom prst="rect">
            <a:avLst/>
          </a:prstGeom>
        </p:spPr>
      </p:pic>
      <p:sp>
        <p:nvSpPr>
          <p:cNvPr id="22" name="Text 15"/>
          <p:cNvSpPr/>
          <p:nvPr/>
        </p:nvSpPr>
        <p:spPr>
          <a:xfrm>
            <a:off x="11392391" y="5949209"/>
            <a:ext cx="1390081" cy="195242"/>
          </a:xfrm>
          <a:prstGeom prst="rect">
            <a:avLst/>
          </a:prstGeom>
          <a:noFill/>
          <a:ln/>
        </p:spPr>
        <p:txBody>
          <a:bodyPr wrap="none" lIns="0" tIns="0" rIns="0" bIns="0" rtlCol="0" anchor="t"/>
          <a:lstStyle/>
          <a:p>
            <a:pPr marL="0" indent="0" algn="ctr">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Streamlit</a:t>
            </a:r>
            <a:endParaRPr lang="en-US" sz="1200" dirty="0"/>
          </a:p>
        </p:txBody>
      </p:sp>
      <p:sp>
        <p:nvSpPr>
          <p:cNvPr id="23" name="Text 16"/>
          <p:cNvSpPr/>
          <p:nvPr/>
        </p:nvSpPr>
        <p:spPr>
          <a:xfrm>
            <a:off x="11392391" y="6205553"/>
            <a:ext cx="1390081" cy="291192"/>
          </a:xfrm>
          <a:prstGeom prst="rect">
            <a:avLst/>
          </a:prstGeom>
          <a:noFill/>
          <a:ln/>
        </p:spPr>
        <p:txBody>
          <a:bodyPr wrap="square" lIns="0" tIns="0" rIns="0" bIns="0" rtlCol="0" anchor="t"/>
          <a:lstStyle/>
          <a:p>
            <a:pPr marL="0" indent="0" algn="ctr">
              <a:lnSpc>
                <a:spcPts val="1100"/>
              </a:lnSpc>
              <a:buNone/>
            </a:pPr>
            <a:r>
              <a:rPr lang="en-US" sz="1050" dirty="0">
                <a:solidFill>
                  <a:srgbClr val="E2E6E9"/>
                </a:solidFill>
                <a:latin typeface="Source Sans 3" pitchFamily="34" charset="0"/>
                <a:ea typeface="Source Sans 3" pitchFamily="34" charset="-122"/>
                <a:cs typeface="Source Sans 3" pitchFamily="34" charset="-120"/>
              </a:rPr>
              <a:t>Renders table and narrative</a:t>
            </a:r>
            <a:endParaRPr lang="en-US" sz="1050" dirty="0"/>
          </a:p>
        </p:txBody>
      </p:sp>
      <p:pic>
        <p:nvPicPr>
          <p:cNvPr id="2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937301" y="5328876"/>
            <a:ext cx="307899" cy="307899"/>
          </a:xfrm>
          <a:prstGeom prst="rect">
            <a:avLst/>
          </a:prstGeom>
        </p:spPr>
      </p:pic>
      <p:sp>
        <p:nvSpPr>
          <p:cNvPr id="25" name="Shape 17"/>
          <p:cNvSpPr/>
          <p:nvPr/>
        </p:nvSpPr>
        <p:spPr>
          <a:xfrm>
            <a:off x="6086713" y="6775609"/>
            <a:ext cx="7943374" cy="692348"/>
          </a:xfrm>
          <a:prstGeom prst="roundRect">
            <a:avLst>
              <a:gd name="adj" fmla="val 3252"/>
            </a:avLst>
          </a:prstGeom>
          <a:solidFill>
            <a:srgbClr val="262626"/>
          </a:solidFill>
          <a:ln/>
        </p:spPr>
      </p:sp>
      <p:pic>
        <p:nvPicPr>
          <p:cNvPr id="26" name="Image 6" descr="preencoded.png"/>
          <p:cNvPicPr>
            <a:picLocks noChangeAspect="1"/>
          </p:cNvPicPr>
          <p:nvPr/>
        </p:nvPicPr>
        <p:blipFill>
          <a:blip r:embed="rId9"/>
          <a:stretch>
            <a:fillRect/>
          </a:stretch>
        </p:blipFill>
        <p:spPr>
          <a:xfrm>
            <a:off x="6236732" y="6968966"/>
            <a:ext cx="187523" cy="150019"/>
          </a:xfrm>
          <a:prstGeom prst="rect">
            <a:avLst/>
          </a:prstGeom>
        </p:spPr>
      </p:pic>
      <p:sp>
        <p:nvSpPr>
          <p:cNvPr id="27" name="Text 18"/>
          <p:cNvSpPr/>
          <p:nvPr/>
        </p:nvSpPr>
        <p:spPr>
          <a:xfrm>
            <a:off x="6574274" y="6917412"/>
            <a:ext cx="7305794" cy="381714"/>
          </a:xfrm>
          <a:prstGeom prst="rect">
            <a:avLst/>
          </a:prstGeom>
          <a:noFill/>
          <a:ln/>
        </p:spPr>
        <p:txBody>
          <a:bodyPr wrap="square" lIns="0" tIns="0" rIns="0" bIns="0" rtlCol="0" anchor="t"/>
          <a:lstStyle/>
          <a:p>
            <a:pPr marL="0" indent="0" algn="l">
              <a:lnSpc>
                <a:spcPts val="1500"/>
              </a:lnSpc>
              <a:buNone/>
            </a:pPr>
            <a:r>
              <a:rPr lang="en-US" sz="1150" dirty="0">
                <a:solidFill>
                  <a:srgbClr val="FFFFFF"/>
                </a:solidFill>
                <a:latin typeface="Source Sans 3" pitchFamily="34" charset="0"/>
                <a:ea typeface="Source Sans 3" pitchFamily="34" charset="-122"/>
                <a:cs typeface="Source Sans 3" pitchFamily="34" charset="-120"/>
              </a:rPr>
              <a:t>These two files together handle everything that happens between a user typing a data question and seeing a table appear on screen. Step 05 is the traffic controller. Step 06 is the data specialist. Neither works without the other.</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007638" y="1136333"/>
            <a:ext cx="8615005" cy="682704"/>
          </a:xfrm>
          <a:prstGeom prst="rect">
            <a:avLst/>
          </a:prstGeom>
          <a:noFill/>
          <a:ln/>
        </p:spPr>
        <p:txBody>
          <a:bodyPr wrap="square" lIns="0" tIns="0" rIns="0" bIns="0" rtlCol="0" anchor="t"/>
          <a:lstStyle/>
          <a:p>
            <a:pPr marL="0" indent="0" algn="l">
              <a:lnSpc>
                <a:spcPts val="2650"/>
              </a:lnSpc>
              <a:buNone/>
            </a:pPr>
            <a:r>
              <a:rPr lang="en-US" sz="2150" b="1" dirty="0">
                <a:solidFill>
                  <a:srgbClr val="FFFFFF"/>
                </a:solidFill>
                <a:latin typeface="Montserrat Bold" pitchFamily="34" charset="0"/>
                <a:ea typeface="Montserrat Bold" pitchFamily="34" charset="-122"/>
                <a:cs typeface="Montserrat Bold" pitchFamily="34" charset="-120"/>
              </a:rPr>
              <a:t>Python Stored Procedures — Python That Runs Inside the Database</a:t>
            </a:r>
            <a:endParaRPr lang="en-US" sz="2150" dirty="0"/>
          </a:p>
        </p:txBody>
      </p:sp>
      <p:sp>
        <p:nvSpPr>
          <p:cNvPr id="3" name="Text 1"/>
          <p:cNvSpPr/>
          <p:nvPr/>
        </p:nvSpPr>
        <p:spPr>
          <a:xfrm>
            <a:off x="3007638" y="1952744"/>
            <a:ext cx="8615005" cy="280273"/>
          </a:xfrm>
          <a:prstGeom prst="rect">
            <a:avLst/>
          </a:prstGeom>
          <a:noFill/>
          <a:ln/>
        </p:spPr>
        <p:txBody>
          <a:bodyPr wrap="square" lIns="0" tIns="0" rIns="0" bIns="0" rtlCol="0" anchor="t"/>
          <a:lstStyle/>
          <a:p>
            <a:pPr marL="0" indent="0" algn="l">
              <a:lnSpc>
                <a:spcPts val="1100"/>
              </a:lnSpc>
              <a:buNone/>
            </a:pPr>
            <a:r>
              <a:rPr lang="en-US" sz="900" dirty="0">
                <a:solidFill>
                  <a:srgbClr val="E2E6E9"/>
                </a:solidFill>
                <a:latin typeface="Source Sans 3" pitchFamily="34" charset="0"/>
                <a:ea typeface="Source Sans 3" pitchFamily="34" charset="-122"/>
                <a:cs typeface="Source Sans 3" pitchFamily="34" charset="-120"/>
              </a:rPr>
              <a:t>You already know how to write Python that queries a database. A Snowflake Python Stored Procedure takes that same Python and moves it </a:t>
            </a:r>
            <a:r>
              <a:rPr lang="en-US" sz="900" b="1" dirty="0">
                <a:solidFill>
                  <a:srgbClr val="E2E6E9"/>
                </a:solidFill>
                <a:latin typeface="Source Sans 3" pitchFamily="34" charset="0"/>
                <a:ea typeface="Source Sans 3" pitchFamily="34" charset="-122"/>
                <a:cs typeface="Source Sans 3" pitchFamily="34" charset="-120"/>
              </a:rPr>
              <a:t>inside</a:t>
            </a:r>
            <a:r>
              <a:rPr lang="en-US" sz="900" dirty="0">
                <a:solidFill>
                  <a:srgbClr val="E2E6E9"/>
                </a:solidFill>
                <a:latin typeface="Source Sans 3" pitchFamily="34" charset="0"/>
                <a:ea typeface="Source Sans 3" pitchFamily="34" charset="-122"/>
                <a:cs typeface="Source Sans 3" pitchFamily="34" charset="-120"/>
              </a:rPr>
              <a:t> the database — eliminating network overhead, credential management, and separate deployment infrastructure.</a:t>
            </a:r>
            <a:endParaRPr lang="en-US" sz="900" dirty="0"/>
          </a:p>
        </p:txBody>
      </p:sp>
      <p:sp>
        <p:nvSpPr>
          <p:cNvPr id="4" name="Text 2"/>
          <p:cNvSpPr/>
          <p:nvPr/>
        </p:nvSpPr>
        <p:spPr>
          <a:xfrm>
            <a:off x="3007638" y="2374940"/>
            <a:ext cx="3515558" cy="170617"/>
          </a:xfrm>
          <a:prstGeom prst="rect">
            <a:avLst/>
          </a:prstGeom>
          <a:noFill/>
          <a:ln/>
        </p:spPr>
        <p:txBody>
          <a:bodyPr wrap="none" lIns="0" tIns="0" rIns="0" bIns="0" rtlCol="0" anchor="t"/>
          <a:lstStyle/>
          <a:p>
            <a:pPr marL="0" indent="0" algn="l">
              <a:lnSpc>
                <a:spcPts val="1300"/>
              </a:lnSpc>
              <a:buNone/>
            </a:pPr>
            <a:r>
              <a:rPr lang="en-US" sz="1050" b="1" dirty="0">
                <a:solidFill>
                  <a:srgbClr val="FFFFFF"/>
                </a:solidFill>
                <a:latin typeface="Montserrat Bold" pitchFamily="34" charset="0"/>
                <a:ea typeface="Montserrat Bold" pitchFamily="34" charset="-122"/>
                <a:cs typeface="Montserrat Bold" pitchFamily="34" charset="-120"/>
              </a:rPr>
              <a:t>What you already know — Python on your laptop</a:t>
            </a:r>
            <a:endParaRPr lang="en-US" sz="1050" dirty="0"/>
          </a:p>
        </p:txBody>
      </p:sp>
      <p:sp>
        <p:nvSpPr>
          <p:cNvPr id="5" name="Shape 3"/>
          <p:cNvSpPr/>
          <p:nvPr/>
        </p:nvSpPr>
        <p:spPr>
          <a:xfrm>
            <a:off x="3007638" y="2620685"/>
            <a:ext cx="4160877" cy="1221224"/>
          </a:xfrm>
          <a:prstGeom prst="roundRect">
            <a:avLst>
              <a:gd name="adj" fmla="val 1476"/>
            </a:avLst>
          </a:prstGeom>
          <a:solidFill>
            <a:srgbClr val="1E1F20"/>
          </a:solidFill>
          <a:ln/>
        </p:spPr>
      </p:sp>
      <p:sp>
        <p:nvSpPr>
          <p:cNvPr id="6" name="Shape 4"/>
          <p:cNvSpPr/>
          <p:nvPr/>
        </p:nvSpPr>
        <p:spPr>
          <a:xfrm>
            <a:off x="3001685" y="2620685"/>
            <a:ext cx="4172783" cy="1221224"/>
          </a:xfrm>
          <a:prstGeom prst="roundRect">
            <a:avLst>
              <a:gd name="adj" fmla="val 1476"/>
            </a:avLst>
          </a:prstGeom>
          <a:solidFill>
            <a:srgbClr val="1E1F20"/>
          </a:solidFill>
          <a:ln/>
        </p:spPr>
      </p:sp>
      <p:sp>
        <p:nvSpPr>
          <p:cNvPr id="7" name="Text 5"/>
          <p:cNvSpPr/>
          <p:nvPr/>
        </p:nvSpPr>
        <p:spPr>
          <a:xfrm>
            <a:off x="3151823" y="2740819"/>
            <a:ext cx="3872508" cy="980956"/>
          </a:xfrm>
          <a:prstGeom prst="rect">
            <a:avLst/>
          </a:prstGeom>
          <a:noFill/>
          <a:ln/>
        </p:spPr>
        <p:txBody>
          <a:bodyPr wrap="square" lIns="0" tIns="0" rIns="0" bIns="0" rtlCol="0" anchor="t"/>
          <a:lstStyle/>
          <a:p>
            <a:pPr marL="0" indent="0" algn="l">
              <a:lnSpc>
                <a:spcPts val="1100"/>
              </a:lnSpc>
              <a:buNone/>
            </a:pPr>
            <a:r>
              <a:rPr lang="en-US" sz="900" dirty="0">
                <a:solidFill>
                  <a:srgbClr val="FF7B72"/>
                </a:solidFill>
                <a:highlight>
                  <a:srgbClr val="1E1F20"/>
                </a:highlight>
                <a:latin typeface="Consolas" pitchFamily="34" charset="0"/>
                <a:ea typeface="Consolas" pitchFamily="34" charset="-122"/>
                <a:cs typeface="Consolas" pitchFamily="34" charset="-120"/>
              </a:rPr>
              <a:t>def analyse_orders(session_id, history, message):</a:t>
            </a:r>
            <a:endParaRPr lang="en-US" sz="900" dirty="0"/>
          </a:p>
          <a:p>
            <a:pPr marL="0" indent="0" algn="l">
              <a:lnSpc>
                <a:spcPts val="1100"/>
              </a:lnSpc>
              <a:buNone/>
            </a:pPr>
            <a:r>
              <a:rPr lang="en-US" sz="900" dirty="0">
                <a:solidFill>
                  <a:srgbClr val="FF7B72"/>
                </a:solidFill>
                <a:highlight>
                  <a:srgbClr val="1E1F20"/>
                </a:highlight>
                <a:latin typeface="Consolas" pitchFamily="34" charset="0"/>
                <a:ea typeface="Consolas" pitchFamily="34" charset="-122"/>
                <a:cs typeface="Consolas" pitchFamily="34" charset="-120"/>
              </a:rPr>
              <a:t>    # connects to database externally</a:t>
            </a:r>
            <a:endParaRPr lang="en-US" sz="900" dirty="0"/>
          </a:p>
          <a:p>
            <a:pPr marL="0" indent="0" algn="l">
              <a:lnSpc>
                <a:spcPts val="1100"/>
              </a:lnSpc>
              <a:buNone/>
            </a:pPr>
            <a:r>
              <a:rPr lang="en-US" sz="900" dirty="0">
                <a:solidFill>
                  <a:srgbClr val="FF7B72"/>
                </a:solidFill>
                <a:highlight>
                  <a:srgbClr val="1E1F20"/>
                </a:highlight>
                <a:latin typeface="Consolas" pitchFamily="34" charset="0"/>
                <a:ea typeface="Consolas" pitchFamily="34" charset="-122"/>
                <a:cs typeface="Consolas" pitchFamily="34" charset="-120"/>
              </a:rPr>
              <a:t>    conn = psycopg2.connect(...)</a:t>
            </a:r>
            <a:endParaRPr lang="en-US" sz="900" dirty="0"/>
          </a:p>
          <a:p>
            <a:pPr marL="0" indent="0" algn="l">
              <a:lnSpc>
                <a:spcPts val="1100"/>
              </a:lnSpc>
              <a:buNone/>
            </a:pPr>
            <a:r>
              <a:rPr lang="en-US" sz="900" dirty="0">
                <a:solidFill>
                  <a:srgbClr val="FF7B72"/>
                </a:solidFill>
                <a:highlight>
                  <a:srgbClr val="1E1F20"/>
                </a:highlight>
                <a:latin typeface="Consolas" pitchFamily="34" charset="0"/>
                <a:ea typeface="Consolas" pitchFamily="34" charset="-122"/>
                <a:cs typeface="Consolas" pitchFamily="34" charset="-120"/>
              </a:rPr>
              <a:t>    cursor = conn.execute("SELECT ...")</a:t>
            </a:r>
            <a:endParaRPr lang="en-US" sz="900" dirty="0"/>
          </a:p>
          <a:p>
            <a:pPr marL="0" indent="0" algn="l">
              <a:lnSpc>
                <a:spcPts val="1100"/>
              </a:lnSpc>
              <a:buNone/>
            </a:pPr>
            <a:r>
              <a:rPr lang="en-US" sz="900" dirty="0">
                <a:solidFill>
                  <a:srgbClr val="FF7B72"/>
                </a:solidFill>
                <a:highlight>
                  <a:srgbClr val="1E1F20"/>
                </a:highlight>
                <a:latin typeface="Consolas" pitchFamily="34" charset="0"/>
                <a:ea typeface="Consolas" pitchFamily="34" charset="-122"/>
                <a:cs typeface="Consolas" pitchFamily="34" charset="-120"/>
              </a:rPr>
              <a:t>    rows = cursor.fetchall()</a:t>
            </a:r>
            <a:endParaRPr lang="en-US" sz="900" dirty="0"/>
          </a:p>
          <a:p>
            <a:pPr marL="0" indent="0" algn="l">
              <a:lnSpc>
                <a:spcPts val="1100"/>
              </a:lnSpc>
              <a:buNone/>
            </a:pPr>
            <a:r>
              <a:rPr lang="en-US" sz="900" dirty="0">
                <a:solidFill>
                  <a:srgbClr val="FF7B72"/>
                </a:solidFill>
                <a:highlight>
                  <a:srgbClr val="1E1F20"/>
                </a:highlight>
                <a:latin typeface="Consolas" pitchFamily="34" charset="0"/>
                <a:ea typeface="Consolas" pitchFamily="34" charset="-122"/>
                <a:cs typeface="Consolas" pitchFamily="34" charset="-120"/>
              </a:rPr>
              <a:t>    # process rows in Python on your machine</a:t>
            </a:r>
            <a:endParaRPr lang="en-US" sz="900" dirty="0"/>
          </a:p>
          <a:p>
            <a:pPr marL="0" indent="0" algn="l">
              <a:lnSpc>
                <a:spcPts val="1100"/>
              </a:lnSpc>
              <a:buNone/>
            </a:pPr>
            <a:r>
              <a:rPr lang="en-US" sz="900" dirty="0">
                <a:solidFill>
                  <a:srgbClr val="FF7B72"/>
                </a:solidFill>
                <a:highlight>
                  <a:srgbClr val="1E1F20"/>
                </a:highlight>
                <a:latin typeface="Consolas" pitchFamily="34" charset="0"/>
                <a:ea typeface="Consolas" pitchFamily="34" charset="-122"/>
                <a:cs typeface="Consolas" pitchFamily="34" charset="-120"/>
              </a:rPr>
              <a:t>    return results</a:t>
            </a:r>
            <a:endParaRPr lang="en-US" sz="900" dirty="0"/>
          </a:p>
        </p:txBody>
      </p:sp>
      <p:sp>
        <p:nvSpPr>
          <p:cNvPr id="8" name="Shape 6"/>
          <p:cNvSpPr/>
          <p:nvPr/>
        </p:nvSpPr>
        <p:spPr>
          <a:xfrm>
            <a:off x="3007638" y="3917037"/>
            <a:ext cx="4160877" cy="1108234"/>
          </a:xfrm>
          <a:prstGeom prst="roundRect">
            <a:avLst>
              <a:gd name="adj" fmla="val 1627"/>
            </a:avLst>
          </a:prstGeom>
          <a:solidFill>
            <a:srgbClr val="303132"/>
          </a:solidFill>
          <a:ln/>
        </p:spPr>
      </p:sp>
      <p:sp>
        <p:nvSpPr>
          <p:cNvPr id="9" name="Text 7"/>
          <p:cNvSpPr/>
          <p:nvPr/>
        </p:nvSpPr>
        <p:spPr>
          <a:xfrm>
            <a:off x="3127772" y="4037171"/>
            <a:ext cx="1365528" cy="170617"/>
          </a:xfrm>
          <a:prstGeom prst="rect">
            <a:avLst/>
          </a:prstGeom>
          <a:noFill/>
          <a:ln/>
        </p:spPr>
        <p:txBody>
          <a:bodyPr wrap="none" lIns="0" tIns="0" rIns="0" bIns="0" rtlCol="0" anchor="t"/>
          <a:lstStyle/>
          <a:p>
            <a:pPr marL="0" indent="0" algn="l">
              <a:lnSpc>
                <a:spcPts val="1300"/>
              </a:lnSpc>
              <a:buNone/>
            </a:pPr>
            <a:r>
              <a:rPr lang="en-US" sz="1050" b="1" dirty="0">
                <a:solidFill>
                  <a:srgbClr val="000000"/>
                </a:solidFill>
                <a:latin typeface="Montserrat Bold" pitchFamily="34" charset="0"/>
                <a:ea typeface="Montserrat Bold" pitchFamily="34" charset="-122"/>
                <a:cs typeface="Montserrat Bold" pitchFamily="34" charset="-120"/>
              </a:rPr>
              <a:t>❌</a:t>
            </a:r>
            <a:r>
              <a:rPr lang="en-US" sz="1050" b="1" dirty="0">
                <a:solidFill>
                  <a:srgbClr val="E2E6E9"/>
                </a:solidFill>
                <a:latin typeface="Montserrat Bold" pitchFamily="34" charset="0"/>
                <a:ea typeface="Montserrat Bold" pitchFamily="34" charset="-122"/>
                <a:cs typeface="Montserrat Bold" pitchFamily="34" charset="-120"/>
              </a:rPr>
              <a:t> Problems</a:t>
            </a:r>
            <a:endParaRPr lang="en-US" sz="1050" dirty="0"/>
          </a:p>
        </p:txBody>
      </p:sp>
      <p:sp>
        <p:nvSpPr>
          <p:cNvPr id="10" name="Text 8"/>
          <p:cNvSpPr/>
          <p:nvPr/>
        </p:nvSpPr>
        <p:spPr>
          <a:xfrm>
            <a:off x="3127772" y="4274582"/>
            <a:ext cx="3920609" cy="630555"/>
          </a:xfrm>
          <a:prstGeom prst="rect">
            <a:avLst/>
          </a:prstGeom>
          <a:noFill/>
          <a:ln/>
        </p:spPr>
        <p:txBody>
          <a:bodyPr wrap="square" lIns="0" tIns="0" rIns="0" bIns="0" rtlCol="0" anchor="t"/>
          <a:lstStyle/>
          <a:p>
            <a:pPr marL="342900" indent="-342900" algn="l">
              <a:lnSpc>
                <a:spcPts val="1100"/>
              </a:lnSpc>
              <a:buSzPct val="100000"/>
              <a:buChar char="•"/>
            </a:pPr>
            <a:r>
              <a:rPr lang="en-US" sz="900" dirty="0">
                <a:solidFill>
                  <a:srgbClr val="E2E6E9"/>
                </a:solidFill>
                <a:latin typeface="Source Sans 3" pitchFamily="34" charset="0"/>
                <a:ea typeface="Source Sans 3" pitchFamily="34" charset="-122"/>
                <a:cs typeface="Source Sans 3" pitchFamily="34" charset="-120"/>
              </a:rPr>
              <a:t>Network round trips for every query</a:t>
            </a:r>
            <a:endParaRPr lang="en-US" sz="900" dirty="0"/>
          </a:p>
          <a:p>
            <a:pPr marL="342900" indent="-342900" algn="l">
              <a:lnSpc>
                <a:spcPts val="1100"/>
              </a:lnSpc>
              <a:buSzPct val="100000"/>
              <a:buChar char="•"/>
            </a:pPr>
            <a:r>
              <a:rPr lang="en-US" sz="900" dirty="0">
                <a:solidFill>
                  <a:srgbClr val="E2E6E9"/>
                </a:solidFill>
                <a:latin typeface="Source Sans 3" pitchFamily="34" charset="0"/>
                <a:ea typeface="Source Sans 3" pitchFamily="34" charset="-122"/>
                <a:cs typeface="Source Sans 3" pitchFamily="34" charset="-120"/>
              </a:rPr>
              <a:t>Credentials must be managed externally</a:t>
            </a:r>
            <a:endParaRPr lang="en-US" sz="900" dirty="0"/>
          </a:p>
          <a:p>
            <a:pPr marL="342900" indent="-342900" algn="l">
              <a:lnSpc>
                <a:spcPts val="1100"/>
              </a:lnSpc>
              <a:buSzPct val="100000"/>
              <a:buChar char="•"/>
            </a:pPr>
            <a:r>
              <a:rPr lang="en-US" sz="900" dirty="0">
                <a:solidFill>
                  <a:srgbClr val="E2E6E9"/>
                </a:solidFill>
                <a:latin typeface="Source Sans 3" pitchFamily="34" charset="0"/>
                <a:ea typeface="Source Sans 3" pitchFamily="34" charset="-122"/>
                <a:cs typeface="Source Sans 3" pitchFamily="34" charset="-120"/>
              </a:rPr>
              <a:t>Data leaves the database boundary</a:t>
            </a:r>
            <a:endParaRPr lang="en-US" sz="900" dirty="0"/>
          </a:p>
          <a:p>
            <a:pPr marL="342900" indent="-342900" algn="l">
              <a:lnSpc>
                <a:spcPts val="1100"/>
              </a:lnSpc>
              <a:buSzPct val="100000"/>
              <a:buChar char="•"/>
            </a:pPr>
            <a:r>
              <a:rPr lang="en-US" sz="900" dirty="0">
                <a:solidFill>
                  <a:srgbClr val="E2E6E9"/>
                </a:solidFill>
                <a:latin typeface="Source Sans 3" pitchFamily="34" charset="0"/>
                <a:ea typeface="Source Sans 3" pitchFamily="34" charset="-122"/>
                <a:cs typeface="Source Sans 3" pitchFamily="34" charset="-120"/>
              </a:rPr>
              <a:t>Separate server to deploy and maintain</a:t>
            </a:r>
            <a:endParaRPr lang="en-US" sz="900" dirty="0"/>
          </a:p>
        </p:txBody>
      </p:sp>
      <p:sp>
        <p:nvSpPr>
          <p:cNvPr id="11" name="Shape 9"/>
          <p:cNvSpPr/>
          <p:nvPr/>
        </p:nvSpPr>
        <p:spPr>
          <a:xfrm>
            <a:off x="7382708" y="2308146"/>
            <a:ext cx="4333994" cy="4785122"/>
          </a:xfrm>
          <a:prstGeom prst="roundRect">
            <a:avLst>
              <a:gd name="adj" fmla="val 416"/>
            </a:avLst>
          </a:prstGeom>
          <a:solidFill>
            <a:srgbClr val="1D1F22"/>
          </a:solidFill>
          <a:ln/>
        </p:spPr>
      </p:sp>
      <p:sp>
        <p:nvSpPr>
          <p:cNvPr id="12" name="Text 10"/>
          <p:cNvSpPr/>
          <p:nvPr/>
        </p:nvSpPr>
        <p:spPr>
          <a:xfrm>
            <a:off x="7502843" y="2374940"/>
            <a:ext cx="2473643" cy="170617"/>
          </a:xfrm>
          <a:prstGeom prst="rect">
            <a:avLst/>
          </a:prstGeom>
          <a:noFill/>
          <a:ln/>
        </p:spPr>
        <p:txBody>
          <a:bodyPr wrap="none" lIns="0" tIns="0" rIns="0" bIns="0" rtlCol="0" anchor="t"/>
          <a:lstStyle/>
          <a:p>
            <a:pPr marL="0" indent="0" algn="l">
              <a:lnSpc>
                <a:spcPts val="1300"/>
              </a:lnSpc>
              <a:buNone/>
            </a:pPr>
            <a:r>
              <a:rPr lang="en-US" sz="1050" b="1" dirty="0">
                <a:solidFill>
                  <a:srgbClr val="E2E6E9"/>
                </a:solidFill>
                <a:latin typeface="Montserrat Bold" pitchFamily="34" charset="0"/>
                <a:ea typeface="Montserrat Bold" pitchFamily="34" charset="-122"/>
                <a:cs typeface="Montserrat Bold" pitchFamily="34" charset="-120"/>
              </a:rPr>
              <a:t>What a Snowflake Python SP adds</a:t>
            </a:r>
            <a:endParaRPr lang="en-US" sz="1050" dirty="0"/>
          </a:p>
        </p:txBody>
      </p:sp>
      <p:sp>
        <p:nvSpPr>
          <p:cNvPr id="13" name="Shape 11"/>
          <p:cNvSpPr/>
          <p:nvPr/>
        </p:nvSpPr>
        <p:spPr>
          <a:xfrm>
            <a:off x="7502843" y="2620685"/>
            <a:ext cx="4093726" cy="3042999"/>
          </a:xfrm>
          <a:prstGeom prst="roundRect">
            <a:avLst>
              <a:gd name="adj" fmla="val 592"/>
            </a:avLst>
          </a:prstGeom>
          <a:solidFill>
            <a:srgbClr val="2A2C2F"/>
          </a:solidFill>
          <a:ln/>
        </p:spPr>
      </p:sp>
      <p:sp>
        <p:nvSpPr>
          <p:cNvPr id="14" name="Shape 12"/>
          <p:cNvSpPr/>
          <p:nvPr/>
        </p:nvSpPr>
        <p:spPr>
          <a:xfrm>
            <a:off x="7496889" y="2620685"/>
            <a:ext cx="4105632" cy="3042999"/>
          </a:xfrm>
          <a:prstGeom prst="roundRect">
            <a:avLst>
              <a:gd name="adj" fmla="val 592"/>
            </a:avLst>
          </a:prstGeom>
          <a:solidFill>
            <a:srgbClr val="2A2C2F"/>
          </a:solidFill>
          <a:ln/>
        </p:spPr>
      </p:sp>
      <p:sp>
        <p:nvSpPr>
          <p:cNvPr id="15" name="Text 13"/>
          <p:cNvSpPr/>
          <p:nvPr/>
        </p:nvSpPr>
        <p:spPr>
          <a:xfrm>
            <a:off x="7647027" y="2740819"/>
            <a:ext cx="3805357" cy="2802731"/>
          </a:xfrm>
          <a:prstGeom prst="rect">
            <a:avLst/>
          </a:prstGeom>
          <a:noFill/>
          <a:ln/>
        </p:spPr>
        <p:txBody>
          <a:bodyPr wrap="square" lIns="0" tIns="0" rIns="0" bIns="0" rtlCol="0" anchor="t"/>
          <a:lstStyle/>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CREATE OR REPLACE PROCEDURE SP_SQL_ANALYST(</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SESSION_ID VARCHAR,</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HISTORY   VARCHAR,</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MESSAGE   VARCHAR</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RETURNS VARIANT</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LANGUAGE PYTHON        -- this is Python, not SQL</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RUNTIME_VERSION = '3.11'</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PACKAGES = ('snowflake-snowpark-python')</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HANDLER = 'run_analyst' -- the Python function</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EXECUTE AS OWNER        -- creator's permissions</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AS $$</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import json, re</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def run_analyst(session, session_id,</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history, message):</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 'session' = pre-authenticated Snowpark</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rows = session.sql("SELECT ...").collect()</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return {"status": "success",</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"results": [...]}</a:t>
            </a:r>
            <a:endParaRPr lang="en-US" sz="900" dirty="0"/>
          </a:p>
          <a:p>
            <a:pPr marL="0" indent="0" algn="l">
              <a:lnSpc>
                <a:spcPts val="11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a:t>
            </a:r>
            <a:endParaRPr lang="en-US" sz="900" dirty="0"/>
          </a:p>
        </p:txBody>
      </p:sp>
      <p:sp>
        <p:nvSpPr>
          <p:cNvPr id="16" name="Shape 14"/>
          <p:cNvSpPr/>
          <p:nvPr/>
        </p:nvSpPr>
        <p:spPr>
          <a:xfrm>
            <a:off x="7502843" y="5738813"/>
            <a:ext cx="4093726" cy="1279327"/>
          </a:xfrm>
          <a:prstGeom prst="roundRect">
            <a:avLst>
              <a:gd name="adj" fmla="val 1409"/>
            </a:avLst>
          </a:prstGeom>
          <a:solidFill>
            <a:srgbClr val="303132"/>
          </a:solidFill>
          <a:ln/>
        </p:spPr>
      </p:sp>
      <p:sp>
        <p:nvSpPr>
          <p:cNvPr id="17" name="Text 15"/>
          <p:cNvSpPr/>
          <p:nvPr/>
        </p:nvSpPr>
        <p:spPr>
          <a:xfrm>
            <a:off x="7622977" y="5858947"/>
            <a:ext cx="1365528" cy="170617"/>
          </a:xfrm>
          <a:prstGeom prst="rect">
            <a:avLst/>
          </a:prstGeom>
          <a:noFill/>
          <a:ln/>
        </p:spPr>
        <p:txBody>
          <a:bodyPr wrap="none" lIns="0" tIns="0" rIns="0" bIns="0" rtlCol="0" anchor="t"/>
          <a:lstStyle/>
          <a:p>
            <a:pPr marL="0" indent="0" algn="l">
              <a:lnSpc>
                <a:spcPts val="1300"/>
              </a:lnSpc>
              <a:buNone/>
            </a:pPr>
            <a:r>
              <a:rPr lang="en-US" sz="1050" b="1" dirty="0">
                <a:solidFill>
                  <a:srgbClr val="000000"/>
                </a:solidFill>
                <a:latin typeface="Montserrat Bold" pitchFamily="34" charset="0"/>
                <a:ea typeface="Montserrat Bold" pitchFamily="34" charset="-122"/>
                <a:cs typeface="Montserrat Bold" pitchFamily="34" charset="-120"/>
              </a:rPr>
              <a:t>✅</a:t>
            </a:r>
            <a:r>
              <a:rPr lang="en-US" sz="1050" b="1" dirty="0">
                <a:solidFill>
                  <a:srgbClr val="E2E6E9"/>
                </a:solidFill>
                <a:latin typeface="Montserrat Bold" pitchFamily="34" charset="0"/>
                <a:ea typeface="Montserrat Bold" pitchFamily="34" charset="-122"/>
                <a:cs typeface="Montserrat Bold" pitchFamily="34" charset="-120"/>
              </a:rPr>
              <a:t> Advantages</a:t>
            </a:r>
            <a:endParaRPr lang="en-US" sz="1050" dirty="0"/>
          </a:p>
        </p:txBody>
      </p:sp>
      <p:sp>
        <p:nvSpPr>
          <p:cNvPr id="18" name="Text 16"/>
          <p:cNvSpPr/>
          <p:nvPr/>
        </p:nvSpPr>
        <p:spPr>
          <a:xfrm>
            <a:off x="7622977" y="6096357"/>
            <a:ext cx="3853458" cy="801648"/>
          </a:xfrm>
          <a:prstGeom prst="rect">
            <a:avLst/>
          </a:prstGeom>
          <a:noFill/>
          <a:ln/>
        </p:spPr>
        <p:txBody>
          <a:bodyPr wrap="square" lIns="0" tIns="0" rIns="0" bIns="0" rtlCol="0" anchor="t"/>
          <a:lstStyle/>
          <a:p>
            <a:pPr marL="342900" indent="-342900" algn="l">
              <a:lnSpc>
                <a:spcPts val="1100"/>
              </a:lnSpc>
              <a:buSzPct val="100000"/>
              <a:buChar char="•"/>
            </a:pPr>
            <a:r>
              <a:rPr lang="en-US" sz="900" dirty="0">
                <a:solidFill>
                  <a:srgbClr val="E2E6E9"/>
                </a:solidFill>
                <a:latin typeface="Source Sans 3" pitchFamily="34" charset="0"/>
                <a:ea typeface="Source Sans 3" pitchFamily="34" charset="-122"/>
                <a:cs typeface="Source Sans 3" pitchFamily="34" charset="-120"/>
              </a:rPr>
              <a:t>Co-located with data — no network boundary</a:t>
            </a:r>
            <a:endParaRPr lang="en-US" sz="900" dirty="0"/>
          </a:p>
          <a:p>
            <a:pPr marL="342900" indent="-342900" algn="l">
              <a:lnSpc>
                <a:spcPts val="1100"/>
              </a:lnSpc>
              <a:buSzPct val="100000"/>
              <a:buChar char="•"/>
            </a:pPr>
            <a:r>
              <a:rPr lang="en-US" sz="900" dirty="0">
                <a:solidFill>
                  <a:srgbClr val="E2E6E9"/>
                </a:solidFill>
                <a:latin typeface="Source Sans 3" pitchFamily="34" charset="0"/>
                <a:ea typeface="Source Sans 3" pitchFamily="34" charset="-122"/>
                <a:cs typeface="Source Sans 3" pitchFamily="34" charset="-120"/>
              </a:rPr>
              <a:t>Pre-authenticated — no credentials to manage</a:t>
            </a:r>
            <a:endParaRPr lang="en-US" sz="900" dirty="0"/>
          </a:p>
          <a:p>
            <a:pPr marL="342900" indent="-342900" algn="l">
              <a:lnSpc>
                <a:spcPts val="1100"/>
              </a:lnSpc>
              <a:buSzPct val="100000"/>
              <a:buChar char="•"/>
            </a:pPr>
            <a:r>
              <a:rPr lang="en-US" sz="900" dirty="0">
                <a:solidFill>
                  <a:srgbClr val="E2E6E9"/>
                </a:solidFill>
                <a:latin typeface="Source Sans 3" pitchFamily="34" charset="0"/>
                <a:ea typeface="Source Sans 3" pitchFamily="34" charset="-122"/>
                <a:cs typeface="Source Sans 3" pitchFamily="34" charset="-120"/>
              </a:rPr>
              <a:t>EXECUTE AS OWNER — caller needs no table access</a:t>
            </a:r>
            <a:endParaRPr lang="en-US" sz="900" dirty="0"/>
          </a:p>
          <a:p>
            <a:pPr marL="342900" indent="-342900" algn="l">
              <a:lnSpc>
                <a:spcPts val="1100"/>
              </a:lnSpc>
              <a:buSzPct val="100000"/>
              <a:buChar char="•"/>
            </a:pPr>
            <a:r>
              <a:rPr lang="en-US" sz="900" dirty="0">
                <a:solidFill>
                  <a:srgbClr val="E2E6E9"/>
                </a:solidFill>
                <a:latin typeface="Source Sans 3" pitchFamily="34" charset="0"/>
                <a:ea typeface="Source Sans 3" pitchFamily="34" charset="-122"/>
                <a:cs typeface="Source Sans 3" pitchFamily="34" charset="-120"/>
              </a:rPr>
              <a:t>Called from SQL: </a:t>
            </a:r>
            <a:r>
              <a:rPr lang="en-US" sz="900" dirty="0">
                <a:solidFill>
                  <a:srgbClr val="E2E6E9"/>
                </a:solidFill>
                <a:highlight>
                  <a:srgbClr val="2A2C2F"/>
                </a:highlight>
                <a:latin typeface="Consolas" pitchFamily="34" charset="0"/>
                <a:ea typeface="Consolas" pitchFamily="34" charset="-122"/>
                <a:cs typeface="Consolas" pitchFamily="34" charset="-120"/>
              </a:rPr>
              <a:t>CALL SP_SQL_ANALYST(...)</a:t>
            </a:r>
            <a:endParaRPr lang="en-US" sz="900" dirty="0"/>
          </a:p>
          <a:p>
            <a:pPr marL="342900" indent="-342900" algn="l">
              <a:lnSpc>
                <a:spcPts val="1100"/>
              </a:lnSpc>
              <a:buSzPct val="100000"/>
              <a:buChar char="•"/>
            </a:pPr>
            <a:r>
              <a:rPr lang="en-US" sz="900" dirty="0">
                <a:solidFill>
                  <a:srgbClr val="E2E6E9"/>
                </a:solidFill>
                <a:latin typeface="Source Sans 3" pitchFamily="34" charset="0"/>
                <a:ea typeface="Source Sans 3" pitchFamily="34" charset="-122"/>
                <a:cs typeface="Source Sans 3" pitchFamily="34" charset="-120"/>
              </a:rPr>
              <a:t>Returns VARIANT — flexible JSON-like output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161705" y="1269683"/>
            <a:ext cx="8306872" cy="673656"/>
          </a:xfrm>
          <a:prstGeom prst="rect">
            <a:avLst/>
          </a:prstGeom>
          <a:noFill/>
          <a:ln/>
        </p:spPr>
        <p:txBody>
          <a:bodyPr wrap="square" lIns="0" tIns="0" rIns="0" bIns="0" rtlCol="0" anchor="t"/>
          <a:lstStyle/>
          <a:p>
            <a:pPr marL="0" indent="0" algn="l">
              <a:lnSpc>
                <a:spcPts val="2550"/>
              </a:lnSpc>
              <a:buNone/>
            </a:pPr>
            <a:r>
              <a:rPr lang="en-US" sz="2050" b="1" dirty="0">
                <a:solidFill>
                  <a:srgbClr val="FFFFFF"/>
                </a:solidFill>
                <a:latin typeface="Montserrat Bold" pitchFamily="34" charset="0"/>
                <a:ea typeface="Montserrat Bold" pitchFamily="34" charset="-122"/>
                <a:cs typeface="Montserrat Bold" pitchFamily="34" charset="-120"/>
              </a:rPr>
              <a:t>The </a:t>
            </a:r>
            <a:r>
              <a:rPr lang="en-US" sz="2050" b="1" dirty="0">
                <a:solidFill>
                  <a:srgbClr val="E2E6E9"/>
                </a:solidFill>
                <a:highlight>
                  <a:srgbClr val="1E1F20"/>
                </a:highlight>
                <a:latin typeface="Consolas" pitchFamily="34" charset="0"/>
                <a:ea typeface="Consolas" pitchFamily="34" charset="-122"/>
                <a:cs typeface="Consolas" pitchFamily="34" charset="-120"/>
              </a:rPr>
              <a:t>session</a:t>
            </a:r>
            <a:r>
              <a:rPr lang="en-US" sz="2050" b="1" dirty="0">
                <a:solidFill>
                  <a:srgbClr val="FFFFFF"/>
                </a:solidFill>
                <a:latin typeface="Montserrat Bold" pitchFamily="34" charset="0"/>
                <a:ea typeface="Montserrat Bold" pitchFamily="34" charset="-122"/>
                <a:cs typeface="Montserrat Bold" pitchFamily="34" charset="-120"/>
              </a:rPr>
              <a:t> Object — Your Database Connection Inside the SP</a:t>
            </a:r>
            <a:endParaRPr lang="en-US" sz="2050" dirty="0"/>
          </a:p>
        </p:txBody>
      </p:sp>
      <p:sp>
        <p:nvSpPr>
          <p:cNvPr id="3" name="Shape 1"/>
          <p:cNvSpPr/>
          <p:nvPr/>
        </p:nvSpPr>
        <p:spPr>
          <a:xfrm>
            <a:off x="3161705" y="2067639"/>
            <a:ext cx="8306872" cy="479346"/>
          </a:xfrm>
          <a:prstGeom prst="roundRect">
            <a:avLst>
              <a:gd name="adj" fmla="val 3626"/>
            </a:avLst>
          </a:prstGeom>
          <a:solidFill>
            <a:srgbClr val="262626"/>
          </a:solidFill>
          <a:ln/>
        </p:spPr>
      </p:sp>
      <p:pic>
        <p:nvPicPr>
          <p:cNvPr id="4" name="Image 0" descr="preencoded.png"/>
          <p:cNvPicPr>
            <a:picLocks noChangeAspect="1"/>
          </p:cNvPicPr>
          <p:nvPr/>
        </p:nvPicPr>
        <p:blipFill>
          <a:blip r:embed="rId3"/>
          <a:stretch>
            <a:fillRect/>
          </a:stretch>
        </p:blipFill>
        <p:spPr>
          <a:xfrm>
            <a:off x="3277553" y="2212419"/>
            <a:ext cx="144780" cy="115848"/>
          </a:xfrm>
          <a:prstGeom prst="rect">
            <a:avLst/>
          </a:prstGeom>
        </p:spPr>
      </p:pic>
      <p:sp>
        <p:nvSpPr>
          <p:cNvPr id="5" name="Text 2"/>
          <p:cNvSpPr/>
          <p:nvPr/>
        </p:nvSpPr>
        <p:spPr>
          <a:xfrm>
            <a:off x="3538180" y="2158722"/>
            <a:ext cx="7814548" cy="274558"/>
          </a:xfrm>
          <a:prstGeom prst="rect">
            <a:avLst/>
          </a:prstGeom>
          <a:noFill/>
          <a:ln/>
        </p:spPr>
        <p:txBody>
          <a:bodyPr wrap="square" lIns="0" tIns="0" rIns="0" bIns="0" rtlCol="0" anchor="t"/>
          <a:lstStyle/>
          <a:p>
            <a:pPr marL="0" indent="0" algn="l">
              <a:lnSpc>
                <a:spcPts val="1050"/>
              </a:lnSpc>
              <a:buNone/>
            </a:pPr>
            <a:r>
              <a:rPr lang="en-US" sz="900" dirty="0">
                <a:solidFill>
                  <a:srgbClr val="FFFFFF"/>
                </a:solidFill>
                <a:latin typeface="Source Sans 3" pitchFamily="34" charset="0"/>
                <a:ea typeface="Source Sans 3" pitchFamily="34" charset="-122"/>
                <a:cs typeface="Source Sans 3" pitchFamily="34" charset="-120"/>
              </a:rPr>
              <a:t>Every Python SP receives a </a:t>
            </a:r>
            <a:r>
              <a:rPr lang="en-US" sz="900" dirty="0">
                <a:solidFill>
                  <a:srgbClr val="FFFFFF"/>
                </a:solidFill>
                <a:highlight>
                  <a:srgbClr val="1E1F20"/>
                </a:highlight>
                <a:latin typeface="Consolas" pitchFamily="34" charset="0"/>
                <a:ea typeface="Consolas" pitchFamily="34" charset="-122"/>
                <a:cs typeface="Consolas" pitchFamily="34" charset="-120"/>
              </a:rPr>
              <a:t>session</a:t>
            </a:r>
            <a:r>
              <a:rPr lang="en-US" sz="900" dirty="0">
                <a:solidFill>
                  <a:srgbClr val="FFFFFF"/>
                </a:solidFill>
                <a:latin typeface="Source Sans 3" pitchFamily="34" charset="0"/>
                <a:ea typeface="Source Sans 3" pitchFamily="34" charset="-122"/>
                <a:cs typeface="Source Sans 3" pitchFamily="34" charset="-120"/>
              </a:rPr>
              <a:t> as its first argument. This is a </a:t>
            </a:r>
            <a:r>
              <a:rPr lang="en-US" sz="900" b="1" dirty="0">
                <a:solidFill>
                  <a:srgbClr val="FFFFFF"/>
                </a:solidFill>
                <a:latin typeface="Source Sans 3" pitchFamily="34" charset="0"/>
                <a:ea typeface="Source Sans 3" pitchFamily="34" charset="-122"/>
                <a:cs typeface="Source Sans 3" pitchFamily="34" charset="-120"/>
              </a:rPr>
              <a:t>pre-authenticated Snowpark session</a:t>
            </a:r>
            <a:r>
              <a:rPr lang="en-US" sz="900" dirty="0">
                <a:solidFill>
                  <a:srgbClr val="FFFFFF"/>
                </a:solidFill>
                <a:latin typeface="Source Sans 3" pitchFamily="34" charset="0"/>
                <a:ea typeface="Source Sans 3" pitchFamily="34" charset="-122"/>
                <a:cs typeface="Source Sans 3" pitchFamily="34" charset="-120"/>
              </a:rPr>
              <a:t> — no credentials, no connection string. You use it to run any SQL and call any Cortex function.</a:t>
            </a:r>
            <a:endParaRPr lang="en-US" sz="900" dirty="0"/>
          </a:p>
        </p:txBody>
      </p:sp>
      <p:sp>
        <p:nvSpPr>
          <p:cNvPr id="6" name="Text 3"/>
          <p:cNvSpPr/>
          <p:nvPr/>
        </p:nvSpPr>
        <p:spPr>
          <a:xfrm>
            <a:off x="3161705" y="2679025"/>
            <a:ext cx="1928217" cy="164544"/>
          </a:xfrm>
          <a:prstGeom prst="rect">
            <a:avLst/>
          </a:prstGeom>
          <a:noFill/>
          <a:ln/>
        </p:spPr>
        <p:txBody>
          <a:bodyPr wrap="none" lIns="0" tIns="0" rIns="0" bIns="0" rtlCol="0" anchor="t"/>
          <a:lstStyle/>
          <a:p>
            <a:pPr marL="0" indent="0" algn="l">
              <a:lnSpc>
                <a:spcPts val="1250"/>
              </a:lnSpc>
              <a:buNone/>
            </a:pPr>
            <a:r>
              <a:rPr lang="en-US" sz="1000" b="1" dirty="0">
                <a:solidFill>
                  <a:srgbClr val="FFFFFF"/>
                </a:solidFill>
                <a:latin typeface="Montserrat Bold" pitchFamily="34" charset="0"/>
                <a:ea typeface="Montserrat Bold" pitchFamily="34" charset="-122"/>
                <a:cs typeface="Montserrat Bold" pitchFamily="34" charset="-120"/>
              </a:rPr>
              <a:t>Annotated handler function</a:t>
            </a:r>
            <a:endParaRPr lang="en-US" sz="1000" dirty="0"/>
          </a:p>
        </p:txBody>
      </p:sp>
      <p:sp>
        <p:nvSpPr>
          <p:cNvPr id="7" name="Shape 4"/>
          <p:cNvSpPr/>
          <p:nvPr/>
        </p:nvSpPr>
        <p:spPr>
          <a:xfrm>
            <a:off x="3161705" y="2913459"/>
            <a:ext cx="4870966" cy="3434953"/>
          </a:xfrm>
          <a:prstGeom prst="roundRect">
            <a:avLst>
              <a:gd name="adj" fmla="val 506"/>
            </a:avLst>
          </a:prstGeom>
          <a:solidFill>
            <a:srgbClr val="1E1F20"/>
          </a:solidFill>
          <a:ln/>
        </p:spPr>
      </p:sp>
      <p:sp>
        <p:nvSpPr>
          <p:cNvPr id="8" name="Shape 5"/>
          <p:cNvSpPr/>
          <p:nvPr/>
        </p:nvSpPr>
        <p:spPr>
          <a:xfrm>
            <a:off x="3155990" y="2913459"/>
            <a:ext cx="4882396" cy="3434953"/>
          </a:xfrm>
          <a:prstGeom prst="roundRect">
            <a:avLst>
              <a:gd name="adj" fmla="val 506"/>
            </a:avLst>
          </a:prstGeom>
          <a:solidFill>
            <a:srgbClr val="1E1F20"/>
          </a:solidFill>
          <a:ln/>
        </p:spPr>
      </p:sp>
      <p:sp>
        <p:nvSpPr>
          <p:cNvPr id="9" name="Text 6"/>
          <p:cNvSpPr/>
          <p:nvPr/>
        </p:nvSpPr>
        <p:spPr>
          <a:xfrm>
            <a:off x="3300770" y="3029307"/>
            <a:ext cx="4592836" cy="3203258"/>
          </a:xfrm>
          <a:prstGeom prst="rect">
            <a:avLst/>
          </a:prstGeom>
          <a:noFill/>
          <a:ln/>
        </p:spPr>
        <p:txBody>
          <a:bodyPr wrap="square" lIns="0" tIns="0" rIns="0" bIns="0" rtlCol="0" anchor="t"/>
          <a:lstStyle/>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def run_analyst(session, session_id,</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history, message):</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 ↑ Pre-authenticated Snowpark session</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 Provided automatically by Snowflake runtime</a:t>
            </a:r>
            <a:endParaRPr lang="en-US" sz="900" dirty="0"/>
          </a:p>
          <a:p>
            <a:pPr marL="0" indent="0" algn="l">
              <a:lnSpc>
                <a:spcPts val="1050"/>
              </a:lnSpc>
              <a:buNone/>
            </a:pP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 Run any SQL — returns Row objects</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rows = session.sql(</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"SELECT restaurant_name, "</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"SUM(net_amount) AS revenue "</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"FROM SWIGGY_MASTER.DEV"</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".SWIGGY_FACT_TRANSACTIONS "</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"GROUP BY 1 ORDER BY 2 DESC LIMIT 10"</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).collect()  # .collect() executes + fetches</a:t>
            </a:r>
            <a:endParaRPr lang="en-US" sz="900" dirty="0"/>
          </a:p>
          <a:p>
            <a:pPr marL="0" indent="0" algn="l">
              <a:lnSpc>
                <a:spcPts val="1050"/>
              </a:lnSpc>
              <a:buNone/>
            </a:pP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 Parameterised queries — prevent injection</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rows = session.sql(</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"SELECT SNOWFLAKE.CORTEX.COMPLETE"</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 ?) AS resp",</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params=[model_name, prompt]  # ? placeholders</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).collect()</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result_text = rows[0]["RESP"]  # uppercase key</a:t>
            </a:r>
            <a:endParaRPr lang="en-US" sz="900" dirty="0"/>
          </a:p>
          <a:p>
            <a:pPr marL="0" indent="0" algn="l">
              <a:lnSpc>
                <a:spcPts val="1050"/>
              </a:lnSpc>
              <a:buNone/>
            </a:pP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 Convert Row objects to Python dicts</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data = [row.as_dict() for row in rows]</a:t>
            </a:r>
            <a:endParaRPr lang="en-US" sz="900" dirty="0"/>
          </a:p>
        </p:txBody>
      </p:sp>
      <p:sp>
        <p:nvSpPr>
          <p:cNvPr id="10" name="Shape 7"/>
          <p:cNvSpPr/>
          <p:nvPr/>
        </p:nvSpPr>
        <p:spPr>
          <a:xfrm>
            <a:off x="8239482" y="2616875"/>
            <a:ext cx="3320058" cy="3801427"/>
          </a:xfrm>
          <a:prstGeom prst="roundRect">
            <a:avLst>
              <a:gd name="adj" fmla="val 524"/>
            </a:avLst>
          </a:prstGeom>
          <a:solidFill>
            <a:srgbClr val="1D1F22"/>
          </a:solidFill>
          <a:ln/>
        </p:spPr>
      </p:sp>
      <p:sp>
        <p:nvSpPr>
          <p:cNvPr id="11" name="Text 8"/>
          <p:cNvSpPr/>
          <p:nvPr/>
        </p:nvSpPr>
        <p:spPr>
          <a:xfrm>
            <a:off x="8355330" y="2679025"/>
            <a:ext cx="2455783" cy="164544"/>
          </a:xfrm>
          <a:prstGeom prst="rect">
            <a:avLst/>
          </a:prstGeom>
          <a:noFill/>
          <a:ln/>
        </p:spPr>
        <p:txBody>
          <a:bodyPr wrap="none" lIns="0" tIns="0" rIns="0" bIns="0" rtlCol="0" anchor="t"/>
          <a:lstStyle/>
          <a:p>
            <a:pPr marL="0" indent="0" algn="l">
              <a:lnSpc>
                <a:spcPts val="1250"/>
              </a:lnSpc>
              <a:buNone/>
            </a:pPr>
            <a:r>
              <a:rPr lang="en-US" sz="1000" b="1" dirty="0">
                <a:solidFill>
                  <a:srgbClr val="E2E6E9"/>
                </a:solidFill>
                <a:latin typeface="Montserrat Bold" pitchFamily="34" charset="0"/>
                <a:ea typeface="Montserrat Bold" pitchFamily="34" charset="-122"/>
                <a:cs typeface="Montserrat Bold" pitchFamily="34" charset="-120"/>
              </a:rPr>
              <a:t>Three uses of session in this project</a:t>
            </a:r>
            <a:endParaRPr lang="en-US" sz="1000" dirty="0"/>
          </a:p>
        </p:txBody>
      </p:sp>
      <p:sp>
        <p:nvSpPr>
          <p:cNvPr id="12" name="Shape 9"/>
          <p:cNvSpPr/>
          <p:nvPr/>
        </p:nvSpPr>
        <p:spPr>
          <a:xfrm>
            <a:off x="8355330" y="2913459"/>
            <a:ext cx="3088362" cy="771049"/>
          </a:xfrm>
          <a:prstGeom prst="roundRect">
            <a:avLst>
              <a:gd name="adj" fmla="val 9487"/>
            </a:avLst>
          </a:prstGeom>
          <a:solidFill>
            <a:srgbClr val="1D1F22"/>
          </a:solidFill>
          <a:ln w="15240">
            <a:solidFill>
              <a:srgbClr val="494A4B"/>
            </a:solidFill>
            <a:prstDash val="solid"/>
          </a:ln>
        </p:spPr>
      </p:sp>
      <p:sp>
        <p:nvSpPr>
          <p:cNvPr id="13" name="Shape 10"/>
          <p:cNvSpPr/>
          <p:nvPr/>
        </p:nvSpPr>
        <p:spPr>
          <a:xfrm>
            <a:off x="8340090" y="2913459"/>
            <a:ext cx="60960" cy="771049"/>
          </a:xfrm>
          <a:prstGeom prst="roundRect">
            <a:avLst>
              <a:gd name="adj" fmla="val 28512"/>
            </a:avLst>
          </a:prstGeom>
          <a:solidFill>
            <a:srgbClr val="FFFFFF"/>
          </a:solidFill>
          <a:ln/>
        </p:spPr>
      </p:sp>
      <p:sp>
        <p:nvSpPr>
          <p:cNvPr id="14" name="Text 11"/>
          <p:cNvSpPr/>
          <p:nvPr/>
        </p:nvSpPr>
        <p:spPr>
          <a:xfrm>
            <a:off x="8532138" y="3044547"/>
            <a:ext cx="1744385" cy="164544"/>
          </a:xfrm>
          <a:prstGeom prst="rect">
            <a:avLst/>
          </a:prstGeom>
          <a:noFill/>
          <a:ln/>
        </p:spPr>
        <p:txBody>
          <a:bodyPr wrap="none" lIns="0" tIns="0" rIns="0" bIns="0" rtlCol="0" anchor="t"/>
          <a:lstStyle/>
          <a:p>
            <a:pPr marL="0" indent="0" algn="l">
              <a:lnSpc>
                <a:spcPts val="1250"/>
              </a:lnSpc>
              <a:buNone/>
            </a:pPr>
            <a:r>
              <a:rPr lang="en-US" sz="1000" b="1" dirty="0">
                <a:solidFill>
                  <a:srgbClr val="E2E6E9"/>
                </a:solidFill>
                <a:latin typeface="Montserrat Bold" pitchFamily="34" charset="0"/>
                <a:ea typeface="Montserrat Bold" pitchFamily="34" charset="-122"/>
                <a:cs typeface="Montserrat Bold" pitchFamily="34" charset="-120"/>
              </a:rPr>
              <a:t>USE 1 — Run data queries</a:t>
            </a:r>
            <a:endParaRPr lang="en-US" sz="1000" dirty="0"/>
          </a:p>
        </p:txBody>
      </p:sp>
      <p:sp>
        <p:nvSpPr>
          <p:cNvPr id="15" name="Text 12"/>
          <p:cNvSpPr/>
          <p:nvPr/>
        </p:nvSpPr>
        <p:spPr>
          <a:xfrm>
            <a:off x="8532138" y="3271242"/>
            <a:ext cx="2780467" cy="282178"/>
          </a:xfrm>
          <a:prstGeom prst="rect">
            <a:avLst/>
          </a:prstGeom>
          <a:noFill/>
          <a:ln/>
        </p:spPr>
        <p:txBody>
          <a:bodyPr wrap="square" lIns="0" tIns="0" rIns="0" bIns="0" rtlCol="0" anchor="t"/>
          <a:lstStyle/>
          <a:p>
            <a:pPr marL="0" indent="0" algn="l">
              <a:lnSpc>
                <a:spcPts val="1050"/>
              </a:lnSpc>
              <a:buNone/>
            </a:pPr>
            <a:r>
              <a:rPr lang="en-US" sz="900" dirty="0">
                <a:solidFill>
                  <a:srgbClr val="E2E6E9"/>
                </a:solidFill>
                <a:highlight>
                  <a:srgbClr val="2A2C2F"/>
                </a:highlight>
                <a:latin typeface="Consolas" pitchFamily="34" charset="0"/>
                <a:ea typeface="Consolas" pitchFamily="34" charset="-122"/>
                <a:cs typeface="Consolas" pitchFamily="34" charset="-120"/>
              </a:rPr>
              <a:t>session.sql("SELECT ... FROM SWIGGY_FACT_TRANSACTIONS").collect()</a:t>
            </a:r>
            <a:endParaRPr lang="en-US" sz="900" dirty="0"/>
          </a:p>
        </p:txBody>
      </p:sp>
      <p:sp>
        <p:nvSpPr>
          <p:cNvPr id="16" name="Shape 13"/>
          <p:cNvSpPr/>
          <p:nvPr/>
        </p:nvSpPr>
        <p:spPr>
          <a:xfrm>
            <a:off x="8355330" y="3746659"/>
            <a:ext cx="3088362" cy="771049"/>
          </a:xfrm>
          <a:prstGeom prst="roundRect">
            <a:avLst>
              <a:gd name="adj" fmla="val 9487"/>
            </a:avLst>
          </a:prstGeom>
          <a:solidFill>
            <a:srgbClr val="1D1F22"/>
          </a:solidFill>
          <a:ln w="15240">
            <a:solidFill>
              <a:srgbClr val="494A4B"/>
            </a:solidFill>
            <a:prstDash val="solid"/>
          </a:ln>
        </p:spPr>
      </p:sp>
      <p:sp>
        <p:nvSpPr>
          <p:cNvPr id="17" name="Shape 14"/>
          <p:cNvSpPr/>
          <p:nvPr/>
        </p:nvSpPr>
        <p:spPr>
          <a:xfrm>
            <a:off x="8340090" y="3746659"/>
            <a:ext cx="60960" cy="771049"/>
          </a:xfrm>
          <a:prstGeom prst="roundRect">
            <a:avLst>
              <a:gd name="adj" fmla="val 28512"/>
            </a:avLst>
          </a:prstGeom>
          <a:solidFill>
            <a:srgbClr val="FFFFFF"/>
          </a:solidFill>
          <a:ln/>
        </p:spPr>
      </p:sp>
      <p:sp>
        <p:nvSpPr>
          <p:cNvPr id="18" name="Text 15"/>
          <p:cNvSpPr/>
          <p:nvPr/>
        </p:nvSpPr>
        <p:spPr>
          <a:xfrm>
            <a:off x="8532138" y="3877747"/>
            <a:ext cx="1662946" cy="164544"/>
          </a:xfrm>
          <a:prstGeom prst="rect">
            <a:avLst/>
          </a:prstGeom>
          <a:noFill/>
          <a:ln/>
        </p:spPr>
        <p:txBody>
          <a:bodyPr wrap="none" lIns="0" tIns="0" rIns="0" bIns="0" rtlCol="0" anchor="t"/>
          <a:lstStyle/>
          <a:p>
            <a:pPr marL="0" indent="0" algn="l">
              <a:lnSpc>
                <a:spcPts val="1250"/>
              </a:lnSpc>
              <a:buNone/>
            </a:pPr>
            <a:r>
              <a:rPr lang="en-US" sz="1000" b="1" dirty="0">
                <a:solidFill>
                  <a:srgbClr val="E2E6E9"/>
                </a:solidFill>
                <a:latin typeface="Montserrat Bold" pitchFamily="34" charset="0"/>
                <a:ea typeface="Montserrat Bold" pitchFamily="34" charset="-122"/>
                <a:cs typeface="Montserrat Bold" pitchFamily="34" charset="-120"/>
              </a:rPr>
              <a:t>USE 2 — Call Cortex LLM</a:t>
            </a:r>
            <a:endParaRPr lang="en-US" sz="1000" dirty="0"/>
          </a:p>
        </p:txBody>
      </p:sp>
      <p:sp>
        <p:nvSpPr>
          <p:cNvPr id="19" name="Text 16"/>
          <p:cNvSpPr/>
          <p:nvPr/>
        </p:nvSpPr>
        <p:spPr>
          <a:xfrm>
            <a:off x="8532138" y="4104442"/>
            <a:ext cx="2780467" cy="282178"/>
          </a:xfrm>
          <a:prstGeom prst="rect">
            <a:avLst/>
          </a:prstGeom>
          <a:noFill/>
          <a:ln/>
        </p:spPr>
        <p:txBody>
          <a:bodyPr wrap="square" lIns="0" tIns="0" rIns="0" bIns="0" rtlCol="0" anchor="t"/>
          <a:lstStyle/>
          <a:p>
            <a:pPr marL="0" indent="0" algn="l">
              <a:lnSpc>
                <a:spcPts val="1050"/>
              </a:lnSpc>
              <a:buNone/>
            </a:pPr>
            <a:r>
              <a:rPr lang="en-US" sz="900" dirty="0">
                <a:solidFill>
                  <a:srgbClr val="E2E6E9"/>
                </a:solidFill>
                <a:highlight>
                  <a:srgbClr val="2A2C2F"/>
                </a:highlight>
                <a:latin typeface="Consolas" pitchFamily="34" charset="0"/>
                <a:ea typeface="Consolas" pitchFamily="34" charset="-122"/>
                <a:cs typeface="Consolas" pitchFamily="34" charset="-120"/>
              </a:rPr>
              <a:t>session.sql("SELECT CORTEX.COMPLETE(?,?) AS resp", params=[...]).collect()</a:t>
            </a:r>
            <a:endParaRPr lang="en-US" sz="900" dirty="0"/>
          </a:p>
        </p:txBody>
      </p:sp>
      <p:sp>
        <p:nvSpPr>
          <p:cNvPr id="20" name="Shape 17"/>
          <p:cNvSpPr/>
          <p:nvPr/>
        </p:nvSpPr>
        <p:spPr>
          <a:xfrm>
            <a:off x="8355330" y="4579858"/>
            <a:ext cx="3088362" cy="771049"/>
          </a:xfrm>
          <a:prstGeom prst="roundRect">
            <a:avLst>
              <a:gd name="adj" fmla="val 9487"/>
            </a:avLst>
          </a:prstGeom>
          <a:solidFill>
            <a:srgbClr val="1D1F22"/>
          </a:solidFill>
          <a:ln w="15240">
            <a:solidFill>
              <a:srgbClr val="494A4B"/>
            </a:solidFill>
            <a:prstDash val="solid"/>
          </a:ln>
        </p:spPr>
      </p:sp>
      <p:sp>
        <p:nvSpPr>
          <p:cNvPr id="21" name="Shape 18"/>
          <p:cNvSpPr/>
          <p:nvPr/>
        </p:nvSpPr>
        <p:spPr>
          <a:xfrm>
            <a:off x="8340090" y="4579858"/>
            <a:ext cx="60960" cy="771049"/>
          </a:xfrm>
          <a:prstGeom prst="roundRect">
            <a:avLst>
              <a:gd name="adj" fmla="val 28512"/>
            </a:avLst>
          </a:prstGeom>
          <a:solidFill>
            <a:srgbClr val="FFFFFF"/>
          </a:solidFill>
          <a:ln/>
        </p:spPr>
      </p:sp>
      <p:sp>
        <p:nvSpPr>
          <p:cNvPr id="22" name="Text 19"/>
          <p:cNvSpPr/>
          <p:nvPr/>
        </p:nvSpPr>
        <p:spPr>
          <a:xfrm>
            <a:off x="8532138" y="4710946"/>
            <a:ext cx="2058472" cy="164544"/>
          </a:xfrm>
          <a:prstGeom prst="rect">
            <a:avLst/>
          </a:prstGeom>
          <a:noFill/>
          <a:ln/>
        </p:spPr>
        <p:txBody>
          <a:bodyPr wrap="none" lIns="0" tIns="0" rIns="0" bIns="0" rtlCol="0" anchor="t"/>
          <a:lstStyle/>
          <a:p>
            <a:pPr marL="0" indent="0" algn="l">
              <a:lnSpc>
                <a:spcPts val="1250"/>
              </a:lnSpc>
              <a:buNone/>
            </a:pPr>
            <a:r>
              <a:rPr lang="en-US" sz="1000" b="1" dirty="0">
                <a:solidFill>
                  <a:srgbClr val="E2E6E9"/>
                </a:solidFill>
                <a:latin typeface="Montserrat Bold" pitchFamily="34" charset="0"/>
                <a:ea typeface="Montserrat Bold" pitchFamily="34" charset="-122"/>
                <a:cs typeface="Montserrat Bold" pitchFamily="34" charset="-120"/>
              </a:rPr>
              <a:t>USE 3 — Write to history table</a:t>
            </a:r>
            <a:endParaRPr lang="en-US" sz="1000" dirty="0"/>
          </a:p>
        </p:txBody>
      </p:sp>
      <p:sp>
        <p:nvSpPr>
          <p:cNvPr id="23" name="Text 20"/>
          <p:cNvSpPr/>
          <p:nvPr/>
        </p:nvSpPr>
        <p:spPr>
          <a:xfrm>
            <a:off x="8532138" y="4937641"/>
            <a:ext cx="2780467" cy="282178"/>
          </a:xfrm>
          <a:prstGeom prst="rect">
            <a:avLst/>
          </a:prstGeom>
          <a:noFill/>
          <a:ln/>
        </p:spPr>
        <p:txBody>
          <a:bodyPr wrap="square" lIns="0" tIns="0" rIns="0" bIns="0" rtlCol="0" anchor="t"/>
          <a:lstStyle/>
          <a:p>
            <a:pPr marL="0" indent="0" algn="l">
              <a:lnSpc>
                <a:spcPts val="1050"/>
              </a:lnSpc>
              <a:buNone/>
            </a:pPr>
            <a:r>
              <a:rPr lang="en-US" sz="900" dirty="0">
                <a:solidFill>
                  <a:srgbClr val="E2E6E9"/>
                </a:solidFill>
                <a:highlight>
                  <a:srgbClr val="2A2C2F"/>
                </a:highlight>
                <a:latin typeface="Consolas" pitchFamily="34" charset="0"/>
                <a:ea typeface="Consolas" pitchFamily="34" charset="-122"/>
                <a:cs typeface="Consolas" pitchFamily="34" charset="-120"/>
              </a:rPr>
              <a:t>session.sql("INSERT INTO SWIGGY_CONVERSATION_HISTORY ...").collect()</a:t>
            </a:r>
            <a:endParaRPr lang="en-US" sz="900" dirty="0"/>
          </a:p>
        </p:txBody>
      </p:sp>
      <p:sp>
        <p:nvSpPr>
          <p:cNvPr id="24" name="Shape 21"/>
          <p:cNvSpPr/>
          <p:nvPr/>
        </p:nvSpPr>
        <p:spPr>
          <a:xfrm>
            <a:off x="3161705" y="6488192"/>
            <a:ext cx="8306872" cy="471726"/>
          </a:xfrm>
          <a:prstGeom prst="roundRect">
            <a:avLst>
              <a:gd name="adj" fmla="val 3685"/>
            </a:avLst>
          </a:prstGeom>
          <a:solidFill>
            <a:srgbClr val="262626"/>
          </a:solidFill>
          <a:ln/>
        </p:spPr>
      </p:sp>
      <p:pic>
        <p:nvPicPr>
          <p:cNvPr id="25" name="Image 1" descr="preencoded.png"/>
          <p:cNvPicPr>
            <a:picLocks noChangeAspect="1"/>
          </p:cNvPicPr>
          <p:nvPr/>
        </p:nvPicPr>
        <p:blipFill>
          <a:blip r:embed="rId3"/>
          <a:stretch>
            <a:fillRect/>
          </a:stretch>
        </p:blipFill>
        <p:spPr>
          <a:xfrm>
            <a:off x="3277553" y="6632972"/>
            <a:ext cx="144780" cy="115848"/>
          </a:xfrm>
          <a:prstGeom prst="rect">
            <a:avLst/>
          </a:prstGeom>
        </p:spPr>
      </p:pic>
      <p:sp>
        <p:nvSpPr>
          <p:cNvPr id="26" name="Text 22"/>
          <p:cNvSpPr/>
          <p:nvPr/>
        </p:nvSpPr>
        <p:spPr>
          <a:xfrm>
            <a:off x="3538180" y="6579275"/>
            <a:ext cx="7814548" cy="266938"/>
          </a:xfrm>
          <a:prstGeom prst="rect">
            <a:avLst/>
          </a:prstGeom>
          <a:noFill/>
          <a:ln/>
        </p:spPr>
        <p:txBody>
          <a:bodyPr wrap="square" lIns="0" tIns="0" rIns="0" bIns="0" rtlCol="0" anchor="t"/>
          <a:lstStyle/>
          <a:p>
            <a:pPr marL="0" indent="0" algn="l">
              <a:lnSpc>
                <a:spcPts val="1050"/>
              </a:lnSpc>
              <a:buNone/>
            </a:pPr>
            <a:r>
              <a:rPr lang="en-US" sz="900" b="1" dirty="0">
                <a:solidFill>
                  <a:srgbClr val="FFFFFF"/>
                </a:solidFill>
                <a:latin typeface="Source Sans 3" pitchFamily="34" charset="0"/>
                <a:ea typeface="Source Sans 3" pitchFamily="34" charset="-122"/>
                <a:cs typeface="Source Sans 3" pitchFamily="34" charset="-120"/>
              </a:rPr>
              <a:t>session.sql() is the most important line in every SP.</a:t>
            </a:r>
            <a:r>
              <a:rPr lang="en-US" sz="900" dirty="0">
                <a:solidFill>
                  <a:srgbClr val="FFFFFF"/>
                </a:solidFill>
                <a:latin typeface="Source Sans 3" pitchFamily="34" charset="0"/>
                <a:ea typeface="Source Sans 3" pitchFamily="34" charset="-122"/>
                <a:cs typeface="Source Sans 3" pitchFamily="34" charset="-120"/>
              </a:rPr>
              <a:t> Everything — SQL queries, LLM calls, table writes — goes through session.sql(). Students sometimes ask "where do I import the session from?" — you don't. Snowflake injects it automatically as the first argument of the handler function.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2701052" y="975836"/>
            <a:ext cx="1346835" cy="200382"/>
          </a:xfrm>
          <a:prstGeom prst="roundRect">
            <a:avLst>
              <a:gd name="adj" fmla="val 7709"/>
            </a:avLst>
          </a:prstGeom>
          <a:solidFill>
            <a:srgbClr val="262626"/>
          </a:solidFill>
          <a:ln/>
        </p:spPr>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8204" y="1024533"/>
            <a:ext cx="102870" cy="102870"/>
          </a:xfrm>
          <a:prstGeom prst="rect">
            <a:avLst/>
          </a:prstGeom>
        </p:spPr>
      </p:pic>
      <p:sp>
        <p:nvSpPr>
          <p:cNvPr id="4" name="Text 1"/>
          <p:cNvSpPr/>
          <p:nvPr/>
        </p:nvSpPr>
        <p:spPr>
          <a:xfrm>
            <a:off x="2932509" y="1014413"/>
            <a:ext cx="1038225" cy="123230"/>
          </a:xfrm>
          <a:prstGeom prst="rect">
            <a:avLst/>
          </a:prstGeom>
          <a:noFill/>
          <a:ln/>
        </p:spPr>
        <p:txBody>
          <a:bodyPr wrap="none" lIns="0" tIns="0" rIns="0" bIns="0" rtlCol="0" anchor="t"/>
          <a:lstStyle/>
          <a:p>
            <a:pPr marL="0" indent="0" algn="l">
              <a:lnSpc>
                <a:spcPts val="950"/>
              </a:lnSpc>
              <a:buNone/>
            </a:pPr>
            <a:r>
              <a:rPr lang="en-US" sz="800" dirty="0">
                <a:solidFill>
                  <a:srgbClr val="E2E6E9"/>
                </a:solidFill>
                <a:latin typeface="Source Sans 3" pitchFamily="34" charset="0"/>
                <a:ea typeface="Source Sans 3" pitchFamily="34" charset="-122"/>
                <a:cs typeface="Source Sans 3" pitchFamily="34" charset="-120"/>
              </a:rPr>
              <a:t>STEP 05 — SP_GATEWAY</a:t>
            </a:r>
            <a:endParaRPr lang="en-US" sz="800" dirty="0"/>
          </a:p>
        </p:txBody>
      </p:sp>
      <p:sp>
        <p:nvSpPr>
          <p:cNvPr id="5" name="Text 2"/>
          <p:cNvSpPr/>
          <p:nvPr/>
        </p:nvSpPr>
        <p:spPr>
          <a:xfrm>
            <a:off x="2701052" y="1206818"/>
            <a:ext cx="9228296" cy="731282"/>
          </a:xfrm>
          <a:prstGeom prst="rect">
            <a:avLst/>
          </a:prstGeom>
          <a:noFill/>
          <a:ln/>
        </p:spPr>
        <p:txBody>
          <a:bodyPr wrap="square" lIns="0" tIns="0" rIns="0" bIns="0" rtlCol="0" anchor="t"/>
          <a:lstStyle/>
          <a:p>
            <a:pPr marL="0" indent="0" algn="l">
              <a:lnSpc>
                <a:spcPts val="2850"/>
              </a:lnSpc>
              <a:buNone/>
            </a:pPr>
            <a:r>
              <a:rPr lang="en-US" sz="2300" b="1" dirty="0">
                <a:solidFill>
                  <a:srgbClr val="FFFFFF"/>
                </a:solidFill>
                <a:latin typeface="Montserrat Bold" pitchFamily="34" charset="0"/>
                <a:ea typeface="Montserrat Bold" pitchFamily="34" charset="-122"/>
                <a:cs typeface="Montserrat Bold" pitchFamily="34" charset="-120"/>
              </a:rPr>
              <a:t>SP_GATEWAY — The Single Entry Point for Every User Message</a:t>
            </a:r>
            <a:endParaRPr lang="en-US" sz="2300" dirty="0"/>
          </a:p>
        </p:txBody>
      </p:sp>
      <p:sp>
        <p:nvSpPr>
          <p:cNvPr id="6" name="Shape 3"/>
          <p:cNvSpPr/>
          <p:nvPr/>
        </p:nvSpPr>
        <p:spPr>
          <a:xfrm>
            <a:off x="2701052" y="2053114"/>
            <a:ext cx="9228296" cy="549950"/>
          </a:xfrm>
          <a:prstGeom prst="roundRect">
            <a:avLst>
              <a:gd name="adj" fmla="val 3511"/>
            </a:avLst>
          </a:prstGeom>
          <a:solidFill>
            <a:srgbClr val="262626"/>
          </a:solidFill>
          <a:ln/>
        </p:spPr>
      </p:sp>
      <p:pic>
        <p:nvPicPr>
          <p:cNvPr id="7" name="Image 1" descr="preencoded.png"/>
          <p:cNvPicPr>
            <a:picLocks noChangeAspect="1"/>
          </p:cNvPicPr>
          <p:nvPr/>
        </p:nvPicPr>
        <p:blipFill>
          <a:blip r:embed="rId4"/>
          <a:stretch>
            <a:fillRect/>
          </a:stretch>
        </p:blipFill>
        <p:spPr>
          <a:xfrm>
            <a:off x="2829758" y="2215634"/>
            <a:ext cx="160853" cy="128707"/>
          </a:xfrm>
          <a:prstGeom prst="rect">
            <a:avLst/>
          </a:prstGeom>
        </p:spPr>
      </p:pic>
      <p:sp>
        <p:nvSpPr>
          <p:cNvPr id="8" name="Text 4"/>
          <p:cNvSpPr/>
          <p:nvPr/>
        </p:nvSpPr>
        <p:spPr>
          <a:xfrm>
            <a:off x="3119318" y="2161937"/>
            <a:ext cx="8681323" cy="307896"/>
          </a:xfrm>
          <a:prstGeom prst="rect">
            <a:avLst/>
          </a:prstGeom>
          <a:noFill/>
          <a:ln/>
        </p:spPr>
        <p:txBody>
          <a:bodyPr wrap="square" lIns="0" tIns="0" rIns="0" bIns="0" rtlCol="0" anchor="t"/>
          <a:lstStyle/>
          <a:p>
            <a:pPr marL="0" indent="0" algn="l">
              <a:lnSpc>
                <a:spcPts val="1200"/>
              </a:lnSpc>
              <a:buNone/>
            </a:pPr>
            <a:r>
              <a:rPr lang="en-US" sz="1000" dirty="0">
                <a:solidFill>
                  <a:srgbClr val="FFFFFF"/>
                </a:solidFill>
                <a:latin typeface="Source Sans 3" pitchFamily="34" charset="0"/>
                <a:ea typeface="Source Sans 3" pitchFamily="34" charset="-122"/>
                <a:cs typeface="Source Sans 3" pitchFamily="34" charset="-120"/>
              </a:rPr>
              <a:t>SP_GATEWAY is the </a:t>
            </a:r>
            <a:r>
              <a:rPr lang="en-US" sz="1000" b="1" dirty="0">
                <a:solidFill>
                  <a:srgbClr val="FFFFFF"/>
                </a:solidFill>
                <a:latin typeface="Source Sans 3" pitchFamily="34" charset="0"/>
                <a:ea typeface="Source Sans 3" pitchFamily="34" charset="-122"/>
                <a:cs typeface="Source Sans 3" pitchFamily="34" charset="-120"/>
              </a:rPr>
              <a:t>ONLY</a:t>
            </a:r>
            <a:r>
              <a:rPr lang="en-US" sz="1000" dirty="0">
                <a:solidFill>
                  <a:srgbClr val="FFFFFF"/>
                </a:solidFill>
                <a:latin typeface="Source Sans 3" pitchFamily="34" charset="0"/>
                <a:ea typeface="Source Sans 3" pitchFamily="34" charset="-122"/>
                <a:cs typeface="Source Sans 3" pitchFamily="34" charset="-120"/>
              </a:rPr>
              <a:t> procedure Streamlit calls. It never touches database tables directly. It classifies, routes, persists, and handles fallbacks. That is its entire job.</a:t>
            </a:r>
            <a:endParaRPr lang="en-US" sz="1000" dirty="0"/>
          </a:p>
        </p:txBody>
      </p:sp>
      <p:pic>
        <p:nvPicPr>
          <p:cNvPr id="9" name="Image 2" descr="preencoded.png"/>
          <p:cNvPicPr>
            <a:picLocks noChangeAspect="1"/>
          </p:cNvPicPr>
          <p:nvPr/>
        </p:nvPicPr>
        <p:blipFill>
          <a:blip r:embed="rId5"/>
          <a:stretch>
            <a:fillRect/>
          </a:stretch>
        </p:blipFill>
        <p:spPr>
          <a:xfrm>
            <a:off x="2701052" y="2689265"/>
            <a:ext cx="643533" cy="772358"/>
          </a:xfrm>
          <a:prstGeom prst="rect">
            <a:avLst/>
          </a:prstGeom>
        </p:spPr>
      </p:pic>
      <p:sp>
        <p:nvSpPr>
          <p:cNvPr id="10" name="Text 5"/>
          <p:cNvSpPr/>
          <p:nvPr/>
        </p:nvSpPr>
        <p:spPr>
          <a:xfrm>
            <a:off x="3421261" y="2817971"/>
            <a:ext cx="1462802" cy="182880"/>
          </a:xfrm>
          <a:prstGeom prst="rect">
            <a:avLst/>
          </a:prstGeom>
          <a:noFill/>
          <a:ln/>
        </p:spPr>
        <p:txBody>
          <a:bodyPr wrap="none" lIns="0" tIns="0" rIns="0" bIns="0" rtlCol="0" anchor="t"/>
          <a:lstStyle/>
          <a:p>
            <a:pPr marL="0" indent="0" algn="l">
              <a:lnSpc>
                <a:spcPts val="1400"/>
              </a:lnSpc>
              <a:buNone/>
            </a:pPr>
            <a:r>
              <a:rPr lang="en-US" sz="1150" b="1" dirty="0">
                <a:solidFill>
                  <a:srgbClr val="E2E6E9"/>
                </a:solidFill>
                <a:latin typeface="Montserrat Bold" pitchFamily="34" charset="0"/>
                <a:ea typeface="Montserrat Bold" pitchFamily="34" charset="-122"/>
                <a:cs typeface="Montserrat Bold" pitchFamily="34" charset="-120"/>
              </a:rPr>
              <a:t>① RECEIVE</a:t>
            </a:r>
            <a:endParaRPr lang="en-US" sz="1150" dirty="0"/>
          </a:p>
        </p:txBody>
      </p:sp>
      <p:sp>
        <p:nvSpPr>
          <p:cNvPr id="11" name="Text 6"/>
          <p:cNvSpPr/>
          <p:nvPr/>
        </p:nvSpPr>
        <p:spPr>
          <a:xfrm>
            <a:off x="3421261" y="3046809"/>
            <a:ext cx="8508087" cy="153948"/>
          </a:xfrm>
          <a:prstGeom prst="rect">
            <a:avLst/>
          </a:prstGeom>
          <a:noFill/>
          <a:ln/>
        </p:spPr>
        <p:txBody>
          <a:bodyPr wrap="none" lIns="0" tIns="0" rIns="0" bIns="0" rtlCol="0" anchor="t"/>
          <a:lstStyle/>
          <a:p>
            <a:pPr marL="0" indent="0" algn="l">
              <a:lnSpc>
                <a:spcPts val="1200"/>
              </a:lnSpc>
              <a:buNone/>
            </a:pPr>
            <a:r>
              <a:rPr lang="en-US" sz="1000" b="1" dirty="0">
                <a:solidFill>
                  <a:srgbClr val="E2E6E9"/>
                </a:solidFill>
                <a:latin typeface="Source Sans 3" pitchFamily="34" charset="0"/>
                <a:ea typeface="Source Sans 3" pitchFamily="34" charset="-122"/>
                <a:cs typeface="Source Sans 3" pitchFamily="34" charset="-120"/>
              </a:rPr>
              <a:t>session_id</a:t>
            </a:r>
            <a:r>
              <a:rPr lang="en-US" sz="1000" dirty="0">
                <a:solidFill>
                  <a:srgbClr val="E2E6E9"/>
                </a:solidFill>
                <a:latin typeface="Source Sans 3" pitchFamily="34" charset="0"/>
                <a:ea typeface="Source Sans 3" pitchFamily="34" charset="-122"/>
                <a:cs typeface="Source Sans 3" pitchFamily="34" charset="-120"/>
              </a:rPr>
              <a:t> — UUID per browser session · </a:t>
            </a:r>
            <a:r>
              <a:rPr lang="en-US" sz="1000" b="1" dirty="0">
                <a:solidFill>
                  <a:srgbClr val="E2E6E9"/>
                </a:solidFill>
                <a:latin typeface="Source Sans 3" pitchFamily="34" charset="0"/>
                <a:ea typeface="Source Sans 3" pitchFamily="34" charset="-122"/>
                <a:cs typeface="Source Sans 3" pitchFamily="34" charset="-120"/>
              </a:rPr>
              <a:t>history</a:t>
            </a:r>
            <a:r>
              <a:rPr lang="en-US" sz="1000" dirty="0">
                <a:solidFill>
                  <a:srgbClr val="E2E6E9"/>
                </a:solidFill>
                <a:latin typeface="Source Sans 3" pitchFamily="34" charset="0"/>
                <a:ea typeface="Source Sans 3" pitchFamily="34" charset="-122"/>
                <a:cs typeface="Source Sans 3" pitchFamily="34" charset="-120"/>
              </a:rPr>
              <a:t> — last 10 conversation turns as JSON · </a:t>
            </a:r>
            <a:r>
              <a:rPr lang="en-US" sz="1000" b="1" dirty="0">
                <a:solidFill>
                  <a:srgbClr val="E2E6E9"/>
                </a:solidFill>
                <a:latin typeface="Source Sans 3" pitchFamily="34" charset="0"/>
                <a:ea typeface="Source Sans 3" pitchFamily="34" charset="-122"/>
                <a:cs typeface="Source Sans 3" pitchFamily="34" charset="-120"/>
              </a:rPr>
              <a:t>message</a:t>
            </a:r>
            <a:r>
              <a:rPr lang="en-US" sz="1000" dirty="0">
                <a:solidFill>
                  <a:srgbClr val="E2E6E9"/>
                </a:solidFill>
                <a:latin typeface="Source Sans 3" pitchFamily="34" charset="0"/>
                <a:ea typeface="Source Sans 3" pitchFamily="34" charset="-122"/>
                <a:cs typeface="Source Sans 3" pitchFamily="34" charset="-120"/>
              </a:rPr>
              <a:t> — the user's current typed question</a:t>
            </a:r>
            <a:endParaRPr lang="en-US" sz="1000" dirty="0"/>
          </a:p>
        </p:txBody>
      </p:sp>
      <p:pic>
        <p:nvPicPr>
          <p:cNvPr id="12" name="Image 3" descr="preencoded.png"/>
          <p:cNvPicPr>
            <a:picLocks noChangeAspect="1"/>
          </p:cNvPicPr>
          <p:nvPr/>
        </p:nvPicPr>
        <p:blipFill>
          <a:blip r:embed="rId6"/>
          <a:stretch>
            <a:fillRect/>
          </a:stretch>
        </p:blipFill>
        <p:spPr>
          <a:xfrm>
            <a:off x="2701052" y="3461623"/>
            <a:ext cx="643533" cy="772358"/>
          </a:xfrm>
          <a:prstGeom prst="rect">
            <a:avLst/>
          </a:prstGeom>
        </p:spPr>
      </p:pic>
      <p:sp>
        <p:nvSpPr>
          <p:cNvPr id="13" name="Text 7"/>
          <p:cNvSpPr/>
          <p:nvPr/>
        </p:nvSpPr>
        <p:spPr>
          <a:xfrm>
            <a:off x="3421261" y="3590330"/>
            <a:ext cx="1462802" cy="182880"/>
          </a:xfrm>
          <a:prstGeom prst="rect">
            <a:avLst/>
          </a:prstGeom>
          <a:noFill/>
          <a:ln/>
        </p:spPr>
        <p:txBody>
          <a:bodyPr wrap="none" lIns="0" tIns="0" rIns="0" bIns="0" rtlCol="0" anchor="t"/>
          <a:lstStyle/>
          <a:p>
            <a:pPr marL="0" indent="0" algn="l">
              <a:lnSpc>
                <a:spcPts val="1400"/>
              </a:lnSpc>
              <a:buNone/>
            </a:pPr>
            <a:r>
              <a:rPr lang="en-US" sz="1150" b="1" dirty="0">
                <a:solidFill>
                  <a:srgbClr val="E2E6E9"/>
                </a:solidFill>
                <a:latin typeface="Montserrat Bold" pitchFamily="34" charset="0"/>
                <a:ea typeface="Montserrat Bold" pitchFamily="34" charset="-122"/>
                <a:cs typeface="Montserrat Bold" pitchFamily="34" charset="-120"/>
              </a:rPr>
              <a:t>② CLASSIFY</a:t>
            </a:r>
            <a:endParaRPr lang="en-US" sz="1150" dirty="0"/>
          </a:p>
        </p:txBody>
      </p:sp>
      <p:sp>
        <p:nvSpPr>
          <p:cNvPr id="14" name="Text 8"/>
          <p:cNvSpPr/>
          <p:nvPr/>
        </p:nvSpPr>
        <p:spPr>
          <a:xfrm>
            <a:off x="3421261" y="3819168"/>
            <a:ext cx="8508087" cy="161568"/>
          </a:xfrm>
          <a:prstGeom prst="rect">
            <a:avLst/>
          </a:prstGeom>
          <a:noFill/>
          <a:ln/>
        </p:spPr>
        <p:txBody>
          <a:bodyPr wrap="none" lIns="0" tIns="0" rIns="0" bIns="0" rtlCol="0" anchor="t"/>
          <a:lstStyle/>
          <a:p>
            <a:pPr marL="0" indent="0" algn="l">
              <a:lnSpc>
                <a:spcPts val="1200"/>
              </a:lnSpc>
              <a:buNone/>
            </a:pPr>
            <a:r>
              <a:rPr lang="en-US" sz="1000" dirty="0">
                <a:solidFill>
                  <a:srgbClr val="E2E6E9"/>
                </a:solidFill>
                <a:highlight>
                  <a:srgbClr val="1E1F20"/>
                </a:highlight>
                <a:latin typeface="Consolas" pitchFamily="34" charset="0"/>
                <a:ea typeface="Consolas" pitchFamily="34" charset="-122"/>
                <a:cs typeface="Consolas" pitchFamily="34" charset="-120"/>
              </a:rPr>
              <a:t>classify_intent(session, history, message)</a:t>
            </a:r>
            <a:r>
              <a:rPr lang="en-US" sz="1000" dirty="0">
                <a:solidFill>
                  <a:srgbClr val="E2E6E9"/>
                </a:solidFill>
                <a:latin typeface="Source Sans 3" pitchFamily="34" charset="0"/>
                <a:ea typeface="Source Sans 3" pitchFamily="34" charset="-122"/>
                <a:cs typeface="Source Sans 3" pitchFamily="34" charset="-120"/>
              </a:rPr>
              <a:t> — calls llama3.1-8b with few-shot prompt → returns </a:t>
            </a:r>
            <a:r>
              <a:rPr lang="en-US" sz="1000" dirty="0">
                <a:solidFill>
                  <a:srgbClr val="E2E6E9"/>
                </a:solidFill>
                <a:highlight>
                  <a:srgbClr val="1E1F20"/>
                </a:highlight>
                <a:latin typeface="Consolas" pitchFamily="34" charset="0"/>
                <a:ea typeface="Consolas" pitchFamily="34" charset="-122"/>
                <a:cs typeface="Consolas" pitchFamily="34" charset="-120"/>
              </a:rPr>
              <a:t>{intent, confidence, method}</a:t>
            </a:r>
            <a:endParaRPr lang="en-US" sz="1000" dirty="0"/>
          </a:p>
        </p:txBody>
      </p:sp>
      <p:pic>
        <p:nvPicPr>
          <p:cNvPr id="15" name="Image 4" descr="preencoded.png"/>
          <p:cNvPicPr>
            <a:picLocks noChangeAspect="1"/>
          </p:cNvPicPr>
          <p:nvPr/>
        </p:nvPicPr>
        <p:blipFill>
          <a:blip r:embed="rId7"/>
          <a:stretch>
            <a:fillRect/>
          </a:stretch>
        </p:blipFill>
        <p:spPr>
          <a:xfrm>
            <a:off x="2701052" y="4233982"/>
            <a:ext cx="643533" cy="772358"/>
          </a:xfrm>
          <a:prstGeom prst="rect">
            <a:avLst/>
          </a:prstGeom>
        </p:spPr>
      </p:pic>
      <p:sp>
        <p:nvSpPr>
          <p:cNvPr id="16" name="Text 9"/>
          <p:cNvSpPr/>
          <p:nvPr/>
        </p:nvSpPr>
        <p:spPr>
          <a:xfrm>
            <a:off x="3421261" y="4362688"/>
            <a:ext cx="1748076" cy="182880"/>
          </a:xfrm>
          <a:prstGeom prst="rect">
            <a:avLst/>
          </a:prstGeom>
          <a:noFill/>
          <a:ln/>
        </p:spPr>
        <p:txBody>
          <a:bodyPr wrap="none" lIns="0" tIns="0" rIns="0" bIns="0" rtlCol="0" anchor="t"/>
          <a:lstStyle/>
          <a:p>
            <a:pPr marL="0" indent="0" algn="l">
              <a:lnSpc>
                <a:spcPts val="1400"/>
              </a:lnSpc>
              <a:buNone/>
            </a:pPr>
            <a:r>
              <a:rPr lang="en-US" sz="1150" b="1" dirty="0">
                <a:solidFill>
                  <a:srgbClr val="E2E6E9"/>
                </a:solidFill>
                <a:latin typeface="Montserrat Bold" pitchFamily="34" charset="0"/>
                <a:ea typeface="Montserrat Bold" pitchFamily="34" charset="-122"/>
                <a:cs typeface="Montserrat Bold" pitchFamily="34" charset="-120"/>
              </a:rPr>
              <a:t>③ PERSIST USER TURN</a:t>
            </a:r>
            <a:endParaRPr lang="en-US" sz="1150" dirty="0"/>
          </a:p>
        </p:txBody>
      </p:sp>
      <p:sp>
        <p:nvSpPr>
          <p:cNvPr id="17" name="Text 10"/>
          <p:cNvSpPr/>
          <p:nvPr/>
        </p:nvSpPr>
        <p:spPr>
          <a:xfrm>
            <a:off x="3421261" y="4591526"/>
            <a:ext cx="8508087" cy="161568"/>
          </a:xfrm>
          <a:prstGeom prst="rect">
            <a:avLst/>
          </a:prstGeom>
          <a:noFill/>
          <a:ln/>
        </p:spPr>
        <p:txBody>
          <a:bodyPr wrap="none" lIns="0" tIns="0" rIns="0" bIns="0" rtlCol="0" anchor="t"/>
          <a:lstStyle/>
          <a:p>
            <a:pPr marL="0" indent="0" algn="l">
              <a:lnSpc>
                <a:spcPts val="1200"/>
              </a:lnSpc>
              <a:buNone/>
            </a:pPr>
            <a:r>
              <a:rPr lang="en-US" sz="1000" dirty="0">
                <a:solidFill>
                  <a:srgbClr val="E2E6E9"/>
                </a:solidFill>
                <a:highlight>
                  <a:srgbClr val="1E1F20"/>
                </a:highlight>
                <a:latin typeface="Consolas" pitchFamily="34" charset="0"/>
                <a:ea typeface="Consolas" pitchFamily="34" charset="-122"/>
                <a:cs typeface="Consolas" pitchFamily="34" charset="-120"/>
              </a:rPr>
              <a:t>_persist_user_turn(session, session_id, message, intent)</a:t>
            </a:r>
            <a:r>
              <a:rPr lang="en-US" sz="1000" dirty="0">
                <a:solidFill>
                  <a:srgbClr val="E2E6E9"/>
                </a:solidFill>
                <a:latin typeface="Source Sans 3" pitchFamily="34" charset="0"/>
                <a:ea typeface="Source Sans 3" pitchFamily="34" charset="-122"/>
                <a:cs typeface="Source Sans 3" pitchFamily="34" charset="-120"/>
              </a:rPr>
              <a:t> — writes to SWIGGY_CONVERSATION_HISTORY. Wrapped in try/except — </a:t>
            </a:r>
            <a:r>
              <a:rPr lang="en-US" sz="1000" b="1" dirty="0">
                <a:solidFill>
                  <a:srgbClr val="E2E6E9"/>
                </a:solidFill>
                <a:latin typeface="Source Sans 3" pitchFamily="34" charset="0"/>
                <a:ea typeface="Source Sans 3" pitchFamily="34" charset="-122"/>
                <a:cs typeface="Source Sans 3" pitchFamily="34" charset="-120"/>
              </a:rPr>
              <a:t>non-fatal</a:t>
            </a:r>
            <a:r>
              <a:rPr lang="en-US" sz="1000" dirty="0">
                <a:solidFill>
                  <a:srgbClr val="E2E6E9"/>
                </a:solidFill>
                <a:latin typeface="Source Sans 3" pitchFamily="34" charset="0"/>
                <a:ea typeface="Source Sans 3" pitchFamily="34" charset="-122"/>
                <a:cs typeface="Source Sans 3" pitchFamily="34" charset="-120"/>
              </a:rPr>
              <a:t>.</a:t>
            </a:r>
            <a:endParaRPr lang="en-US" sz="1000" dirty="0"/>
          </a:p>
        </p:txBody>
      </p:sp>
      <p:pic>
        <p:nvPicPr>
          <p:cNvPr id="18" name="Image 5" descr="preencoded.png"/>
          <p:cNvPicPr>
            <a:picLocks noChangeAspect="1"/>
          </p:cNvPicPr>
          <p:nvPr/>
        </p:nvPicPr>
        <p:blipFill>
          <a:blip r:embed="rId8"/>
          <a:stretch>
            <a:fillRect/>
          </a:stretch>
        </p:blipFill>
        <p:spPr>
          <a:xfrm>
            <a:off x="2701052" y="5006340"/>
            <a:ext cx="643533" cy="809387"/>
          </a:xfrm>
          <a:prstGeom prst="rect">
            <a:avLst/>
          </a:prstGeom>
        </p:spPr>
      </p:pic>
      <p:sp>
        <p:nvSpPr>
          <p:cNvPr id="19" name="Text 11"/>
          <p:cNvSpPr/>
          <p:nvPr/>
        </p:nvSpPr>
        <p:spPr>
          <a:xfrm>
            <a:off x="3421261" y="5135047"/>
            <a:ext cx="1613059" cy="182880"/>
          </a:xfrm>
          <a:prstGeom prst="rect">
            <a:avLst/>
          </a:prstGeom>
          <a:noFill/>
          <a:ln/>
        </p:spPr>
        <p:txBody>
          <a:bodyPr wrap="none" lIns="0" tIns="0" rIns="0" bIns="0" rtlCol="0" anchor="t"/>
          <a:lstStyle/>
          <a:p>
            <a:pPr marL="0" indent="0" algn="l">
              <a:lnSpc>
                <a:spcPts val="1400"/>
              </a:lnSpc>
              <a:buNone/>
            </a:pPr>
            <a:r>
              <a:rPr lang="en-US" sz="1150" b="1" dirty="0">
                <a:solidFill>
                  <a:srgbClr val="E2E6E9"/>
                </a:solidFill>
                <a:latin typeface="Montserrat Bold" pitchFamily="34" charset="0"/>
                <a:ea typeface="Montserrat Bold" pitchFamily="34" charset="-122"/>
                <a:cs typeface="Montserrat Bold" pitchFamily="34" charset="-120"/>
              </a:rPr>
              <a:t>④ ROUTE &amp; EXECUTE</a:t>
            </a:r>
            <a:endParaRPr lang="en-US" sz="1150" dirty="0"/>
          </a:p>
        </p:txBody>
      </p:sp>
      <p:sp>
        <p:nvSpPr>
          <p:cNvPr id="20" name="Text 12"/>
          <p:cNvSpPr/>
          <p:nvPr/>
        </p:nvSpPr>
        <p:spPr>
          <a:xfrm>
            <a:off x="3421261" y="5363885"/>
            <a:ext cx="8508087" cy="323136"/>
          </a:xfrm>
          <a:prstGeom prst="rect">
            <a:avLst/>
          </a:prstGeom>
          <a:noFill/>
          <a:ln/>
        </p:spPr>
        <p:txBody>
          <a:bodyPr wrap="square" lIns="0" tIns="0" rIns="0" bIns="0" rtlCol="0" anchor="t"/>
          <a:lstStyle/>
          <a:p>
            <a:pPr marL="0" indent="0" algn="l">
              <a:lnSpc>
                <a:spcPts val="1200"/>
              </a:lnSpc>
              <a:buNone/>
            </a:pPr>
            <a:r>
              <a:rPr lang="en-US" sz="1000" dirty="0">
                <a:solidFill>
                  <a:srgbClr val="E2E6E9"/>
                </a:solidFill>
                <a:latin typeface="Source Sans 3" pitchFamily="34" charset="0"/>
                <a:ea typeface="Source Sans 3" pitchFamily="34" charset="-122"/>
                <a:cs typeface="Source Sans 3" pitchFamily="34" charset="-120"/>
              </a:rPr>
              <a:t>If </a:t>
            </a:r>
            <a:r>
              <a:rPr lang="en-US" sz="1000" dirty="0">
                <a:solidFill>
                  <a:srgbClr val="E2E6E9"/>
                </a:solidFill>
                <a:highlight>
                  <a:srgbClr val="1E1F20"/>
                </a:highlight>
                <a:latin typeface="Consolas" pitchFamily="34" charset="0"/>
                <a:ea typeface="Consolas" pitchFamily="34" charset="-122"/>
                <a:cs typeface="Consolas" pitchFamily="34" charset="-120"/>
              </a:rPr>
              <a:t>intent == 'ANALYST'</a:t>
            </a:r>
            <a:r>
              <a:rPr lang="en-US" sz="1000" dirty="0">
                <a:solidFill>
                  <a:srgbClr val="E2E6E9"/>
                </a:solidFill>
                <a:latin typeface="Source Sans 3" pitchFamily="34" charset="0"/>
                <a:ea typeface="Source Sans 3" pitchFamily="34" charset="-122"/>
                <a:cs typeface="Source Sans 3" pitchFamily="34" charset="-120"/>
              </a:rPr>
              <a:t> → primary: SP_SQL_ANALYST, fallback: SP_PLAYBOOK_RAG. Else → primary: SP_PLAYBOOK_RAG, fallback: SP_SQL_ANALYST. Sets </a:t>
            </a:r>
            <a:r>
              <a:rPr lang="en-US" sz="1000" dirty="0">
                <a:solidFill>
                  <a:srgbClr val="E2E6E9"/>
                </a:solidFill>
                <a:highlight>
                  <a:srgbClr val="1E1F20"/>
                </a:highlight>
                <a:latin typeface="Consolas" pitchFamily="34" charset="0"/>
                <a:ea typeface="Consolas" pitchFamily="34" charset="-122"/>
                <a:cs typeface="Consolas" pitchFamily="34" charset="-120"/>
              </a:rPr>
              <a:t>cross_fallback_used</a:t>
            </a:r>
            <a:r>
              <a:rPr lang="en-US" sz="1000" dirty="0">
                <a:solidFill>
                  <a:srgbClr val="E2E6E9"/>
                </a:solidFill>
                <a:latin typeface="Source Sans 3" pitchFamily="34" charset="0"/>
                <a:ea typeface="Source Sans 3" pitchFamily="34" charset="-122"/>
                <a:cs typeface="Source Sans 3" pitchFamily="34" charset="-120"/>
              </a:rPr>
              <a:t> if needed.</a:t>
            </a:r>
            <a:endParaRPr lang="en-US" sz="1000" dirty="0"/>
          </a:p>
        </p:txBody>
      </p:sp>
      <p:pic>
        <p:nvPicPr>
          <p:cNvPr id="21" name="Image 6" descr="preencoded.png"/>
          <p:cNvPicPr>
            <a:picLocks noChangeAspect="1"/>
          </p:cNvPicPr>
          <p:nvPr/>
        </p:nvPicPr>
        <p:blipFill>
          <a:blip r:embed="rId9"/>
          <a:stretch>
            <a:fillRect/>
          </a:stretch>
        </p:blipFill>
        <p:spPr>
          <a:xfrm>
            <a:off x="2701052" y="5815727"/>
            <a:ext cx="643533" cy="801767"/>
          </a:xfrm>
          <a:prstGeom prst="rect">
            <a:avLst/>
          </a:prstGeom>
        </p:spPr>
      </p:pic>
      <p:sp>
        <p:nvSpPr>
          <p:cNvPr id="22" name="Text 13"/>
          <p:cNvSpPr/>
          <p:nvPr/>
        </p:nvSpPr>
        <p:spPr>
          <a:xfrm>
            <a:off x="3421261" y="5944433"/>
            <a:ext cx="1555075" cy="182880"/>
          </a:xfrm>
          <a:prstGeom prst="rect">
            <a:avLst/>
          </a:prstGeom>
          <a:noFill/>
          <a:ln/>
        </p:spPr>
        <p:txBody>
          <a:bodyPr wrap="none" lIns="0" tIns="0" rIns="0" bIns="0" rtlCol="0" anchor="t"/>
          <a:lstStyle/>
          <a:p>
            <a:pPr marL="0" indent="0" algn="l">
              <a:lnSpc>
                <a:spcPts val="1400"/>
              </a:lnSpc>
              <a:buNone/>
            </a:pPr>
            <a:r>
              <a:rPr lang="en-US" sz="1150" b="1" dirty="0">
                <a:solidFill>
                  <a:srgbClr val="E2E6E9"/>
                </a:solidFill>
                <a:latin typeface="Montserrat Bold" pitchFamily="34" charset="0"/>
                <a:ea typeface="Montserrat Bold" pitchFamily="34" charset="-122"/>
                <a:cs typeface="Montserrat Bold" pitchFamily="34" charset="-120"/>
              </a:rPr>
              <a:t>⑤ RETURN VARIANT</a:t>
            </a:r>
            <a:endParaRPr lang="en-US" sz="1150" dirty="0"/>
          </a:p>
        </p:txBody>
      </p:sp>
      <p:sp>
        <p:nvSpPr>
          <p:cNvPr id="23" name="Text 14"/>
          <p:cNvSpPr/>
          <p:nvPr/>
        </p:nvSpPr>
        <p:spPr>
          <a:xfrm>
            <a:off x="3421261" y="6173272"/>
            <a:ext cx="8508087" cy="315516"/>
          </a:xfrm>
          <a:prstGeom prst="rect">
            <a:avLst/>
          </a:prstGeom>
          <a:noFill/>
          <a:ln/>
        </p:spPr>
        <p:txBody>
          <a:bodyPr wrap="square" lIns="0" tIns="0" rIns="0" bIns="0" rtlCol="0" anchor="t"/>
          <a:lstStyle/>
          <a:p>
            <a:pPr marL="0" indent="0" algn="l">
              <a:lnSpc>
                <a:spcPts val="1200"/>
              </a:lnSpc>
              <a:buNone/>
            </a:pPr>
            <a:r>
              <a:rPr lang="en-US" sz="1000" dirty="0">
                <a:solidFill>
                  <a:srgbClr val="E2E6E9"/>
                </a:solidFill>
                <a:latin typeface="Source Sans 3" pitchFamily="34" charset="0"/>
                <a:ea typeface="Source Sans 3" pitchFamily="34" charset="-122"/>
                <a:cs typeface="Source Sans 3" pitchFamily="34" charset="-120"/>
              </a:rPr>
              <a:t>Attaches </a:t>
            </a:r>
            <a:r>
              <a:rPr lang="en-US" sz="1000" dirty="0">
                <a:solidFill>
                  <a:srgbClr val="E2E6E9"/>
                </a:solidFill>
                <a:highlight>
                  <a:srgbClr val="1E1F20"/>
                </a:highlight>
                <a:latin typeface="Consolas" pitchFamily="34" charset="0"/>
                <a:ea typeface="Consolas" pitchFamily="34" charset="-122"/>
                <a:cs typeface="Consolas" pitchFamily="34" charset="-120"/>
              </a:rPr>
              <a:t>_gateway</a:t>
            </a:r>
            <a:r>
              <a:rPr lang="en-US" sz="1000" dirty="0">
                <a:solidFill>
                  <a:srgbClr val="E2E6E9"/>
                </a:solidFill>
                <a:latin typeface="Source Sans 3" pitchFamily="34" charset="0"/>
                <a:ea typeface="Source Sans 3" pitchFamily="34" charset="-122"/>
                <a:cs typeface="Source Sans 3" pitchFamily="34" charset="-120"/>
              </a:rPr>
              <a:t> metadata dict (intent, confidence, method, cross_fallback_used, session_id) to the specialist's response and returns full VARIANT to Streamlit.</a:t>
            </a:r>
            <a:endParaRPr lang="en-US" sz="1000" dirty="0"/>
          </a:p>
        </p:txBody>
      </p:sp>
      <p:sp>
        <p:nvSpPr>
          <p:cNvPr id="24" name="Shape 15"/>
          <p:cNvSpPr/>
          <p:nvPr/>
        </p:nvSpPr>
        <p:spPr>
          <a:xfrm>
            <a:off x="2701052" y="6703695"/>
            <a:ext cx="9228296" cy="549950"/>
          </a:xfrm>
          <a:prstGeom prst="roundRect">
            <a:avLst>
              <a:gd name="adj" fmla="val 3511"/>
            </a:avLst>
          </a:prstGeom>
          <a:solidFill>
            <a:srgbClr val="262626"/>
          </a:solidFill>
          <a:ln/>
        </p:spPr>
      </p:sp>
      <p:pic>
        <p:nvPicPr>
          <p:cNvPr id="25" name="Image 7" descr="preencoded.png"/>
          <p:cNvPicPr>
            <a:picLocks noChangeAspect="1"/>
          </p:cNvPicPr>
          <p:nvPr/>
        </p:nvPicPr>
        <p:blipFill>
          <a:blip r:embed="rId4"/>
          <a:stretch>
            <a:fillRect/>
          </a:stretch>
        </p:blipFill>
        <p:spPr>
          <a:xfrm>
            <a:off x="2829758" y="6866215"/>
            <a:ext cx="160853" cy="128707"/>
          </a:xfrm>
          <a:prstGeom prst="rect">
            <a:avLst/>
          </a:prstGeom>
        </p:spPr>
      </p:pic>
      <p:sp>
        <p:nvSpPr>
          <p:cNvPr id="26" name="Text 16"/>
          <p:cNvSpPr/>
          <p:nvPr/>
        </p:nvSpPr>
        <p:spPr>
          <a:xfrm>
            <a:off x="3119318" y="6812518"/>
            <a:ext cx="8681323" cy="307896"/>
          </a:xfrm>
          <a:prstGeom prst="rect">
            <a:avLst/>
          </a:prstGeom>
          <a:noFill/>
          <a:ln/>
        </p:spPr>
        <p:txBody>
          <a:bodyPr wrap="square" lIns="0" tIns="0" rIns="0" bIns="0" rtlCol="0" anchor="t"/>
          <a:lstStyle/>
          <a:p>
            <a:pPr marL="0" indent="0" algn="l">
              <a:lnSpc>
                <a:spcPts val="1200"/>
              </a:lnSpc>
              <a:buNone/>
            </a:pPr>
            <a:r>
              <a:rPr lang="en-US" sz="1000" dirty="0">
                <a:solidFill>
                  <a:srgbClr val="FFFFFF"/>
                </a:solidFill>
                <a:latin typeface="Source Sans 3" pitchFamily="34" charset="0"/>
                <a:ea typeface="Source Sans 3" pitchFamily="34" charset="-122"/>
                <a:cs typeface="Source Sans 3" pitchFamily="34" charset="-120"/>
              </a:rPr>
              <a:t>The Gateway is </a:t>
            </a:r>
            <a:r>
              <a:rPr lang="en-US" sz="1000" b="1" dirty="0">
                <a:solidFill>
                  <a:srgbClr val="FFFFFF"/>
                </a:solidFill>
                <a:latin typeface="Source Sans 3" pitchFamily="34" charset="0"/>
                <a:ea typeface="Source Sans 3" pitchFamily="34" charset="-122"/>
                <a:cs typeface="Source Sans 3" pitchFamily="34" charset="-120"/>
              </a:rPr>
              <a:t>stateless</a:t>
            </a:r>
            <a:r>
              <a:rPr lang="en-US" sz="1000" dirty="0">
                <a:solidFill>
                  <a:srgbClr val="FFFFFF"/>
                </a:solidFill>
                <a:latin typeface="Source Sans 3" pitchFamily="34" charset="0"/>
                <a:ea typeface="Source Sans 3" pitchFamily="34" charset="-122"/>
                <a:cs typeface="Source Sans 3" pitchFamily="34" charset="-120"/>
              </a:rPr>
              <a:t> — it does not remember anything between calls. All memory comes from the history JSON passed in. State lives in the database (SWIGGY_CONVERSATION_HISTORY), not in the procedure code.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341370" y="1380768"/>
            <a:ext cx="6667143" cy="314920"/>
          </a:xfrm>
          <a:prstGeom prst="rect">
            <a:avLst/>
          </a:prstGeom>
          <a:noFill/>
          <a:ln/>
        </p:spPr>
        <p:txBody>
          <a:bodyPr wrap="none" lIns="0" tIns="0" rIns="0" bIns="0" rtlCol="0" anchor="t"/>
          <a:lstStyle/>
          <a:p>
            <a:pPr marL="0" indent="0" algn="l">
              <a:lnSpc>
                <a:spcPts val="2450"/>
              </a:lnSpc>
              <a:buNone/>
            </a:pPr>
            <a:r>
              <a:rPr lang="en-US" sz="1950" b="1" dirty="0">
                <a:solidFill>
                  <a:srgbClr val="FFFFFF"/>
                </a:solidFill>
                <a:latin typeface="Montserrat Bold" pitchFamily="34" charset="0"/>
                <a:ea typeface="Montserrat Bold" pitchFamily="34" charset="-122"/>
                <a:cs typeface="Montserrat Bold" pitchFamily="34" charset="-120"/>
              </a:rPr>
              <a:t>classify_intent() — Using an LLM as a Smart Router</a:t>
            </a:r>
            <a:endParaRPr lang="en-US" sz="1950" dirty="0"/>
          </a:p>
        </p:txBody>
      </p:sp>
      <p:sp>
        <p:nvSpPr>
          <p:cNvPr id="3" name="Text 1"/>
          <p:cNvSpPr/>
          <p:nvPr/>
        </p:nvSpPr>
        <p:spPr>
          <a:xfrm>
            <a:off x="3341370" y="1809393"/>
            <a:ext cx="7947541" cy="251460"/>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Keyword rules seem simple but break constantly on natural language variation. The LLM approach uses few-shot prompting to classify intent with far greater accuracy — no ML training required.</a:t>
            </a:r>
            <a:endParaRPr lang="en-US" sz="850" dirty="0"/>
          </a:p>
        </p:txBody>
      </p:sp>
      <p:sp>
        <p:nvSpPr>
          <p:cNvPr id="4" name="Text 2"/>
          <p:cNvSpPr/>
          <p:nvPr/>
        </p:nvSpPr>
        <p:spPr>
          <a:xfrm>
            <a:off x="3341370" y="2181582"/>
            <a:ext cx="2617113" cy="165021"/>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Montserrat Bold" pitchFamily="34" charset="0"/>
                <a:ea typeface="Montserrat Bold" pitchFamily="34" charset="-122"/>
                <a:cs typeface="Montserrat Bold" pitchFamily="34" charset="-120"/>
              </a:rPr>
              <a:t>❌</a:t>
            </a:r>
            <a:r>
              <a:rPr lang="en-US" sz="950" b="1" dirty="0">
                <a:solidFill>
                  <a:srgbClr val="FFFFFF"/>
                </a:solidFill>
                <a:latin typeface="Montserrat Bold" pitchFamily="34" charset="0"/>
                <a:ea typeface="Montserrat Bold" pitchFamily="34" charset="-122"/>
                <a:cs typeface="Montserrat Bold" pitchFamily="34" charset="-120"/>
              </a:rPr>
              <a:t> The naive approach — keyword rules</a:t>
            </a:r>
            <a:endParaRPr lang="en-US" sz="950" dirty="0"/>
          </a:p>
        </p:txBody>
      </p:sp>
      <p:sp>
        <p:nvSpPr>
          <p:cNvPr id="5" name="Shape 3"/>
          <p:cNvSpPr/>
          <p:nvPr/>
        </p:nvSpPr>
        <p:spPr>
          <a:xfrm>
            <a:off x="3341370" y="2410539"/>
            <a:ext cx="3427690" cy="1227534"/>
          </a:xfrm>
          <a:prstGeom prst="roundRect">
            <a:avLst>
              <a:gd name="adj" fmla="val 1355"/>
            </a:avLst>
          </a:prstGeom>
          <a:solidFill>
            <a:srgbClr val="1E1F20"/>
          </a:solidFill>
          <a:ln/>
        </p:spPr>
      </p:sp>
      <p:sp>
        <p:nvSpPr>
          <p:cNvPr id="6" name="Shape 4"/>
          <p:cNvSpPr/>
          <p:nvPr/>
        </p:nvSpPr>
        <p:spPr>
          <a:xfrm>
            <a:off x="3335893" y="2410539"/>
            <a:ext cx="3438644" cy="1227534"/>
          </a:xfrm>
          <a:prstGeom prst="roundRect">
            <a:avLst>
              <a:gd name="adj" fmla="val 1355"/>
            </a:avLst>
          </a:prstGeom>
          <a:solidFill>
            <a:srgbClr val="1E1F20"/>
          </a:solidFill>
          <a:ln/>
        </p:spPr>
      </p:sp>
      <p:sp>
        <p:nvSpPr>
          <p:cNvPr id="7" name="Text 5"/>
          <p:cNvSpPr/>
          <p:nvPr/>
        </p:nvSpPr>
        <p:spPr>
          <a:xfrm>
            <a:off x="3474363" y="2521387"/>
            <a:ext cx="3161705" cy="1005840"/>
          </a:xfrm>
          <a:prstGeom prst="rect">
            <a:avLst/>
          </a:prstGeom>
          <a:noFill/>
          <a:ln/>
        </p:spPr>
        <p:txBody>
          <a:bodyPr wrap="square" lIns="0" tIns="0" rIns="0" bIns="0" rtlCol="0" anchor="t"/>
          <a:lstStyle/>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def classify_naive(message):</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msg = message.lower()</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if 'revenue' in msg or 'orders' in msg:</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return 'ANALYST'</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elif 'campaign' in msg or 'strategy' in msg:</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return 'PLAYBOOK'</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else:</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return 'ANALYST'  # default</a:t>
            </a:r>
            <a:endParaRPr lang="en-US" sz="850" dirty="0"/>
          </a:p>
        </p:txBody>
      </p:sp>
      <p:sp>
        <p:nvSpPr>
          <p:cNvPr id="8" name="Shape 6"/>
          <p:cNvSpPr/>
          <p:nvPr/>
        </p:nvSpPr>
        <p:spPr>
          <a:xfrm>
            <a:off x="3341370" y="3702010"/>
            <a:ext cx="3427690" cy="1124188"/>
          </a:xfrm>
          <a:prstGeom prst="roundRect">
            <a:avLst>
              <a:gd name="adj" fmla="val 1479"/>
            </a:avLst>
          </a:prstGeom>
          <a:solidFill>
            <a:srgbClr val="303132"/>
          </a:solidFill>
          <a:ln/>
        </p:spPr>
      </p:sp>
      <p:sp>
        <p:nvSpPr>
          <p:cNvPr id="9" name="Text 7"/>
          <p:cNvSpPr/>
          <p:nvPr/>
        </p:nvSpPr>
        <p:spPr>
          <a:xfrm>
            <a:off x="3452217" y="3812858"/>
            <a:ext cx="1259800" cy="157401"/>
          </a:xfrm>
          <a:prstGeom prst="rect">
            <a:avLst/>
          </a:prstGeom>
          <a:noFill/>
          <a:ln/>
        </p:spPr>
        <p:txBody>
          <a:bodyPr wrap="none" lIns="0" tIns="0" rIns="0" bIns="0" rtlCol="0" anchor="t"/>
          <a:lstStyle/>
          <a:p>
            <a:pPr marL="0" indent="0" algn="l">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Why this fails</a:t>
            </a:r>
            <a:endParaRPr lang="en-US" sz="950" dirty="0"/>
          </a:p>
        </p:txBody>
      </p:sp>
      <p:sp>
        <p:nvSpPr>
          <p:cNvPr id="10" name="Text 8"/>
          <p:cNvSpPr/>
          <p:nvPr/>
        </p:nvSpPr>
        <p:spPr>
          <a:xfrm>
            <a:off x="3452217" y="4027051"/>
            <a:ext cx="3205996" cy="688300"/>
          </a:xfrm>
          <a:prstGeom prst="rect">
            <a:avLst/>
          </a:prstGeom>
          <a:noFill/>
          <a:ln/>
        </p:spPr>
        <p:txBody>
          <a:bodyPr wrap="square" lIns="0" tIns="0" rIns="0" bIns="0" rtlCol="0" anchor="t"/>
          <a:lstStyle/>
          <a:p>
            <a:pPr marL="342900" indent="-342900" algn="l">
              <a:lnSpc>
                <a:spcPts val="950"/>
              </a:lnSpc>
              <a:buSzPct val="100000"/>
              <a:buChar char="•"/>
            </a:pPr>
            <a:r>
              <a:rPr lang="en-US" sz="850" dirty="0">
                <a:solidFill>
                  <a:srgbClr val="E2E6E9"/>
                </a:solidFill>
                <a:latin typeface="Source Sans 3" pitchFamily="34" charset="0"/>
                <a:ea typeface="Source Sans 3" pitchFamily="34" charset="-122"/>
                <a:cs typeface="Source Sans 3" pitchFamily="34" charset="-120"/>
              </a:rPr>
              <a:t>"Top restaurants" → no keywords → wrong</a:t>
            </a:r>
            <a:endParaRPr lang="en-US" sz="850" dirty="0"/>
          </a:p>
          <a:p>
            <a:pPr marL="342900" indent="-342900" algn="l">
              <a:lnSpc>
                <a:spcPts val="950"/>
              </a:lnSpc>
              <a:buSzPct val="100000"/>
              <a:buChar char="•"/>
            </a:pPr>
            <a:r>
              <a:rPr lang="en-US" sz="850" dirty="0">
                <a:solidFill>
                  <a:srgbClr val="E2E6E9"/>
                </a:solidFill>
                <a:latin typeface="Source Sans 3" pitchFamily="34" charset="0"/>
                <a:ea typeface="Source Sans 3" pitchFamily="34" charset="-122"/>
                <a:cs typeface="Source Sans 3" pitchFamily="34" charset="-120"/>
              </a:rPr>
              <a:t>"Which campaign had best CTR?" → campaign keyword → PLAYBOOK, but needs data → should be ANALYST</a:t>
            </a:r>
            <a:endParaRPr lang="en-US" sz="850" dirty="0"/>
          </a:p>
          <a:p>
            <a:pPr marL="342900" indent="-342900" algn="l">
              <a:lnSpc>
                <a:spcPts val="950"/>
              </a:lnSpc>
              <a:buSzPct val="100000"/>
              <a:buChar char="•"/>
            </a:pPr>
            <a:r>
              <a:rPr lang="en-US" sz="850" dirty="0">
                <a:solidFill>
                  <a:srgbClr val="E2E6E9"/>
                </a:solidFill>
                <a:latin typeface="Source Sans 3" pitchFamily="34" charset="0"/>
                <a:ea typeface="Source Sans 3" pitchFamily="34" charset="-122"/>
                <a:cs typeface="Source Sans 3" pitchFamily="34" charset="-120"/>
              </a:rPr>
              <a:t>"What to do when delivery spikes?" → no keywords at all</a:t>
            </a:r>
            <a:endParaRPr lang="en-US" sz="850" dirty="0"/>
          </a:p>
          <a:p>
            <a:pPr marL="342900" indent="-342900" algn="l">
              <a:lnSpc>
                <a:spcPts val="950"/>
              </a:lnSpc>
              <a:buSzPct val="100000"/>
              <a:buChar char="•"/>
            </a:pPr>
            <a:r>
              <a:rPr lang="en-US" sz="850" dirty="0">
                <a:solidFill>
                  <a:srgbClr val="E2E6E9"/>
                </a:solidFill>
                <a:latin typeface="Source Sans 3" pitchFamily="34" charset="0"/>
                <a:ea typeface="Source Sans 3" pitchFamily="34" charset="-122"/>
                <a:cs typeface="Source Sans 3" pitchFamily="34" charset="-120"/>
              </a:rPr>
              <a:t>Brittle — fails on any phrasing variation</a:t>
            </a:r>
            <a:endParaRPr lang="en-US" sz="850" dirty="0"/>
          </a:p>
        </p:txBody>
      </p:sp>
      <p:sp>
        <p:nvSpPr>
          <p:cNvPr id="11" name="Shape 9"/>
          <p:cNvSpPr/>
          <p:nvPr/>
        </p:nvSpPr>
        <p:spPr>
          <a:xfrm>
            <a:off x="6967180" y="2124789"/>
            <a:ext cx="4409003" cy="4217551"/>
          </a:xfrm>
          <a:prstGeom prst="roundRect">
            <a:avLst>
              <a:gd name="adj" fmla="val 394"/>
            </a:avLst>
          </a:prstGeom>
          <a:solidFill>
            <a:srgbClr val="1D1F22"/>
          </a:solidFill>
          <a:ln/>
        </p:spPr>
      </p:sp>
      <p:sp>
        <p:nvSpPr>
          <p:cNvPr id="12" name="Text 10"/>
          <p:cNvSpPr/>
          <p:nvPr/>
        </p:nvSpPr>
        <p:spPr>
          <a:xfrm>
            <a:off x="7078028" y="2181582"/>
            <a:ext cx="1405295" cy="165021"/>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Montserrat Bold" pitchFamily="34" charset="0"/>
                <a:ea typeface="Montserrat Bold" pitchFamily="34" charset="-122"/>
                <a:cs typeface="Montserrat Bold" pitchFamily="34" charset="-120"/>
              </a:rPr>
              <a:t>✅</a:t>
            </a:r>
            <a:r>
              <a:rPr lang="en-US" sz="950" b="1" dirty="0">
                <a:solidFill>
                  <a:srgbClr val="FFFFFF"/>
                </a:solidFill>
                <a:latin typeface="Montserrat Bold" pitchFamily="34" charset="0"/>
                <a:ea typeface="Montserrat Bold" pitchFamily="34" charset="-122"/>
                <a:cs typeface="Montserrat Bold" pitchFamily="34" charset="-120"/>
              </a:rPr>
              <a:t> The LLM approach</a:t>
            </a:r>
            <a:endParaRPr lang="en-US" sz="950" dirty="0"/>
          </a:p>
        </p:txBody>
      </p:sp>
      <p:sp>
        <p:nvSpPr>
          <p:cNvPr id="13" name="Shape 11"/>
          <p:cNvSpPr/>
          <p:nvPr/>
        </p:nvSpPr>
        <p:spPr>
          <a:xfrm>
            <a:off x="7078028" y="2410539"/>
            <a:ext cx="4187309" cy="3867864"/>
          </a:xfrm>
          <a:prstGeom prst="roundRect">
            <a:avLst>
              <a:gd name="adj" fmla="val 430"/>
            </a:avLst>
          </a:prstGeom>
          <a:solidFill>
            <a:srgbClr val="2A2C2F"/>
          </a:solidFill>
          <a:ln/>
        </p:spPr>
      </p:sp>
      <p:sp>
        <p:nvSpPr>
          <p:cNvPr id="14" name="Shape 12"/>
          <p:cNvSpPr/>
          <p:nvPr/>
        </p:nvSpPr>
        <p:spPr>
          <a:xfrm>
            <a:off x="7072551" y="2410539"/>
            <a:ext cx="4198263" cy="3867864"/>
          </a:xfrm>
          <a:prstGeom prst="roundRect">
            <a:avLst>
              <a:gd name="adj" fmla="val 430"/>
            </a:avLst>
          </a:prstGeom>
          <a:solidFill>
            <a:srgbClr val="2A2C2F"/>
          </a:solidFill>
          <a:ln/>
        </p:spPr>
      </p:sp>
      <p:sp>
        <p:nvSpPr>
          <p:cNvPr id="15" name="Text 13"/>
          <p:cNvSpPr/>
          <p:nvPr/>
        </p:nvSpPr>
        <p:spPr>
          <a:xfrm>
            <a:off x="7211020" y="2521387"/>
            <a:ext cx="3921323" cy="3646170"/>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def llm_classify(session, history_text, message):</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prompt = f"""</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ANALYST — SEE DATA: numbers, metrics,</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rankings, counts, revenue...</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Examples: "Top 9 restaurants by revenue"</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"Average delivery time by city"</a:t>
            </a:r>
            <a:endParaRPr lang="en-US" sz="850" dirty="0"/>
          </a:p>
          <a:p>
            <a:pPr marL="0" indent="0" algn="l">
              <a:lnSpc>
                <a:spcPts val="950"/>
              </a:lnSpc>
              <a:buNone/>
            </a:pP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PLAYBOOK — STRATEGY ADVICE: which campaign,</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how to handle a scenario...</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Examples: "Which campaign for churned users?"</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"What do I do when it's raining?"</a:t>
            </a:r>
            <a:endParaRPr lang="en-US" sz="850" dirty="0"/>
          </a:p>
          <a:p>
            <a:pPr marL="0" indent="0" algn="l">
              <a:lnSpc>
                <a:spcPts val="950"/>
              </a:lnSpc>
              <a:buNone/>
            </a:pP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KEY DISTINCTION:</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SEE/LIST/COUNT/RANK/COMPARE → ANALYST</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WHAT TO DO/ADVICE/HANDLE   → PLAYBOOK</a:t>
            </a:r>
            <a:endParaRPr lang="en-US" sz="850" dirty="0"/>
          </a:p>
          <a:p>
            <a:pPr marL="0" indent="0" algn="l">
              <a:lnSpc>
                <a:spcPts val="950"/>
              </a:lnSpc>
              <a:buNone/>
            </a:pP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Context: {history_text}</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Message: "{message}"</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Respond with ONE WORD: ANALYST or PLAYBOOK"""</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result = session.sql(</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"SELECT CORTEX.COMPLETE('llama3.1-8b',?)"</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 AS resp", params=[prompt]</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).collect()[0]["RESP"].strip().upper()</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if "ANALYST" in result:</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return {"intent":"ANALYST","confidence":0.85}</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elif "PLAYBOOK" in result:</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return {"intent":"PLAYBOOK","confidence":0.85}</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else:</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return {"intent":"ANALYST","confidence":0.50}</a:t>
            </a:r>
            <a:endParaRPr lang="en-US" sz="850" dirty="0"/>
          </a:p>
        </p:txBody>
      </p:sp>
      <p:sp>
        <p:nvSpPr>
          <p:cNvPr id="16" name="Shape 14"/>
          <p:cNvSpPr/>
          <p:nvPr/>
        </p:nvSpPr>
        <p:spPr>
          <a:xfrm>
            <a:off x="3341370" y="6406277"/>
            <a:ext cx="7947541" cy="442436"/>
          </a:xfrm>
          <a:prstGeom prst="roundRect">
            <a:avLst>
              <a:gd name="adj" fmla="val 3759"/>
            </a:avLst>
          </a:prstGeom>
          <a:solidFill>
            <a:srgbClr val="262626"/>
          </a:solidFill>
          <a:ln/>
        </p:spPr>
      </p:sp>
      <p:pic>
        <p:nvPicPr>
          <p:cNvPr id="17" name="Image 0" descr="preencoded.png"/>
          <p:cNvPicPr>
            <a:picLocks noChangeAspect="1"/>
          </p:cNvPicPr>
          <p:nvPr/>
        </p:nvPicPr>
        <p:blipFill>
          <a:blip r:embed="rId3"/>
          <a:stretch>
            <a:fillRect/>
          </a:stretch>
        </p:blipFill>
        <p:spPr>
          <a:xfrm>
            <a:off x="3452217" y="6544747"/>
            <a:ext cx="138470" cy="110847"/>
          </a:xfrm>
          <a:prstGeom prst="rect">
            <a:avLst/>
          </a:prstGeom>
        </p:spPr>
      </p:pic>
      <p:sp>
        <p:nvSpPr>
          <p:cNvPr id="18" name="Text 15"/>
          <p:cNvSpPr/>
          <p:nvPr/>
        </p:nvSpPr>
        <p:spPr>
          <a:xfrm>
            <a:off x="3701534" y="6490692"/>
            <a:ext cx="7476530" cy="251460"/>
          </a:xfrm>
          <a:prstGeom prst="rect">
            <a:avLst/>
          </a:prstGeom>
          <a:noFill/>
          <a:ln/>
        </p:spPr>
        <p:txBody>
          <a:bodyPr wrap="square" lIns="0" tIns="0" rIns="0" bIns="0" rtlCol="0" anchor="t"/>
          <a:lstStyle/>
          <a:p>
            <a:pPr marL="0" indent="0" algn="l">
              <a:lnSpc>
                <a:spcPts val="950"/>
              </a:lnSpc>
              <a:buNone/>
            </a:pPr>
            <a:r>
              <a:rPr lang="en-US" sz="850" dirty="0">
                <a:solidFill>
                  <a:srgbClr val="FFFFFF"/>
                </a:solidFill>
                <a:latin typeface="Source Sans 3" pitchFamily="34" charset="0"/>
                <a:ea typeface="Source Sans 3" pitchFamily="34" charset="-122"/>
                <a:cs typeface="Source Sans 3" pitchFamily="34" charset="-120"/>
              </a:rPr>
              <a:t>This is </a:t>
            </a:r>
            <a:r>
              <a:rPr lang="en-US" sz="850" b="1" dirty="0">
                <a:solidFill>
                  <a:srgbClr val="FFFFFF"/>
                </a:solidFill>
                <a:latin typeface="Source Sans 3" pitchFamily="34" charset="0"/>
                <a:ea typeface="Source Sans 3" pitchFamily="34" charset="-122"/>
                <a:cs typeface="Source Sans 3" pitchFamily="34" charset="-120"/>
              </a:rPr>
              <a:t>few-shot prompting</a:t>
            </a:r>
            <a:r>
              <a:rPr lang="en-US" sz="850" dirty="0">
                <a:solidFill>
                  <a:srgbClr val="FFFFFF"/>
                </a:solidFill>
                <a:latin typeface="Source Sans 3" pitchFamily="34" charset="0"/>
                <a:ea typeface="Source Sans 3" pitchFamily="34" charset="-122"/>
                <a:cs typeface="Source Sans 3" pitchFamily="34" charset="-120"/>
              </a:rPr>
              <a:t> — you teach the LLM the classification task by showing it labelled examples. No ML training required. The examples in the prompt </a:t>
            </a:r>
            <a:r>
              <a:rPr lang="en-US" sz="850" i="1" dirty="0">
                <a:solidFill>
                  <a:srgbClr val="FFFFFF"/>
                </a:solidFill>
                <a:latin typeface="Source Sans 3" pitchFamily="34" charset="0"/>
                <a:ea typeface="Source Sans 3" pitchFamily="34" charset="-122"/>
                <a:cs typeface="Source Sans 3" pitchFamily="34" charset="-120"/>
              </a:rPr>
              <a:t>are</a:t>
            </a:r>
            <a:r>
              <a:rPr lang="en-US" sz="850" dirty="0">
                <a:solidFill>
                  <a:srgbClr val="FFFFFF"/>
                </a:solidFill>
                <a:latin typeface="Source Sans 3" pitchFamily="34" charset="0"/>
                <a:ea typeface="Source Sans 3" pitchFamily="34" charset="-122"/>
                <a:cs typeface="Source Sans 3" pitchFamily="34" charset="-120"/>
              </a:rPr>
              <a:t> the training. Adding one more example to the prompt is how you fix a misclassification.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356491" y="1129546"/>
            <a:ext cx="7917418" cy="627459"/>
          </a:xfrm>
          <a:prstGeom prst="rect">
            <a:avLst/>
          </a:prstGeom>
          <a:noFill/>
          <a:ln/>
        </p:spPr>
        <p:txBody>
          <a:bodyPr wrap="square" lIns="0" tIns="0" rIns="0" bIns="0" rtlCol="0" anchor="t"/>
          <a:lstStyle/>
          <a:p>
            <a:pPr marL="0" indent="0" algn="l">
              <a:lnSpc>
                <a:spcPts val="2450"/>
              </a:lnSpc>
              <a:buNone/>
            </a:pPr>
            <a:r>
              <a:rPr lang="en-US" sz="1950" b="1" dirty="0">
                <a:solidFill>
                  <a:srgbClr val="FFFFFF"/>
                </a:solidFill>
                <a:latin typeface="Montserrat Bold" pitchFamily="34" charset="0"/>
                <a:ea typeface="Montserrat Bold" pitchFamily="34" charset="-122"/>
                <a:cs typeface="Montserrat Bold" pitchFamily="34" charset="-120"/>
              </a:rPr>
              <a:t>The Few-Shot Classification Prompt — Every Line Has a Purpose</a:t>
            </a:r>
            <a:endParaRPr lang="en-US" sz="1950" dirty="0"/>
          </a:p>
        </p:txBody>
      </p:sp>
      <p:sp>
        <p:nvSpPr>
          <p:cNvPr id="3" name="Text 1"/>
          <p:cNvSpPr/>
          <p:nvPr/>
        </p:nvSpPr>
        <p:spPr>
          <a:xfrm>
            <a:off x="3356491" y="1869877"/>
            <a:ext cx="7917418" cy="250269"/>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Each section of the classification prompt plays a distinct role. Understanding why each part exists helps you debug misclassifications and improve accuracy by editing the prompt.</a:t>
            </a:r>
            <a:endParaRPr lang="en-US" sz="850" dirty="0"/>
          </a:p>
        </p:txBody>
      </p:sp>
      <p:sp>
        <p:nvSpPr>
          <p:cNvPr id="4" name="Shape 2"/>
          <p:cNvSpPr/>
          <p:nvPr/>
        </p:nvSpPr>
        <p:spPr>
          <a:xfrm>
            <a:off x="3356491" y="2183606"/>
            <a:ext cx="7917418" cy="692110"/>
          </a:xfrm>
          <a:prstGeom prst="roundRect">
            <a:avLst>
              <a:gd name="adj" fmla="val 2394"/>
            </a:avLst>
          </a:prstGeom>
          <a:solidFill>
            <a:srgbClr val="111213"/>
          </a:solidFill>
          <a:ln w="15240">
            <a:solidFill>
              <a:srgbClr val="494A4B"/>
            </a:solidFill>
            <a:prstDash val="solid"/>
          </a:ln>
        </p:spPr>
      </p:sp>
      <p:sp>
        <p:nvSpPr>
          <p:cNvPr id="5" name="Shape 3"/>
          <p:cNvSpPr/>
          <p:nvPr/>
        </p:nvSpPr>
        <p:spPr>
          <a:xfrm>
            <a:off x="3371731" y="2198846"/>
            <a:ext cx="441722" cy="661630"/>
          </a:xfrm>
          <a:prstGeom prst="rect">
            <a:avLst/>
          </a:prstGeom>
          <a:solidFill>
            <a:srgbClr val="303132"/>
          </a:solidFill>
          <a:ln/>
        </p:spPr>
      </p:sp>
      <p:sp>
        <p:nvSpPr>
          <p:cNvPr id="6" name="Text 4"/>
          <p:cNvSpPr/>
          <p:nvPr/>
        </p:nvSpPr>
        <p:spPr>
          <a:xfrm>
            <a:off x="3509724" y="2426137"/>
            <a:ext cx="165616" cy="207050"/>
          </a:xfrm>
          <a:prstGeom prst="rect">
            <a:avLst/>
          </a:prstGeom>
          <a:noFill/>
          <a:ln/>
        </p:spPr>
        <p:txBody>
          <a:bodyPr wrap="none" lIns="0" tIns="0" rIns="0" bIns="0" rtlCol="0" anchor="t"/>
          <a:lstStyle/>
          <a:p>
            <a:pPr marL="0" indent="0" algn="l">
              <a:lnSpc>
                <a:spcPts val="1300"/>
              </a:lnSpc>
              <a:buNone/>
            </a:pPr>
            <a:r>
              <a:rPr lang="en-US" sz="1300" b="1" dirty="0">
                <a:solidFill>
                  <a:srgbClr val="E2E6E9"/>
                </a:solidFill>
                <a:latin typeface="Montserrat Bold" pitchFamily="34" charset="0"/>
                <a:ea typeface="Montserrat Bold" pitchFamily="34" charset="-122"/>
                <a:cs typeface="Montserrat Bold" pitchFamily="34" charset="-120"/>
              </a:rPr>
              <a:t>1</a:t>
            </a:r>
            <a:endParaRPr lang="en-US" sz="1300" dirty="0"/>
          </a:p>
        </p:txBody>
      </p:sp>
      <p:sp>
        <p:nvSpPr>
          <p:cNvPr id="7" name="Text 5"/>
          <p:cNvSpPr/>
          <p:nvPr/>
        </p:nvSpPr>
        <p:spPr>
          <a:xfrm>
            <a:off x="3869888" y="2309217"/>
            <a:ext cx="1254919" cy="156805"/>
          </a:xfrm>
          <a:prstGeom prst="rect">
            <a:avLst/>
          </a:prstGeom>
          <a:noFill/>
          <a:ln/>
        </p:spPr>
        <p:txBody>
          <a:bodyPr wrap="none" lIns="0" tIns="0" rIns="0" bIns="0" rtlCol="0" anchor="t"/>
          <a:lstStyle/>
          <a:p>
            <a:pPr marL="0" indent="0" algn="l">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Role Declaration</a:t>
            </a:r>
            <a:endParaRPr lang="en-US" sz="950" dirty="0"/>
          </a:p>
        </p:txBody>
      </p:sp>
      <p:sp>
        <p:nvSpPr>
          <p:cNvPr id="8" name="Text 6"/>
          <p:cNvSpPr/>
          <p:nvPr/>
        </p:nvSpPr>
        <p:spPr>
          <a:xfrm>
            <a:off x="3869888" y="2499836"/>
            <a:ext cx="7278410" cy="250269"/>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"You are an intent classifier for a Swiggy food-delivery marketing chatbot." — Activates relevant context from the LLM's training. Saying "classifier" makes the LLM return short, decisive labels.</a:t>
            </a:r>
            <a:endParaRPr lang="en-US" sz="850" dirty="0"/>
          </a:p>
        </p:txBody>
      </p:sp>
      <p:sp>
        <p:nvSpPr>
          <p:cNvPr id="9" name="Shape 7"/>
          <p:cNvSpPr/>
          <p:nvPr/>
        </p:nvSpPr>
        <p:spPr>
          <a:xfrm>
            <a:off x="3356491" y="2932152"/>
            <a:ext cx="7917418" cy="662583"/>
          </a:xfrm>
          <a:prstGeom prst="roundRect">
            <a:avLst>
              <a:gd name="adj" fmla="val 2500"/>
            </a:avLst>
          </a:prstGeom>
          <a:solidFill>
            <a:srgbClr val="111213"/>
          </a:solidFill>
          <a:ln w="15240">
            <a:solidFill>
              <a:srgbClr val="494A4B"/>
            </a:solidFill>
            <a:prstDash val="solid"/>
          </a:ln>
        </p:spPr>
      </p:sp>
      <p:sp>
        <p:nvSpPr>
          <p:cNvPr id="10" name="Shape 8"/>
          <p:cNvSpPr/>
          <p:nvPr/>
        </p:nvSpPr>
        <p:spPr>
          <a:xfrm>
            <a:off x="3371731" y="2947392"/>
            <a:ext cx="441722" cy="632103"/>
          </a:xfrm>
          <a:prstGeom prst="rect">
            <a:avLst/>
          </a:prstGeom>
          <a:solidFill>
            <a:srgbClr val="303132"/>
          </a:solidFill>
          <a:ln/>
        </p:spPr>
      </p:sp>
      <p:sp>
        <p:nvSpPr>
          <p:cNvPr id="11" name="Text 9"/>
          <p:cNvSpPr/>
          <p:nvPr/>
        </p:nvSpPr>
        <p:spPr>
          <a:xfrm>
            <a:off x="3509724" y="3159919"/>
            <a:ext cx="165616" cy="207050"/>
          </a:xfrm>
          <a:prstGeom prst="rect">
            <a:avLst/>
          </a:prstGeom>
          <a:noFill/>
          <a:ln/>
        </p:spPr>
        <p:txBody>
          <a:bodyPr wrap="none" lIns="0" tIns="0" rIns="0" bIns="0" rtlCol="0" anchor="t"/>
          <a:lstStyle/>
          <a:p>
            <a:pPr marL="0" indent="0" algn="l">
              <a:lnSpc>
                <a:spcPts val="1300"/>
              </a:lnSpc>
              <a:buNone/>
            </a:pPr>
            <a:r>
              <a:rPr lang="en-US" sz="1300" b="1" dirty="0">
                <a:solidFill>
                  <a:srgbClr val="E2E6E9"/>
                </a:solidFill>
                <a:latin typeface="Montserrat Bold" pitchFamily="34" charset="0"/>
                <a:ea typeface="Montserrat Bold" pitchFamily="34" charset="-122"/>
                <a:cs typeface="Montserrat Bold" pitchFamily="34" charset="-120"/>
              </a:rPr>
              <a:t>2</a:t>
            </a:r>
            <a:endParaRPr lang="en-US" sz="1300" dirty="0"/>
          </a:p>
        </p:txBody>
      </p:sp>
      <p:sp>
        <p:nvSpPr>
          <p:cNvPr id="12" name="Text 10"/>
          <p:cNvSpPr/>
          <p:nvPr/>
        </p:nvSpPr>
        <p:spPr>
          <a:xfrm>
            <a:off x="3869888" y="3057763"/>
            <a:ext cx="1356241" cy="156805"/>
          </a:xfrm>
          <a:prstGeom prst="rect">
            <a:avLst/>
          </a:prstGeom>
          <a:noFill/>
          <a:ln/>
        </p:spPr>
        <p:txBody>
          <a:bodyPr wrap="none" lIns="0" tIns="0" rIns="0" bIns="0" rtlCol="0" anchor="t"/>
          <a:lstStyle/>
          <a:p>
            <a:pPr marL="0" indent="0" algn="l">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Category Definitions</a:t>
            </a:r>
            <a:endParaRPr lang="en-US" sz="950" dirty="0"/>
          </a:p>
        </p:txBody>
      </p:sp>
      <p:sp>
        <p:nvSpPr>
          <p:cNvPr id="13" name="Text 11"/>
          <p:cNvSpPr/>
          <p:nvPr/>
        </p:nvSpPr>
        <p:spPr>
          <a:xfrm>
            <a:off x="3869888" y="3248382"/>
            <a:ext cx="7278410" cy="125135"/>
          </a:xfrm>
          <a:prstGeom prst="rect">
            <a:avLst/>
          </a:prstGeom>
          <a:noFill/>
          <a:ln/>
        </p:spPr>
        <p:txBody>
          <a:bodyPr wrap="non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Clear, mutually exclusive definitions for ANALYST (see data) and PLAYBOOK (strategy advice). Prevents the LLM from treating them as overlapping categories.</a:t>
            </a:r>
            <a:endParaRPr lang="en-US" sz="850" dirty="0"/>
          </a:p>
        </p:txBody>
      </p:sp>
      <p:sp>
        <p:nvSpPr>
          <p:cNvPr id="14" name="Shape 12"/>
          <p:cNvSpPr/>
          <p:nvPr/>
        </p:nvSpPr>
        <p:spPr>
          <a:xfrm>
            <a:off x="3356491" y="3651171"/>
            <a:ext cx="7917418" cy="692110"/>
          </a:xfrm>
          <a:prstGeom prst="roundRect">
            <a:avLst>
              <a:gd name="adj" fmla="val 2394"/>
            </a:avLst>
          </a:prstGeom>
          <a:solidFill>
            <a:srgbClr val="111213"/>
          </a:solidFill>
          <a:ln w="15240">
            <a:solidFill>
              <a:srgbClr val="494A4B"/>
            </a:solidFill>
            <a:prstDash val="solid"/>
          </a:ln>
        </p:spPr>
      </p:sp>
      <p:sp>
        <p:nvSpPr>
          <p:cNvPr id="15" name="Shape 13"/>
          <p:cNvSpPr/>
          <p:nvPr/>
        </p:nvSpPr>
        <p:spPr>
          <a:xfrm>
            <a:off x="3371731" y="3666411"/>
            <a:ext cx="441722" cy="661630"/>
          </a:xfrm>
          <a:prstGeom prst="rect">
            <a:avLst/>
          </a:prstGeom>
          <a:solidFill>
            <a:srgbClr val="303132"/>
          </a:solidFill>
          <a:ln/>
        </p:spPr>
      </p:sp>
      <p:sp>
        <p:nvSpPr>
          <p:cNvPr id="16" name="Text 14"/>
          <p:cNvSpPr/>
          <p:nvPr/>
        </p:nvSpPr>
        <p:spPr>
          <a:xfrm>
            <a:off x="3509724" y="3893701"/>
            <a:ext cx="165616" cy="207050"/>
          </a:xfrm>
          <a:prstGeom prst="rect">
            <a:avLst/>
          </a:prstGeom>
          <a:noFill/>
          <a:ln/>
        </p:spPr>
        <p:txBody>
          <a:bodyPr wrap="none" lIns="0" tIns="0" rIns="0" bIns="0" rtlCol="0" anchor="t"/>
          <a:lstStyle/>
          <a:p>
            <a:pPr marL="0" indent="0" algn="l">
              <a:lnSpc>
                <a:spcPts val="1300"/>
              </a:lnSpc>
              <a:buNone/>
            </a:pPr>
            <a:r>
              <a:rPr lang="en-US" sz="1300" b="1" dirty="0">
                <a:solidFill>
                  <a:srgbClr val="E2E6E9"/>
                </a:solidFill>
                <a:latin typeface="Montserrat Bold" pitchFamily="34" charset="0"/>
                <a:ea typeface="Montserrat Bold" pitchFamily="34" charset="-122"/>
                <a:cs typeface="Montserrat Bold" pitchFamily="34" charset="-120"/>
              </a:rPr>
              <a:t>3</a:t>
            </a:r>
            <a:endParaRPr lang="en-US" sz="1300" dirty="0"/>
          </a:p>
        </p:txBody>
      </p:sp>
      <p:sp>
        <p:nvSpPr>
          <p:cNvPr id="17" name="Text 15"/>
          <p:cNvSpPr/>
          <p:nvPr/>
        </p:nvSpPr>
        <p:spPr>
          <a:xfrm>
            <a:off x="3869888" y="3776782"/>
            <a:ext cx="1294209" cy="156805"/>
          </a:xfrm>
          <a:prstGeom prst="rect">
            <a:avLst/>
          </a:prstGeom>
          <a:noFill/>
          <a:ln/>
        </p:spPr>
        <p:txBody>
          <a:bodyPr wrap="none" lIns="0" tIns="0" rIns="0" bIns="0" rtlCol="0" anchor="t"/>
          <a:lstStyle/>
          <a:p>
            <a:pPr marL="0" indent="0" algn="l">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Few-Shot Examples</a:t>
            </a:r>
            <a:endParaRPr lang="en-US" sz="950" dirty="0"/>
          </a:p>
        </p:txBody>
      </p:sp>
      <p:sp>
        <p:nvSpPr>
          <p:cNvPr id="18" name="Text 16"/>
          <p:cNvSpPr/>
          <p:nvPr/>
        </p:nvSpPr>
        <p:spPr>
          <a:xfrm>
            <a:off x="3869888" y="3967401"/>
            <a:ext cx="7278410" cy="250269"/>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10 labelled examples = the training data provided at inference time. Each example teaches a pattern. More examples = higher accuracy. This is the most important section of the prompt.</a:t>
            </a:r>
            <a:endParaRPr lang="en-US" sz="850" dirty="0"/>
          </a:p>
        </p:txBody>
      </p:sp>
      <p:sp>
        <p:nvSpPr>
          <p:cNvPr id="19" name="Shape 17"/>
          <p:cNvSpPr/>
          <p:nvPr/>
        </p:nvSpPr>
        <p:spPr>
          <a:xfrm>
            <a:off x="3356491" y="4399717"/>
            <a:ext cx="7917418" cy="692110"/>
          </a:xfrm>
          <a:prstGeom prst="roundRect">
            <a:avLst>
              <a:gd name="adj" fmla="val 2394"/>
            </a:avLst>
          </a:prstGeom>
          <a:solidFill>
            <a:srgbClr val="111213"/>
          </a:solidFill>
          <a:ln w="15240">
            <a:solidFill>
              <a:srgbClr val="494A4B"/>
            </a:solidFill>
            <a:prstDash val="solid"/>
          </a:ln>
        </p:spPr>
      </p:sp>
      <p:sp>
        <p:nvSpPr>
          <p:cNvPr id="20" name="Shape 18"/>
          <p:cNvSpPr/>
          <p:nvPr/>
        </p:nvSpPr>
        <p:spPr>
          <a:xfrm>
            <a:off x="3371731" y="4414957"/>
            <a:ext cx="441722" cy="661630"/>
          </a:xfrm>
          <a:prstGeom prst="rect">
            <a:avLst/>
          </a:prstGeom>
          <a:solidFill>
            <a:srgbClr val="303132"/>
          </a:solidFill>
          <a:ln/>
        </p:spPr>
      </p:sp>
      <p:sp>
        <p:nvSpPr>
          <p:cNvPr id="21" name="Text 19"/>
          <p:cNvSpPr/>
          <p:nvPr/>
        </p:nvSpPr>
        <p:spPr>
          <a:xfrm>
            <a:off x="3509724" y="4642247"/>
            <a:ext cx="165616" cy="207050"/>
          </a:xfrm>
          <a:prstGeom prst="rect">
            <a:avLst/>
          </a:prstGeom>
          <a:noFill/>
          <a:ln/>
        </p:spPr>
        <p:txBody>
          <a:bodyPr wrap="none" lIns="0" tIns="0" rIns="0" bIns="0" rtlCol="0" anchor="t"/>
          <a:lstStyle/>
          <a:p>
            <a:pPr marL="0" indent="0" algn="l">
              <a:lnSpc>
                <a:spcPts val="1300"/>
              </a:lnSpc>
              <a:buNone/>
            </a:pPr>
            <a:r>
              <a:rPr lang="en-US" sz="1300" b="1" dirty="0">
                <a:solidFill>
                  <a:srgbClr val="E2E6E9"/>
                </a:solidFill>
                <a:latin typeface="Montserrat Bold" pitchFamily="34" charset="0"/>
                <a:ea typeface="Montserrat Bold" pitchFamily="34" charset="-122"/>
                <a:cs typeface="Montserrat Bold" pitchFamily="34" charset="-120"/>
              </a:rPr>
              <a:t>4</a:t>
            </a:r>
            <a:endParaRPr lang="en-US" sz="1300" dirty="0"/>
          </a:p>
        </p:txBody>
      </p:sp>
      <p:sp>
        <p:nvSpPr>
          <p:cNvPr id="22" name="Text 20"/>
          <p:cNvSpPr/>
          <p:nvPr/>
        </p:nvSpPr>
        <p:spPr>
          <a:xfrm>
            <a:off x="3869888" y="4525328"/>
            <a:ext cx="1334929" cy="156805"/>
          </a:xfrm>
          <a:prstGeom prst="rect">
            <a:avLst/>
          </a:prstGeom>
          <a:noFill/>
          <a:ln/>
        </p:spPr>
        <p:txBody>
          <a:bodyPr wrap="none" lIns="0" tIns="0" rIns="0" bIns="0" rtlCol="0" anchor="t"/>
          <a:lstStyle/>
          <a:p>
            <a:pPr marL="0" indent="0" algn="l">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Key Distinction Rule</a:t>
            </a:r>
            <a:endParaRPr lang="en-US" sz="950" dirty="0"/>
          </a:p>
        </p:txBody>
      </p:sp>
      <p:sp>
        <p:nvSpPr>
          <p:cNvPr id="23" name="Text 21"/>
          <p:cNvSpPr/>
          <p:nvPr/>
        </p:nvSpPr>
        <p:spPr>
          <a:xfrm>
            <a:off x="3869888" y="4715947"/>
            <a:ext cx="7278410" cy="250269"/>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"SEE/LIST/COUNT/RANK → ANALYST · WHAT TO DO/ADVICE → PLAYBOOK." Explicit rule for the hardest edge cases — applied when examples alone don't resolve ambiguity.</a:t>
            </a:r>
            <a:endParaRPr lang="en-US" sz="850" dirty="0"/>
          </a:p>
        </p:txBody>
      </p:sp>
      <p:sp>
        <p:nvSpPr>
          <p:cNvPr id="24" name="Shape 22"/>
          <p:cNvSpPr/>
          <p:nvPr/>
        </p:nvSpPr>
        <p:spPr>
          <a:xfrm>
            <a:off x="3356491" y="5148263"/>
            <a:ext cx="7917418" cy="692110"/>
          </a:xfrm>
          <a:prstGeom prst="roundRect">
            <a:avLst>
              <a:gd name="adj" fmla="val 2394"/>
            </a:avLst>
          </a:prstGeom>
          <a:solidFill>
            <a:srgbClr val="111213"/>
          </a:solidFill>
          <a:ln w="15240">
            <a:solidFill>
              <a:srgbClr val="494A4B"/>
            </a:solidFill>
            <a:prstDash val="solid"/>
          </a:ln>
        </p:spPr>
      </p:sp>
      <p:sp>
        <p:nvSpPr>
          <p:cNvPr id="25" name="Shape 23"/>
          <p:cNvSpPr/>
          <p:nvPr/>
        </p:nvSpPr>
        <p:spPr>
          <a:xfrm>
            <a:off x="3371731" y="5163503"/>
            <a:ext cx="441722" cy="661630"/>
          </a:xfrm>
          <a:prstGeom prst="rect">
            <a:avLst/>
          </a:prstGeom>
          <a:solidFill>
            <a:srgbClr val="303132"/>
          </a:solidFill>
          <a:ln/>
        </p:spPr>
      </p:sp>
      <p:sp>
        <p:nvSpPr>
          <p:cNvPr id="26" name="Text 24"/>
          <p:cNvSpPr/>
          <p:nvPr/>
        </p:nvSpPr>
        <p:spPr>
          <a:xfrm>
            <a:off x="3509724" y="5390793"/>
            <a:ext cx="165616" cy="207050"/>
          </a:xfrm>
          <a:prstGeom prst="rect">
            <a:avLst/>
          </a:prstGeom>
          <a:noFill/>
          <a:ln/>
        </p:spPr>
        <p:txBody>
          <a:bodyPr wrap="none" lIns="0" tIns="0" rIns="0" bIns="0" rtlCol="0" anchor="t"/>
          <a:lstStyle/>
          <a:p>
            <a:pPr marL="0" indent="0" algn="l">
              <a:lnSpc>
                <a:spcPts val="1300"/>
              </a:lnSpc>
              <a:buNone/>
            </a:pPr>
            <a:r>
              <a:rPr lang="en-US" sz="1300" b="1" dirty="0">
                <a:solidFill>
                  <a:srgbClr val="E2E6E9"/>
                </a:solidFill>
                <a:latin typeface="Montserrat Bold" pitchFamily="34" charset="0"/>
                <a:ea typeface="Montserrat Bold" pitchFamily="34" charset="-122"/>
                <a:cs typeface="Montserrat Bold" pitchFamily="34" charset="-120"/>
              </a:rPr>
              <a:t>5</a:t>
            </a:r>
            <a:endParaRPr lang="en-US" sz="1300" dirty="0"/>
          </a:p>
        </p:txBody>
      </p:sp>
      <p:sp>
        <p:nvSpPr>
          <p:cNvPr id="27" name="Text 25"/>
          <p:cNvSpPr/>
          <p:nvPr/>
        </p:nvSpPr>
        <p:spPr>
          <a:xfrm>
            <a:off x="3869888" y="5273873"/>
            <a:ext cx="1419820" cy="156805"/>
          </a:xfrm>
          <a:prstGeom prst="rect">
            <a:avLst/>
          </a:prstGeom>
          <a:noFill/>
          <a:ln/>
        </p:spPr>
        <p:txBody>
          <a:bodyPr wrap="none" lIns="0" tIns="0" rIns="0" bIns="0" rtlCol="0" anchor="t"/>
          <a:lstStyle/>
          <a:p>
            <a:pPr marL="0" indent="0" algn="l">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Conversation Context</a:t>
            </a:r>
            <a:endParaRPr lang="en-US" sz="950" dirty="0"/>
          </a:p>
        </p:txBody>
      </p:sp>
      <p:sp>
        <p:nvSpPr>
          <p:cNvPr id="28" name="Text 26"/>
          <p:cNvSpPr/>
          <p:nvPr/>
        </p:nvSpPr>
        <p:spPr>
          <a:xfrm>
            <a:off x="3869888" y="5464493"/>
            <a:ext cx="7278410" cy="250269"/>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Last 4 turns from history. Enables correct classification of follow-up questions. "Now show that as a bar chart" → context tells us previous was ANALYST → ANALYST.</a:t>
            </a:r>
            <a:endParaRPr lang="en-US" sz="850" dirty="0"/>
          </a:p>
        </p:txBody>
      </p:sp>
      <p:sp>
        <p:nvSpPr>
          <p:cNvPr id="29" name="Shape 27"/>
          <p:cNvSpPr/>
          <p:nvPr/>
        </p:nvSpPr>
        <p:spPr>
          <a:xfrm>
            <a:off x="3356491" y="5896808"/>
            <a:ext cx="7917418" cy="699730"/>
          </a:xfrm>
          <a:prstGeom prst="roundRect">
            <a:avLst>
              <a:gd name="adj" fmla="val 2368"/>
            </a:avLst>
          </a:prstGeom>
          <a:solidFill>
            <a:srgbClr val="111213"/>
          </a:solidFill>
          <a:ln w="15240">
            <a:solidFill>
              <a:srgbClr val="494A4B"/>
            </a:solidFill>
            <a:prstDash val="solid"/>
          </a:ln>
        </p:spPr>
      </p:sp>
      <p:sp>
        <p:nvSpPr>
          <p:cNvPr id="30" name="Shape 28"/>
          <p:cNvSpPr/>
          <p:nvPr/>
        </p:nvSpPr>
        <p:spPr>
          <a:xfrm>
            <a:off x="3371731" y="5912048"/>
            <a:ext cx="441722" cy="669250"/>
          </a:xfrm>
          <a:prstGeom prst="rect">
            <a:avLst/>
          </a:prstGeom>
          <a:solidFill>
            <a:srgbClr val="303132"/>
          </a:solidFill>
          <a:ln/>
        </p:spPr>
      </p:sp>
      <p:sp>
        <p:nvSpPr>
          <p:cNvPr id="31" name="Text 29"/>
          <p:cNvSpPr/>
          <p:nvPr/>
        </p:nvSpPr>
        <p:spPr>
          <a:xfrm>
            <a:off x="3509724" y="6143149"/>
            <a:ext cx="165616" cy="207050"/>
          </a:xfrm>
          <a:prstGeom prst="rect">
            <a:avLst/>
          </a:prstGeom>
          <a:noFill/>
          <a:ln/>
        </p:spPr>
        <p:txBody>
          <a:bodyPr wrap="none" lIns="0" tIns="0" rIns="0" bIns="0" rtlCol="0" anchor="t"/>
          <a:lstStyle/>
          <a:p>
            <a:pPr marL="0" indent="0" algn="l">
              <a:lnSpc>
                <a:spcPts val="1300"/>
              </a:lnSpc>
              <a:buNone/>
            </a:pPr>
            <a:r>
              <a:rPr lang="en-US" sz="1300" b="1" dirty="0">
                <a:solidFill>
                  <a:srgbClr val="E2E6E9"/>
                </a:solidFill>
                <a:latin typeface="Montserrat Bold" pitchFamily="34" charset="0"/>
                <a:ea typeface="Montserrat Bold" pitchFamily="34" charset="-122"/>
                <a:cs typeface="Montserrat Bold" pitchFamily="34" charset="-120"/>
              </a:rPr>
              <a:t>6</a:t>
            </a:r>
            <a:endParaRPr lang="en-US" sz="1300" dirty="0"/>
          </a:p>
        </p:txBody>
      </p:sp>
      <p:sp>
        <p:nvSpPr>
          <p:cNvPr id="32" name="Text 30"/>
          <p:cNvSpPr/>
          <p:nvPr/>
        </p:nvSpPr>
        <p:spPr>
          <a:xfrm>
            <a:off x="3869888" y="6022419"/>
            <a:ext cx="1254919" cy="156805"/>
          </a:xfrm>
          <a:prstGeom prst="rect">
            <a:avLst/>
          </a:prstGeom>
          <a:noFill/>
          <a:ln/>
        </p:spPr>
        <p:txBody>
          <a:bodyPr wrap="none" lIns="0" tIns="0" rIns="0" bIns="0" rtlCol="0" anchor="t"/>
          <a:lstStyle/>
          <a:p>
            <a:pPr marL="0" indent="0" algn="l">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Output Constraint</a:t>
            </a:r>
            <a:endParaRPr lang="en-US" sz="950" dirty="0"/>
          </a:p>
        </p:txBody>
      </p:sp>
      <p:sp>
        <p:nvSpPr>
          <p:cNvPr id="33" name="Text 31"/>
          <p:cNvSpPr/>
          <p:nvPr/>
        </p:nvSpPr>
        <p:spPr>
          <a:xfrm>
            <a:off x="3869888" y="6213038"/>
            <a:ext cx="7278410" cy="257889"/>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"Respond with exactly one word: ANALYST or PLAYBOOK." Without this, the LLM may add explanation. The code's </a:t>
            </a:r>
            <a:r>
              <a:rPr lang="en-US" sz="850" dirty="0">
                <a:solidFill>
                  <a:srgbClr val="E2E6E9"/>
                </a:solidFill>
                <a:highlight>
                  <a:srgbClr val="1E1F20"/>
                </a:highlight>
                <a:latin typeface="Consolas" pitchFamily="34" charset="0"/>
                <a:ea typeface="Consolas" pitchFamily="34" charset="-122"/>
                <a:cs typeface="Consolas" pitchFamily="34" charset="-120"/>
              </a:rPr>
              <a:t>if "ANALYST" in raw</a:t>
            </a:r>
            <a:r>
              <a:rPr lang="en-US" sz="850" dirty="0">
                <a:solidFill>
                  <a:srgbClr val="E2E6E9"/>
                </a:solidFill>
                <a:latin typeface="Source Sans 3" pitchFamily="34" charset="0"/>
                <a:ea typeface="Source Sans 3" pitchFamily="34" charset="-122"/>
                <a:cs typeface="Source Sans 3" pitchFamily="34" charset="-120"/>
              </a:rPr>
              <a:t> check handles the edge case where it does anyway.</a:t>
            </a:r>
            <a:endParaRPr lang="en-US" sz="850" dirty="0"/>
          </a:p>
        </p:txBody>
      </p:sp>
      <p:sp>
        <p:nvSpPr>
          <p:cNvPr id="34" name="Shape 32"/>
          <p:cNvSpPr/>
          <p:nvPr/>
        </p:nvSpPr>
        <p:spPr>
          <a:xfrm>
            <a:off x="3356491" y="6659999"/>
            <a:ext cx="7917418" cy="440055"/>
          </a:xfrm>
          <a:prstGeom prst="roundRect">
            <a:avLst>
              <a:gd name="adj" fmla="val 3765"/>
            </a:avLst>
          </a:prstGeom>
          <a:solidFill>
            <a:srgbClr val="262626"/>
          </a:solidFill>
          <a:ln/>
        </p:spPr>
      </p:sp>
      <p:pic>
        <p:nvPicPr>
          <p:cNvPr id="35" name="Image 0" descr="preencoded.png"/>
          <p:cNvPicPr>
            <a:picLocks noChangeAspect="1"/>
          </p:cNvPicPr>
          <p:nvPr/>
        </p:nvPicPr>
        <p:blipFill>
          <a:blip r:embed="rId3"/>
          <a:stretch>
            <a:fillRect/>
          </a:stretch>
        </p:blipFill>
        <p:spPr>
          <a:xfrm>
            <a:off x="3466862" y="6797873"/>
            <a:ext cx="137993" cy="110371"/>
          </a:xfrm>
          <a:prstGeom prst="rect">
            <a:avLst/>
          </a:prstGeom>
        </p:spPr>
      </p:pic>
      <p:sp>
        <p:nvSpPr>
          <p:cNvPr id="36" name="Text 33"/>
          <p:cNvSpPr/>
          <p:nvPr/>
        </p:nvSpPr>
        <p:spPr>
          <a:xfrm>
            <a:off x="3715226" y="6743938"/>
            <a:ext cx="7448312" cy="250269"/>
          </a:xfrm>
          <a:prstGeom prst="rect">
            <a:avLst/>
          </a:prstGeom>
          <a:noFill/>
          <a:ln/>
        </p:spPr>
        <p:txBody>
          <a:bodyPr wrap="square" lIns="0" tIns="0" rIns="0" bIns="0" rtlCol="0" anchor="t"/>
          <a:lstStyle/>
          <a:p>
            <a:pPr marL="0" indent="0" algn="l">
              <a:lnSpc>
                <a:spcPts val="950"/>
              </a:lnSpc>
              <a:buNone/>
            </a:pPr>
            <a:r>
              <a:rPr lang="en-US" sz="850" dirty="0">
                <a:solidFill>
                  <a:srgbClr val="FFFFFF"/>
                </a:solidFill>
                <a:latin typeface="Source Sans 3" pitchFamily="34" charset="0"/>
                <a:ea typeface="Source Sans 3" pitchFamily="34" charset="-122"/>
                <a:cs typeface="Source Sans 3" pitchFamily="34" charset="-120"/>
              </a:rPr>
              <a:t>Ask students: "What would happen if we removed the KEY DISTINCTION rule?" Test it live — ask the LLM "Which campaign had the best CTR?" The word "campaign" might trigger PLAYBOOK. With the rule, "which...had the best" = ranking = ANALYST. Every rule was added after observing a real failure.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444478" y="485656"/>
            <a:ext cx="7631311" cy="306705"/>
          </a:xfrm>
          <a:prstGeom prst="rect">
            <a:avLst/>
          </a:prstGeom>
          <a:noFill/>
          <a:ln/>
        </p:spPr>
        <p:txBody>
          <a:bodyPr wrap="none" lIns="0" tIns="0" rIns="0" bIns="0" rtlCol="0" anchor="t"/>
          <a:lstStyle/>
          <a:p>
            <a:pPr marL="0" indent="0" algn="l">
              <a:lnSpc>
                <a:spcPts val="2400"/>
              </a:lnSpc>
              <a:buNone/>
            </a:pPr>
            <a:r>
              <a:rPr lang="en-US" sz="1900" b="1" dirty="0">
                <a:solidFill>
                  <a:srgbClr val="FFFFFF"/>
                </a:solidFill>
                <a:latin typeface="Montserrat Bold" pitchFamily="34" charset="0"/>
                <a:ea typeface="Montserrat Bold" pitchFamily="34" charset="-122"/>
                <a:cs typeface="Montserrat Bold" pitchFamily="34" charset="-120"/>
              </a:rPr>
              <a:t>The Fallback Chain — Why the User Always Gets an Answer</a:t>
            </a:r>
            <a:endParaRPr lang="en-US" sz="1900" dirty="0"/>
          </a:p>
        </p:txBody>
      </p:sp>
      <p:sp>
        <p:nvSpPr>
          <p:cNvPr id="3" name="Text 1"/>
          <p:cNvSpPr/>
          <p:nvPr/>
        </p:nvSpPr>
        <p:spPr>
          <a:xfrm>
            <a:off x="3444478" y="900232"/>
            <a:ext cx="7741444" cy="242888"/>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What happens if the primary SP fails? SP_GATEWAY automatically tries the other SP before returning an error — ensuring the user always receives a useful response, never a blank screen.</a:t>
            </a:r>
            <a:endParaRPr lang="en-US" sz="850" dirty="0"/>
          </a:p>
        </p:txBody>
      </p:sp>
      <p:pic>
        <p:nvPicPr>
          <p:cNvPr id="4" name="Image 0" descr="preencoded.png"/>
          <p:cNvPicPr>
            <a:picLocks noChangeAspect="1"/>
          </p:cNvPicPr>
          <p:nvPr/>
        </p:nvPicPr>
        <p:blipFill>
          <a:blip r:embed="rId3"/>
          <a:stretch>
            <a:fillRect/>
          </a:stretch>
        </p:blipFill>
        <p:spPr>
          <a:xfrm>
            <a:off x="3506986" y="1203841"/>
            <a:ext cx="7616309" cy="3744039"/>
          </a:xfrm>
          <a:prstGeom prst="rect">
            <a:avLst/>
          </a:prstGeom>
        </p:spPr>
      </p:pic>
      <p:sp>
        <p:nvSpPr>
          <p:cNvPr id="5" name="Text 2"/>
          <p:cNvSpPr/>
          <p:nvPr/>
        </p:nvSpPr>
        <p:spPr>
          <a:xfrm>
            <a:off x="7233842" y="1564762"/>
            <a:ext cx="1583326" cy="197885"/>
          </a:xfrm>
          <a:prstGeom prst="rect">
            <a:avLst/>
          </a:prstGeom>
          <a:noFill/>
          <a:ln/>
        </p:spPr>
        <p:txBody>
          <a:bodyPr wrap="none" lIns="0" tIns="0" rIns="0" bIns="0" rtlCol="0" anchor="t"/>
          <a:lstStyle/>
          <a:p>
            <a:pPr marL="0" indent="0" algn="l">
              <a:lnSpc>
                <a:spcPts val="1550"/>
              </a:lnSpc>
              <a:buNone/>
            </a:pPr>
            <a:r>
              <a:rPr lang="en-US" sz="1200" b="1" dirty="0">
                <a:solidFill>
                  <a:srgbClr val="E2E6E9"/>
                </a:solidFill>
                <a:latin typeface="Montserrat Bold" pitchFamily="34" charset="0"/>
                <a:ea typeface="Montserrat Bold" pitchFamily="34" charset="-122"/>
                <a:cs typeface="Montserrat Bold" pitchFamily="34" charset="-120"/>
              </a:rPr>
              <a:t>Final Response</a:t>
            </a:r>
            <a:endParaRPr lang="en-US" sz="1200" dirty="0"/>
          </a:p>
        </p:txBody>
      </p:sp>
      <p:sp>
        <p:nvSpPr>
          <p:cNvPr id="6" name="Text 3"/>
          <p:cNvSpPr/>
          <p:nvPr/>
        </p:nvSpPr>
        <p:spPr>
          <a:xfrm>
            <a:off x="7233842" y="1824577"/>
            <a:ext cx="3522264" cy="130633"/>
          </a:xfrm>
          <a:prstGeom prst="rect">
            <a:avLst/>
          </a:prstGeom>
          <a:noFill/>
          <a:ln/>
        </p:spPr>
        <p:txBody>
          <a:bodyPr wrap="none" lIns="0" tIns="0" rIns="0" bIns="0" rtlCol="0" anchor="t"/>
          <a:lstStyle/>
          <a:p>
            <a:pPr marL="0" indent="0" algn="l">
              <a:lnSpc>
                <a:spcPts val="1000"/>
              </a:lnSpc>
              <a:buNone/>
            </a:pPr>
            <a:r>
              <a:rPr lang="en-US" sz="1050" dirty="0">
                <a:solidFill>
                  <a:srgbClr val="E2E6E9"/>
                </a:solidFill>
                <a:latin typeface="Source Sans 3" pitchFamily="34" charset="0"/>
                <a:ea typeface="Source Sans 3" pitchFamily="34" charset="-122"/>
                <a:cs typeface="Source Sans 3" pitchFamily="34" charset="-120"/>
              </a:rPr>
              <a:t>Return result or error</a:t>
            </a:r>
            <a:endParaRPr lang="en-US" sz="10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48215" y="1636127"/>
            <a:ext cx="247720" cy="247720"/>
          </a:xfrm>
          <a:prstGeom prst="rect">
            <a:avLst/>
          </a:prstGeom>
        </p:spPr>
      </p:pic>
      <p:sp>
        <p:nvSpPr>
          <p:cNvPr id="8" name="Text 4"/>
          <p:cNvSpPr/>
          <p:nvPr/>
        </p:nvSpPr>
        <p:spPr>
          <a:xfrm>
            <a:off x="7233842" y="2439522"/>
            <a:ext cx="1680455" cy="197885"/>
          </a:xfrm>
          <a:prstGeom prst="rect">
            <a:avLst/>
          </a:prstGeom>
          <a:noFill/>
          <a:ln/>
        </p:spPr>
        <p:txBody>
          <a:bodyPr wrap="none" lIns="0" tIns="0" rIns="0" bIns="0" rtlCol="0" anchor="t"/>
          <a:lstStyle/>
          <a:p>
            <a:pPr marL="0" indent="0" algn="l">
              <a:lnSpc>
                <a:spcPts val="1550"/>
              </a:lnSpc>
              <a:buNone/>
            </a:pPr>
            <a:r>
              <a:rPr lang="en-US" sz="1200" b="1" dirty="0">
                <a:solidFill>
                  <a:srgbClr val="E2E6E9"/>
                </a:solidFill>
                <a:latin typeface="Montserrat Bold" pitchFamily="34" charset="0"/>
                <a:ea typeface="Montserrat Bold" pitchFamily="34" charset="-122"/>
                <a:cs typeface="Montserrat Bold" pitchFamily="34" charset="-120"/>
              </a:rPr>
              <a:t>SP_PLAYBOOK_RAG</a:t>
            </a:r>
            <a:endParaRPr lang="en-US" sz="1200" dirty="0"/>
          </a:p>
        </p:txBody>
      </p:sp>
      <p:sp>
        <p:nvSpPr>
          <p:cNvPr id="9" name="Text 5"/>
          <p:cNvSpPr/>
          <p:nvPr/>
        </p:nvSpPr>
        <p:spPr>
          <a:xfrm>
            <a:off x="7233842" y="2699338"/>
            <a:ext cx="3522264" cy="130633"/>
          </a:xfrm>
          <a:prstGeom prst="rect">
            <a:avLst/>
          </a:prstGeom>
          <a:noFill/>
          <a:ln/>
        </p:spPr>
        <p:txBody>
          <a:bodyPr wrap="none" lIns="0" tIns="0" rIns="0" bIns="0" rtlCol="0" anchor="t"/>
          <a:lstStyle/>
          <a:p>
            <a:pPr marL="0" indent="0" algn="l">
              <a:lnSpc>
                <a:spcPts val="1000"/>
              </a:lnSpc>
              <a:buNone/>
            </a:pPr>
            <a:r>
              <a:rPr lang="en-US" sz="1050" dirty="0">
                <a:solidFill>
                  <a:srgbClr val="E2E6E9"/>
                </a:solidFill>
                <a:latin typeface="Source Sans 3" pitchFamily="34" charset="0"/>
                <a:ea typeface="Source Sans 3" pitchFamily="34" charset="-122"/>
                <a:cs typeface="Source Sans 3" pitchFamily="34" charset="-120"/>
              </a:rPr>
              <a:t>Fallback if primary fails</a:t>
            </a:r>
            <a:endParaRPr lang="en-US" sz="10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48215" y="2394768"/>
            <a:ext cx="247720" cy="247720"/>
          </a:xfrm>
          <a:prstGeom prst="rect">
            <a:avLst/>
          </a:prstGeom>
        </p:spPr>
      </p:pic>
      <p:sp>
        <p:nvSpPr>
          <p:cNvPr id="11" name="Text 6"/>
          <p:cNvSpPr/>
          <p:nvPr/>
        </p:nvSpPr>
        <p:spPr>
          <a:xfrm>
            <a:off x="7233842" y="3314282"/>
            <a:ext cx="1583326" cy="197885"/>
          </a:xfrm>
          <a:prstGeom prst="rect">
            <a:avLst/>
          </a:prstGeom>
          <a:noFill/>
          <a:ln/>
        </p:spPr>
        <p:txBody>
          <a:bodyPr wrap="none" lIns="0" tIns="0" rIns="0" bIns="0" rtlCol="0" anchor="t"/>
          <a:lstStyle/>
          <a:p>
            <a:pPr marL="0" indent="0" algn="l">
              <a:lnSpc>
                <a:spcPts val="1550"/>
              </a:lnSpc>
              <a:buNone/>
            </a:pPr>
            <a:r>
              <a:rPr lang="en-US" sz="1200" b="1" dirty="0">
                <a:solidFill>
                  <a:srgbClr val="E2E6E9"/>
                </a:solidFill>
                <a:latin typeface="Montserrat Bold" pitchFamily="34" charset="0"/>
                <a:ea typeface="Montserrat Bold" pitchFamily="34" charset="-122"/>
                <a:cs typeface="Montserrat Bold" pitchFamily="34" charset="-120"/>
              </a:rPr>
              <a:t>SP_SQL_ANALYST</a:t>
            </a:r>
            <a:endParaRPr lang="en-US" sz="1200" dirty="0"/>
          </a:p>
        </p:txBody>
      </p:sp>
      <p:sp>
        <p:nvSpPr>
          <p:cNvPr id="12" name="Text 7"/>
          <p:cNvSpPr/>
          <p:nvPr/>
        </p:nvSpPr>
        <p:spPr>
          <a:xfrm>
            <a:off x="7233842" y="3574098"/>
            <a:ext cx="3522264" cy="130633"/>
          </a:xfrm>
          <a:prstGeom prst="rect">
            <a:avLst/>
          </a:prstGeom>
          <a:noFill/>
          <a:ln/>
        </p:spPr>
        <p:txBody>
          <a:bodyPr wrap="none" lIns="0" tIns="0" rIns="0" bIns="0" rtlCol="0" anchor="t"/>
          <a:lstStyle/>
          <a:p>
            <a:pPr marL="0" indent="0" algn="l">
              <a:lnSpc>
                <a:spcPts val="1000"/>
              </a:lnSpc>
              <a:buNone/>
            </a:pPr>
            <a:r>
              <a:rPr lang="en-US" sz="1050" dirty="0">
                <a:solidFill>
                  <a:srgbClr val="E2E6E9"/>
                </a:solidFill>
                <a:latin typeface="Source Sans 3" pitchFamily="34" charset="0"/>
                <a:ea typeface="Source Sans 3" pitchFamily="34" charset="-122"/>
                <a:cs typeface="Source Sans 3" pitchFamily="34" charset="-120"/>
              </a:rPr>
              <a:t>Classify intent and run</a:t>
            </a:r>
            <a:endParaRPr lang="en-US" sz="10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48215" y="3145668"/>
            <a:ext cx="247720" cy="247720"/>
          </a:xfrm>
          <a:prstGeom prst="rect">
            <a:avLst/>
          </a:prstGeom>
        </p:spPr>
      </p:pic>
      <p:sp>
        <p:nvSpPr>
          <p:cNvPr id="14" name="Text 8"/>
          <p:cNvSpPr/>
          <p:nvPr/>
        </p:nvSpPr>
        <p:spPr>
          <a:xfrm>
            <a:off x="7241584" y="4189042"/>
            <a:ext cx="1583325" cy="197885"/>
          </a:xfrm>
          <a:prstGeom prst="rect">
            <a:avLst/>
          </a:prstGeom>
          <a:noFill/>
          <a:ln/>
        </p:spPr>
        <p:txBody>
          <a:bodyPr wrap="none" lIns="0" tIns="0" rIns="0" bIns="0" rtlCol="0" anchor="t"/>
          <a:lstStyle/>
          <a:p>
            <a:pPr marL="0" indent="0" algn="l">
              <a:lnSpc>
                <a:spcPts val="1550"/>
              </a:lnSpc>
              <a:buNone/>
            </a:pPr>
            <a:r>
              <a:rPr lang="en-US" sz="1200" b="1" dirty="0">
                <a:solidFill>
                  <a:srgbClr val="E2E6E9"/>
                </a:solidFill>
                <a:latin typeface="Montserrat Bold" pitchFamily="34" charset="0"/>
                <a:ea typeface="Montserrat Bold" pitchFamily="34" charset="-122"/>
                <a:cs typeface="Montserrat Bold" pitchFamily="34" charset="-120"/>
              </a:rPr>
              <a:t>SP_GATEWAY</a:t>
            </a:r>
            <a:endParaRPr lang="en-US" sz="1200" dirty="0"/>
          </a:p>
        </p:txBody>
      </p:sp>
      <p:sp>
        <p:nvSpPr>
          <p:cNvPr id="15" name="Text 9"/>
          <p:cNvSpPr/>
          <p:nvPr/>
        </p:nvSpPr>
        <p:spPr>
          <a:xfrm>
            <a:off x="7241584" y="4448858"/>
            <a:ext cx="3522264" cy="130633"/>
          </a:xfrm>
          <a:prstGeom prst="rect">
            <a:avLst/>
          </a:prstGeom>
          <a:noFill/>
          <a:ln/>
        </p:spPr>
        <p:txBody>
          <a:bodyPr wrap="none" lIns="0" tIns="0" rIns="0" bIns="0" rtlCol="0" anchor="t"/>
          <a:lstStyle/>
          <a:p>
            <a:pPr marL="0" indent="0" algn="l">
              <a:lnSpc>
                <a:spcPts val="1000"/>
              </a:lnSpc>
              <a:buNone/>
            </a:pPr>
            <a:r>
              <a:rPr lang="en-US" sz="1050" dirty="0">
                <a:solidFill>
                  <a:srgbClr val="E2E6E9"/>
                </a:solidFill>
                <a:latin typeface="Source Sans 3" pitchFamily="34" charset="0"/>
                <a:ea typeface="Source Sans 3" pitchFamily="34" charset="-122"/>
                <a:cs typeface="Source Sans 3" pitchFamily="34" charset="-120"/>
              </a:rPr>
              <a:t>Receive user message</a:t>
            </a:r>
            <a:endParaRPr lang="en-US" sz="105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48215" y="4020429"/>
            <a:ext cx="247720" cy="247719"/>
          </a:xfrm>
          <a:prstGeom prst="rect">
            <a:avLst/>
          </a:prstGeom>
        </p:spPr>
      </p:pic>
      <p:sp>
        <p:nvSpPr>
          <p:cNvPr id="17" name="Text 10"/>
          <p:cNvSpPr/>
          <p:nvPr/>
        </p:nvSpPr>
        <p:spPr>
          <a:xfrm>
            <a:off x="3444478" y="5062537"/>
            <a:ext cx="1235512" cy="153352"/>
          </a:xfrm>
          <a:prstGeom prst="rect">
            <a:avLst/>
          </a:prstGeom>
          <a:noFill/>
          <a:ln/>
        </p:spPr>
        <p:txBody>
          <a:bodyPr wrap="none" lIns="0" tIns="0" rIns="0" bIns="0" rtlCol="0" anchor="t"/>
          <a:lstStyle/>
          <a:p>
            <a:pPr marL="0" indent="0" algn="l">
              <a:lnSpc>
                <a:spcPts val="1200"/>
              </a:lnSpc>
              <a:buNone/>
            </a:pPr>
            <a:r>
              <a:rPr lang="en-US" sz="950" b="1" dirty="0">
                <a:solidFill>
                  <a:srgbClr val="FFFFFF"/>
                </a:solidFill>
                <a:latin typeface="Montserrat Bold" pitchFamily="34" charset="0"/>
                <a:ea typeface="Montserrat Bold" pitchFamily="34" charset="-122"/>
                <a:cs typeface="Montserrat Bold" pitchFamily="34" charset="-120"/>
              </a:rPr>
              <a:t>_is_success() check</a:t>
            </a:r>
            <a:endParaRPr lang="en-US" sz="950" dirty="0"/>
          </a:p>
        </p:txBody>
      </p:sp>
      <p:sp>
        <p:nvSpPr>
          <p:cNvPr id="18" name="Shape 11"/>
          <p:cNvSpPr/>
          <p:nvPr/>
        </p:nvSpPr>
        <p:spPr>
          <a:xfrm>
            <a:off x="3444478" y="5276612"/>
            <a:ext cx="3739039" cy="580073"/>
          </a:xfrm>
          <a:prstGeom prst="roundRect">
            <a:avLst>
              <a:gd name="adj" fmla="val 2792"/>
            </a:avLst>
          </a:prstGeom>
          <a:solidFill>
            <a:srgbClr val="1E1F20"/>
          </a:solidFill>
          <a:ln/>
        </p:spPr>
      </p:sp>
      <p:sp>
        <p:nvSpPr>
          <p:cNvPr id="19" name="Shape 12"/>
          <p:cNvSpPr/>
          <p:nvPr/>
        </p:nvSpPr>
        <p:spPr>
          <a:xfrm>
            <a:off x="3439120" y="5276612"/>
            <a:ext cx="3749754" cy="580073"/>
          </a:xfrm>
          <a:prstGeom prst="roundRect">
            <a:avLst>
              <a:gd name="adj" fmla="val 2792"/>
            </a:avLst>
          </a:prstGeom>
          <a:solidFill>
            <a:srgbClr val="1E1F20"/>
          </a:solidFill>
          <a:ln/>
        </p:spPr>
      </p:sp>
      <p:sp>
        <p:nvSpPr>
          <p:cNvPr id="20" name="Text 13"/>
          <p:cNvSpPr/>
          <p:nvPr/>
        </p:nvSpPr>
        <p:spPr>
          <a:xfrm>
            <a:off x="3574018" y="5384483"/>
            <a:ext cx="3479959" cy="364331"/>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def _is_success(resp):</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return (resp.get("status") == "success"</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and not resp.get("error"))</a:t>
            </a:r>
            <a:endParaRPr lang="en-US" sz="850" dirty="0"/>
          </a:p>
        </p:txBody>
      </p:sp>
      <p:sp>
        <p:nvSpPr>
          <p:cNvPr id="21" name="Text 14"/>
          <p:cNvSpPr/>
          <p:nvPr/>
        </p:nvSpPr>
        <p:spPr>
          <a:xfrm>
            <a:off x="3444478" y="5917406"/>
            <a:ext cx="1227058" cy="153352"/>
          </a:xfrm>
          <a:prstGeom prst="rect">
            <a:avLst/>
          </a:prstGeom>
          <a:noFill/>
          <a:ln/>
        </p:spPr>
        <p:txBody>
          <a:bodyPr wrap="none" lIns="0" tIns="0" rIns="0" bIns="0" rtlCol="0" anchor="t"/>
          <a:lstStyle/>
          <a:p>
            <a:pPr marL="0" indent="0" algn="l">
              <a:lnSpc>
                <a:spcPts val="1200"/>
              </a:lnSpc>
              <a:buNone/>
            </a:pPr>
            <a:r>
              <a:rPr lang="en-US" sz="950" b="1" dirty="0">
                <a:solidFill>
                  <a:srgbClr val="FFFFFF"/>
                </a:solidFill>
                <a:latin typeface="Montserrat Bold" pitchFamily="34" charset="0"/>
                <a:ea typeface="Montserrat Bold" pitchFamily="34" charset="-122"/>
                <a:cs typeface="Montserrat Bold" pitchFamily="34" charset="-120"/>
              </a:rPr>
              <a:t>Fallback logic</a:t>
            </a:r>
            <a:endParaRPr lang="en-US" sz="950" dirty="0"/>
          </a:p>
        </p:txBody>
      </p:sp>
      <p:sp>
        <p:nvSpPr>
          <p:cNvPr id="22" name="Shape 15"/>
          <p:cNvSpPr/>
          <p:nvPr/>
        </p:nvSpPr>
        <p:spPr>
          <a:xfrm>
            <a:off x="3444478" y="6131481"/>
            <a:ext cx="3739039" cy="1551623"/>
          </a:xfrm>
          <a:prstGeom prst="roundRect">
            <a:avLst>
              <a:gd name="adj" fmla="val 1044"/>
            </a:avLst>
          </a:prstGeom>
          <a:solidFill>
            <a:srgbClr val="1E1F20"/>
          </a:solidFill>
          <a:ln/>
        </p:spPr>
      </p:sp>
      <p:sp>
        <p:nvSpPr>
          <p:cNvPr id="23" name="Shape 16"/>
          <p:cNvSpPr/>
          <p:nvPr/>
        </p:nvSpPr>
        <p:spPr>
          <a:xfrm>
            <a:off x="3439120" y="6131481"/>
            <a:ext cx="3749754" cy="1551623"/>
          </a:xfrm>
          <a:prstGeom prst="roundRect">
            <a:avLst>
              <a:gd name="adj" fmla="val 1044"/>
            </a:avLst>
          </a:prstGeom>
          <a:solidFill>
            <a:srgbClr val="1E1F20"/>
          </a:solidFill>
          <a:ln/>
        </p:spPr>
      </p:sp>
      <p:sp>
        <p:nvSpPr>
          <p:cNvPr id="24" name="Text 17"/>
          <p:cNvSpPr/>
          <p:nvPr/>
        </p:nvSpPr>
        <p:spPr>
          <a:xfrm>
            <a:off x="3574018" y="6239351"/>
            <a:ext cx="3479959" cy="1335881"/>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primary_resp = _call_sp(session,</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primary_sp, ...)</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cross_fallback_used = False</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final_resp = primary_resp</a:t>
            </a:r>
            <a:endParaRPr lang="en-US" sz="850" dirty="0"/>
          </a:p>
          <a:p>
            <a:pPr marL="0" indent="0" algn="l">
              <a:lnSpc>
                <a:spcPts val="950"/>
              </a:lnSpc>
              <a:buNone/>
            </a:pP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if not _is_success(primary_resp):</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fallback_resp = _call_sp(session,</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fallback_sp, ...)</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if _is_success(fallback_resp):</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final_resp = fallback_resp</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cross_fallback_used = True</a:t>
            </a:r>
            <a:endParaRPr lang="en-US" sz="850" dirty="0"/>
          </a:p>
        </p:txBody>
      </p:sp>
      <p:sp>
        <p:nvSpPr>
          <p:cNvPr id="25" name="Shape 18"/>
          <p:cNvSpPr/>
          <p:nvPr/>
        </p:nvSpPr>
        <p:spPr>
          <a:xfrm>
            <a:off x="7376755" y="5008602"/>
            <a:ext cx="3894534" cy="2735223"/>
          </a:xfrm>
          <a:prstGeom prst="roundRect">
            <a:avLst>
              <a:gd name="adj" fmla="val 592"/>
            </a:avLst>
          </a:prstGeom>
          <a:solidFill>
            <a:srgbClr val="1D1F22"/>
          </a:solidFill>
          <a:ln/>
        </p:spPr>
      </p:sp>
      <p:sp>
        <p:nvSpPr>
          <p:cNvPr id="26" name="Text 19"/>
          <p:cNvSpPr/>
          <p:nvPr/>
        </p:nvSpPr>
        <p:spPr>
          <a:xfrm>
            <a:off x="7484626" y="5062537"/>
            <a:ext cx="1414939" cy="153352"/>
          </a:xfrm>
          <a:prstGeom prst="rect">
            <a:avLst/>
          </a:prstGeom>
          <a:noFill/>
          <a:ln/>
        </p:spPr>
        <p:txBody>
          <a:bodyPr wrap="none" lIns="0" tIns="0" rIns="0" bIns="0" rtlCol="0" anchor="t"/>
          <a:lstStyle/>
          <a:p>
            <a:pPr marL="0" indent="0" algn="l">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When fallback is used</a:t>
            </a:r>
            <a:endParaRPr lang="en-US" sz="950" dirty="0"/>
          </a:p>
        </p:txBody>
      </p:sp>
      <p:sp>
        <p:nvSpPr>
          <p:cNvPr id="27" name="Shape 20"/>
          <p:cNvSpPr/>
          <p:nvPr/>
        </p:nvSpPr>
        <p:spPr>
          <a:xfrm>
            <a:off x="7484626" y="5276612"/>
            <a:ext cx="1812369" cy="1303615"/>
          </a:xfrm>
          <a:prstGeom prst="roundRect">
            <a:avLst>
              <a:gd name="adj" fmla="val 5611"/>
            </a:avLst>
          </a:prstGeom>
          <a:solidFill>
            <a:srgbClr val="1D1F22"/>
          </a:solidFill>
          <a:ln w="15240">
            <a:solidFill>
              <a:srgbClr val="494A4B"/>
            </a:solidFill>
            <a:prstDash val="solid"/>
          </a:ln>
        </p:spPr>
      </p:sp>
      <p:sp>
        <p:nvSpPr>
          <p:cNvPr id="28" name="Shape 21"/>
          <p:cNvSpPr/>
          <p:nvPr/>
        </p:nvSpPr>
        <p:spPr>
          <a:xfrm>
            <a:off x="7469386" y="5276612"/>
            <a:ext cx="60960" cy="1303615"/>
          </a:xfrm>
          <a:prstGeom prst="roundRect">
            <a:avLst>
              <a:gd name="adj" fmla="val 26572"/>
            </a:avLst>
          </a:prstGeom>
          <a:solidFill>
            <a:srgbClr val="FFFFFF"/>
          </a:solidFill>
          <a:ln/>
        </p:spPr>
      </p:sp>
      <p:sp>
        <p:nvSpPr>
          <p:cNvPr id="29" name="Text 22"/>
          <p:cNvSpPr/>
          <p:nvPr/>
        </p:nvSpPr>
        <p:spPr>
          <a:xfrm>
            <a:off x="7653457" y="5399723"/>
            <a:ext cx="1520428" cy="314325"/>
          </a:xfrm>
          <a:prstGeom prst="rect">
            <a:avLst/>
          </a:prstGeom>
          <a:noFill/>
          <a:ln/>
        </p:spPr>
        <p:txBody>
          <a:bodyPr wrap="square" lIns="0" tIns="0" rIns="0" bIns="0" rtlCol="0" anchor="t"/>
          <a:lstStyle/>
          <a:p>
            <a:pPr marL="0" indent="0" algn="l">
              <a:lnSpc>
                <a:spcPts val="1200"/>
              </a:lnSpc>
              <a:buNone/>
            </a:pPr>
            <a:r>
              <a:rPr lang="en-US" sz="950" b="1" dirty="0">
                <a:solidFill>
                  <a:srgbClr val="000000"/>
                </a:solidFill>
                <a:latin typeface="Montserrat Bold" pitchFamily="34" charset="0"/>
                <a:ea typeface="Montserrat Bold" pitchFamily="34" charset="-122"/>
                <a:cs typeface="Montserrat Bold" pitchFamily="34" charset="-120"/>
              </a:rPr>
              <a:t>⚡</a:t>
            </a:r>
            <a:r>
              <a:rPr lang="en-US" sz="950" b="1" dirty="0">
                <a:solidFill>
                  <a:srgbClr val="E2E6E9"/>
                </a:solidFill>
                <a:latin typeface="Montserrat Bold" pitchFamily="34" charset="0"/>
                <a:ea typeface="Montserrat Bold" pitchFamily="34" charset="-122"/>
                <a:cs typeface="Montserrat Bold" pitchFamily="34" charset="-120"/>
              </a:rPr>
              <a:t> Streamlit warning badge</a:t>
            </a:r>
            <a:endParaRPr lang="en-US" sz="950" dirty="0"/>
          </a:p>
        </p:txBody>
      </p:sp>
      <p:sp>
        <p:nvSpPr>
          <p:cNvPr id="30" name="Text 23"/>
          <p:cNvSpPr/>
          <p:nvPr/>
        </p:nvSpPr>
        <p:spPr>
          <a:xfrm>
            <a:off x="7653457" y="5767983"/>
            <a:ext cx="1520428" cy="501015"/>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"Primary path failed — answer from fallback handler." — shown when </a:t>
            </a:r>
            <a:r>
              <a:rPr lang="en-US" sz="850" dirty="0">
                <a:solidFill>
                  <a:srgbClr val="E2E6E9"/>
                </a:solidFill>
                <a:highlight>
                  <a:srgbClr val="2A2C2F"/>
                </a:highlight>
                <a:latin typeface="Consolas" pitchFamily="34" charset="0"/>
                <a:ea typeface="Consolas" pitchFamily="34" charset="-122"/>
                <a:cs typeface="Consolas" pitchFamily="34" charset="-120"/>
              </a:rPr>
              <a:t>cross_fallback_used = True</a:t>
            </a:r>
            <a:r>
              <a:rPr lang="en-US" sz="850" dirty="0">
                <a:solidFill>
                  <a:srgbClr val="E2E6E9"/>
                </a:solidFill>
                <a:latin typeface="Source Sans 3" pitchFamily="34" charset="0"/>
                <a:ea typeface="Source Sans 3" pitchFamily="34" charset="-122"/>
                <a:cs typeface="Source Sans 3" pitchFamily="34" charset="-120"/>
              </a:rPr>
              <a:t>.</a:t>
            </a:r>
            <a:endParaRPr lang="en-US" sz="850" dirty="0"/>
          </a:p>
        </p:txBody>
      </p:sp>
      <p:sp>
        <p:nvSpPr>
          <p:cNvPr id="31" name="Shape 24"/>
          <p:cNvSpPr/>
          <p:nvPr/>
        </p:nvSpPr>
        <p:spPr>
          <a:xfrm>
            <a:off x="9350931" y="5276612"/>
            <a:ext cx="1812488" cy="1303615"/>
          </a:xfrm>
          <a:prstGeom prst="roundRect">
            <a:avLst>
              <a:gd name="adj" fmla="val 5611"/>
            </a:avLst>
          </a:prstGeom>
          <a:solidFill>
            <a:srgbClr val="1D1F22"/>
          </a:solidFill>
          <a:ln w="15240">
            <a:solidFill>
              <a:srgbClr val="494A4B"/>
            </a:solidFill>
            <a:prstDash val="solid"/>
          </a:ln>
        </p:spPr>
      </p:sp>
      <p:sp>
        <p:nvSpPr>
          <p:cNvPr id="32" name="Shape 25"/>
          <p:cNvSpPr/>
          <p:nvPr/>
        </p:nvSpPr>
        <p:spPr>
          <a:xfrm>
            <a:off x="9335691" y="5276612"/>
            <a:ext cx="60960" cy="1303615"/>
          </a:xfrm>
          <a:prstGeom prst="roundRect">
            <a:avLst>
              <a:gd name="adj" fmla="val 26572"/>
            </a:avLst>
          </a:prstGeom>
          <a:solidFill>
            <a:srgbClr val="FFFFFF"/>
          </a:solidFill>
          <a:ln/>
        </p:spPr>
      </p:sp>
      <p:sp>
        <p:nvSpPr>
          <p:cNvPr id="33" name="Text 26"/>
          <p:cNvSpPr/>
          <p:nvPr/>
        </p:nvSpPr>
        <p:spPr>
          <a:xfrm>
            <a:off x="9519761" y="5399723"/>
            <a:ext cx="1227058" cy="153352"/>
          </a:xfrm>
          <a:prstGeom prst="rect">
            <a:avLst/>
          </a:prstGeom>
          <a:noFill/>
          <a:ln/>
        </p:spPr>
        <p:txBody>
          <a:bodyPr wrap="none" lIns="0" tIns="0" rIns="0" bIns="0" rtlCol="0" anchor="t"/>
          <a:lstStyle/>
          <a:p>
            <a:pPr marL="0" indent="0" algn="l">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Example scenario</a:t>
            </a:r>
            <a:endParaRPr lang="en-US" sz="950" dirty="0"/>
          </a:p>
        </p:txBody>
      </p:sp>
      <p:sp>
        <p:nvSpPr>
          <p:cNvPr id="34" name="Text 27"/>
          <p:cNvSpPr/>
          <p:nvPr/>
        </p:nvSpPr>
        <p:spPr>
          <a:xfrm>
            <a:off x="9519761" y="5607010"/>
            <a:ext cx="1520547" cy="850106"/>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User asks "Show me inactive customers by coupon type" → SQL generator produces invalid SQL → fallback sends to RAG → returns relevant campaign guidance. Not perfect, but better than an error.</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182303" y="1430179"/>
            <a:ext cx="7545943" cy="327541"/>
          </a:xfrm>
          <a:prstGeom prst="rect">
            <a:avLst/>
          </a:prstGeom>
          <a:noFill/>
          <a:ln/>
        </p:spPr>
        <p:txBody>
          <a:bodyPr wrap="none" lIns="0" tIns="0" rIns="0" bIns="0" rtlCol="0" anchor="t"/>
          <a:lstStyle/>
          <a:p>
            <a:pPr marL="0" indent="0" algn="l">
              <a:lnSpc>
                <a:spcPts val="2550"/>
              </a:lnSpc>
              <a:buNone/>
            </a:pPr>
            <a:r>
              <a:rPr lang="en-US" sz="2050" b="1" dirty="0">
                <a:solidFill>
                  <a:srgbClr val="FFFFFF"/>
                </a:solidFill>
                <a:latin typeface="Montserrat Bold" pitchFamily="34" charset="0"/>
                <a:ea typeface="Montserrat Bold" pitchFamily="34" charset="-122"/>
                <a:cs typeface="Montserrat Bold" pitchFamily="34" charset="-120"/>
              </a:rPr>
              <a:t>_persist_user_turn() — Writing Every Turn to Snowflake</a:t>
            </a:r>
            <a:endParaRPr lang="en-US" sz="2050" dirty="0"/>
          </a:p>
        </p:txBody>
      </p:sp>
      <p:sp>
        <p:nvSpPr>
          <p:cNvPr id="3" name="Text 1"/>
          <p:cNvSpPr/>
          <p:nvPr/>
        </p:nvSpPr>
        <p:spPr>
          <a:xfrm>
            <a:off x="3182303" y="1880711"/>
            <a:ext cx="8265795" cy="265033"/>
          </a:xfrm>
          <a:prstGeom prst="rect">
            <a:avLst/>
          </a:prstGeom>
          <a:noFill/>
          <a:ln/>
        </p:spPr>
        <p:txBody>
          <a:bodyPr wrap="squar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Every message — both user questions and assistant responses — is written to SWIGGY_CONVERSATION_HISTORY. This creates an audit trail and enables multi-turn context to persist across sessions.</a:t>
            </a:r>
            <a:endParaRPr lang="en-US" sz="900" dirty="0"/>
          </a:p>
        </p:txBody>
      </p:sp>
      <p:sp>
        <p:nvSpPr>
          <p:cNvPr id="4" name="Text 2"/>
          <p:cNvSpPr/>
          <p:nvPr/>
        </p:nvSpPr>
        <p:spPr>
          <a:xfrm>
            <a:off x="3182303" y="2276356"/>
            <a:ext cx="1310164" cy="163711"/>
          </a:xfrm>
          <a:prstGeom prst="rect">
            <a:avLst/>
          </a:prstGeom>
          <a:noFill/>
          <a:ln/>
        </p:spPr>
        <p:txBody>
          <a:bodyPr wrap="none" lIns="0" tIns="0" rIns="0" bIns="0" rtlCol="0" anchor="t"/>
          <a:lstStyle/>
          <a:p>
            <a:pPr marL="0" indent="0" algn="l">
              <a:lnSpc>
                <a:spcPts val="1250"/>
              </a:lnSpc>
              <a:buNone/>
            </a:pPr>
            <a:r>
              <a:rPr lang="en-US" sz="1000" b="1" dirty="0">
                <a:solidFill>
                  <a:srgbClr val="FFFFFF"/>
                </a:solidFill>
                <a:latin typeface="Montserrat Bold" pitchFamily="34" charset="0"/>
                <a:ea typeface="Montserrat Bold" pitchFamily="34" charset="-122"/>
                <a:cs typeface="Montserrat Bold" pitchFamily="34" charset="-120"/>
              </a:rPr>
              <a:t>Table structure</a:t>
            </a:r>
            <a:endParaRPr lang="en-US" sz="1000" dirty="0"/>
          </a:p>
        </p:txBody>
      </p:sp>
      <p:sp>
        <p:nvSpPr>
          <p:cNvPr id="5" name="Shape 3"/>
          <p:cNvSpPr/>
          <p:nvPr/>
        </p:nvSpPr>
        <p:spPr>
          <a:xfrm>
            <a:off x="3182303" y="2509242"/>
            <a:ext cx="3137535" cy="1158121"/>
          </a:xfrm>
          <a:prstGeom prst="roundRect">
            <a:avLst>
              <a:gd name="adj" fmla="val 1493"/>
            </a:avLst>
          </a:prstGeom>
          <a:solidFill>
            <a:srgbClr val="1E1F20"/>
          </a:solidFill>
          <a:ln/>
        </p:spPr>
      </p:sp>
      <p:sp>
        <p:nvSpPr>
          <p:cNvPr id="6" name="Shape 4"/>
          <p:cNvSpPr/>
          <p:nvPr/>
        </p:nvSpPr>
        <p:spPr>
          <a:xfrm>
            <a:off x="3176587" y="2509242"/>
            <a:ext cx="3148965" cy="1158121"/>
          </a:xfrm>
          <a:prstGeom prst="roundRect">
            <a:avLst>
              <a:gd name="adj" fmla="val 1493"/>
            </a:avLst>
          </a:prstGeom>
          <a:solidFill>
            <a:srgbClr val="1E1F20"/>
          </a:solidFill>
          <a:ln/>
        </p:spPr>
      </p:sp>
      <p:sp>
        <p:nvSpPr>
          <p:cNvPr id="7" name="Text 5"/>
          <p:cNvSpPr/>
          <p:nvPr/>
        </p:nvSpPr>
        <p:spPr>
          <a:xfrm>
            <a:off x="3320653" y="2624495"/>
            <a:ext cx="2860834" cy="927616"/>
          </a:xfrm>
          <a:prstGeom prst="rect">
            <a:avLst/>
          </a:prstGeom>
          <a:noFill/>
          <a:ln/>
        </p:spPr>
        <p:txBody>
          <a:bodyPr wrap="square" lIns="0" tIns="0" rIns="0" bIns="0" rtlCol="0" anchor="t"/>
          <a:lstStyle/>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SWIGGY_CONVERSATION_HISTORY:</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session_id  VARCHAR  -- UUID per session</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turn_number INTEGER  -- sequential</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role        VARCHAR  -- 'user'/'assistant'</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message     VARCHAR  -- text content</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intent      VARCHAR  -- 'ANALYST'/'PLAYBOOK'</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created_at  TIMESTAMP -- auto</a:t>
            </a:r>
            <a:endParaRPr lang="en-US" sz="900" dirty="0"/>
          </a:p>
        </p:txBody>
      </p:sp>
      <p:sp>
        <p:nvSpPr>
          <p:cNvPr id="8" name="Text 6"/>
          <p:cNvSpPr/>
          <p:nvPr/>
        </p:nvSpPr>
        <p:spPr>
          <a:xfrm>
            <a:off x="3182303" y="3736538"/>
            <a:ext cx="2449830" cy="163711"/>
          </a:xfrm>
          <a:prstGeom prst="rect">
            <a:avLst/>
          </a:prstGeom>
          <a:noFill/>
          <a:ln/>
        </p:spPr>
        <p:txBody>
          <a:bodyPr wrap="none" lIns="0" tIns="0" rIns="0" bIns="0" rtlCol="0" anchor="t"/>
          <a:lstStyle/>
          <a:p>
            <a:pPr marL="0" indent="0" algn="l">
              <a:lnSpc>
                <a:spcPts val="1250"/>
              </a:lnSpc>
              <a:buNone/>
            </a:pPr>
            <a:r>
              <a:rPr lang="en-US" sz="1000" b="1" dirty="0">
                <a:solidFill>
                  <a:srgbClr val="FFFFFF"/>
                </a:solidFill>
                <a:latin typeface="Montserrat Bold" pitchFamily="34" charset="0"/>
                <a:ea typeface="Montserrat Bold" pitchFamily="34" charset="-122"/>
                <a:cs typeface="Montserrat Bold" pitchFamily="34" charset="-120"/>
              </a:rPr>
              <a:t>What gets written per conversation</a:t>
            </a:r>
            <a:endParaRPr lang="en-US" sz="1000" dirty="0"/>
          </a:p>
        </p:txBody>
      </p:sp>
      <p:sp>
        <p:nvSpPr>
          <p:cNvPr id="9" name="Shape 7"/>
          <p:cNvSpPr/>
          <p:nvPr/>
        </p:nvSpPr>
        <p:spPr>
          <a:xfrm>
            <a:off x="3182303" y="3969425"/>
            <a:ext cx="3137535" cy="2213729"/>
          </a:xfrm>
          <a:prstGeom prst="roundRect">
            <a:avLst>
              <a:gd name="adj" fmla="val 781"/>
            </a:avLst>
          </a:prstGeom>
          <a:noFill/>
          <a:ln w="7620">
            <a:solidFill>
              <a:srgbClr val="FFFFFF">
                <a:alpha val="24000"/>
              </a:srgbClr>
            </a:solidFill>
            <a:prstDash val="solid"/>
          </a:ln>
        </p:spPr>
      </p:sp>
      <p:sp>
        <p:nvSpPr>
          <p:cNvPr id="10" name="Text 8"/>
          <p:cNvSpPr/>
          <p:nvPr/>
        </p:nvSpPr>
        <p:spPr>
          <a:xfrm>
            <a:off x="3305651" y="4021574"/>
            <a:ext cx="806172" cy="132517"/>
          </a:xfrm>
          <a:prstGeom prst="rect">
            <a:avLst/>
          </a:prstGeom>
          <a:noFill/>
          <a:ln/>
        </p:spPr>
        <p:txBody>
          <a:bodyPr wrap="none" lIns="0" tIns="0" rIns="0" bIns="0" rtlCol="0" anchor="t"/>
          <a:lstStyle/>
          <a:p>
            <a:pPr marL="0" indent="0" algn="l">
              <a:lnSpc>
                <a:spcPts val="1000"/>
              </a:lnSpc>
              <a:buNone/>
            </a:pPr>
            <a:r>
              <a:rPr lang="en-US" sz="900" b="1" dirty="0">
                <a:solidFill>
                  <a:srgbClr val="E2E6E9"/>
                </a:solidFill>
                <a:latin typeface="Source Sans 3" pitchFamily="34" charset="0"/>
                <a:ea typeface="Source Sans 3" pitchFamily="34" charset="-122"/>
                <a:cs typeface="Source Sans 3" pitchFamily="34" charset="-120"/>
              </a:rPr>
              <a:t>Event</a:t>
            </a:r>
            <a:endParaRPr lang="en-US" sz="900" dirty="0"/>
          </a:p>
        </p:txBody>
      </p:sp>
      <p:sp>
        <p:nvSpPr>
          <p:cNvPr id="11" name="Text 9"/>
          <p:cNvSpPr/>
          <p:nvPr/>
        </p:nvSpPr>
        <p:spPr>
          <a:xfrm>
            <a:off x="4349948" y="4021574"/>
            <a:ext cx="802362" cy="132517"/>
          </a:xfrm>
          <a:prstGeom prst="rect">
            <a:avLst/>
          </a:prstGeom>
          <a:noFill/>
          <a:ln/>
        </p:spPr>
        <p:txBody>
          <a:bodyPr wrap="none" lIns="0" tIns="0" rIns="0" bIns="0" rtlCol="0" anchor="t"/>
          <a:lstStyle/>
          <a:p>
            <a:pPr marL="0" indent="0" algn="l">
              <a:lnSpc>
                <a:spcPts val="1000"/>
              </a:lnSpc>
              <a:buNone/>
            </a:pPr>
            <a:r>
              <a:rPr lang="en-US" sz="900" b="1" dirty="0">
                <a:solidFill>
                  <a:srgbClr val="E2E6E9"/>
                </a:solidFill>
                <a:latin typeface="Source Sans 3" pitchFamily="34" charset="0"/>
                <a:ea typeface="Source Sans 3" pitchFamily="34" charset="-122"/>
                <a:cs typeface="Source Sans 3" pitchFamily="34" charset="-120"/>
              </a:rPr>
              <a:t>role</a:t>
            </a:r>
            <a:endParaRPr lang="en-US" sz="900" dirty="0"/>
          </a:p>
        </p:txBody>
      </p:sp>
      <p:sp>
        <p:nvSpPr>
          <p:cNvPr id="12" name="Text 10"/>
          <p:cNvSpPr/>
          <p:nvPr/>
        </p:nvSpPr>
        <p:spPr>
          <a:xfrm>
            <a:off x="5390436" y="4021574"/>
            <a:ext cx="806172" cy="132517"/>
          </a:xfrm>
          <a:prstGeom prst="rect">
            <a:avLst/>
          </a:prstGeom>
          <a:noFill/>
          <a:ln/>
        </p:spPr>
        <p:txBody>
          <a:bodyPr wrap="none" lIns="0" tIns="0" rIns="0" bIns="0" rtlCol="0" anchor="t"/>
          <a:lstStyle/>
          <a:p>
            <a:pPr marL="0" indent="0" algn="l">
              <a:lnSpc>
                <a:spcPts val="1000"/>
              </a:lnSpc>
              <a:buNone/>
            </a:pPr>
            <a:r>
              <a:rPr lang="en-US" sz="900" b="1" dirty="0">
                <a:solidFill>
                  <a:srgbClr val="E2E6E9"/>
                </a:solidFill>
                <a:latin typeface="Source Sans 3" pitchFamily="34" charset="0"/>
                <a:ea typeface="Source Sans 3" pitchFamily="34" charset="-122"/>
                <a:cs typeface="Source Sans 3" pitchFamily="34" charset="-120"/>
              </a:rPr>
              <a:t>intent</a:t>
            </a:r>
            <a:endParaRPr lang="en-US" sz="900" dirty="0"/>
          </a:p>
        </p:txBody>
      </p:sp>
      <p:sp>
        <p:nvSpPr>
          <p:cNvPr id="13" name="Text 11"/>
          <p:cNvSpPr/>
          <p:nvPr/>
        </p:nvSpPr>
        <p:spPr>
          <a:xfrm>
            <a:off x="3305651" y="4250769"/>
            <a:ext cx="806172" cy="265033"/>
          </a:xfrm>
          <a:prstGeom prst="rect">
            <a:avLst/>
          </a:prstGeom>
          <a:noFill/>
          <a:ln/>
        </p:spPr>
        <p:txBody>
          <a:bodyPr wrap="squar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User asks "Top 5 restaurants"</a:t>
            </a:r>
            <a:endParaRPr lang="en-US" sz="900" dirty="0"/>
          </a:p>
        </p:txBody>
      </p:sp>
      <p:sp>
        <p:nvSpPr>
          <p:cNvPr id="14" name="Text 12"/>
          <p:cNvSpPr/>
          <p:nvPr/>
        </p:nvSpPr>
        <p:spPr>
          <a:xfrm>
            <a:off x="4349948" y="4250769"/>
            <a:ext cx="802362" cy="132517"/>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user</a:t>
            </a:r>
            <a:endParaRPr lang="en-US" sz="900" dirty="0"/>
          </a:p>
        </p:txBody>
      </p:sp>
      <p:sp>
        <p:nvSpPr>
          <p:cNvPr id="15" name="Text 13"/>
          <p:cNvSpPr/>
          <p:nvPr/>
        </p:nvSpPr>
        <p:spPr>
          <a:xfrm>
            <a:off x="5390436" y="4250769"/>
            <a:ext cx="806172" cy="132517"/>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ANALYST</a:t>
            </a:r>
            <a:endParaRPr lang="en-US" sz="900" dirty="0"/>
          </a:p>
        </p:txBody>
      </p:sp>
      <p:sp>
        <p:nvSpPr>
          <p:cNvPr id="16" name="Text 14"/>
          <p:cNvSpPr/>
          <p:nvPr/>
        </p:nvSpPr>
        <p:spPr>
          <a:xfrm>
            <a:off x="3305651" y="4612481"/>
            <a:ext cx="806172" cy="397550"/>
          </a:xfrm>
          <a:prstGeom prst="rect">
            <a:avLst/>
          </a:prstGeom>
          <a:noFill/>
          <a:ln/>
        </p:spPr>
        <p:txBody>
          <a:bodyPr wrap="squar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Assistant responds with table</a:t>
            </a:r>
            <a:endParaRPr lang="en-US" sz="900" dirty="0"/>
          </a:p>
        </p:txBody>
      </p:sp>
      <p:sp>
        <p:nvSpPr>
          <p:cNvPr id="17" name="Text 15"/>
          <p:cNvSpPr/>
          <p:nvPr/>
        </p:nvSpPr>
        <p:spPr>
          <a:xfrm>
            <a:off x="4349948" y="4612481"/>
            <a:ext cx="802362" cy="132517"/>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assistant</a:t>
            </a:r>
            <a:endParaRPr lang="en-US" sz="900" dirty="0"/>
          </a:p>
        </p:txBody>
      </p:sp>
      <p:sp>
        <p:nvSpPr>
          <p:cNvPr id="18" name="Text 16"/>
          <p:cNvSpPr/>
          <p:nvPr/>
        </p:nvSpPr>
        <p:spPr>
          <a:xfrm>
            <a:off x="5390436" y="4612481"/>
            <a:ext cx="806172" cy="132517"/>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ANALYST</a:t>
            </a:r>
            <a:endParaRPr lang="en-US" sz="900" dirty="0"/>
          </a:p>
        </p:txBody>
      </p:sp>
      <p:sp>
        <p:nvSpPr>
          <p:cNvPr id="19" name="Text 17"/>
          <p:cNvSpPr/>
          <p:nvPr/>
        </p:nvSpPr>
        <p:spPr>
          <a:xfrm>
            <a:off x="3305651" y="5106710"/>
            <a:ext cx="806172" cy="530066"/>
          </a:xfrm>
          <a:prstGeom prst="rect">
            <a:avLst/>
          </a:prstGeom>
          <a:noFill/>
          <a:ln/>
        </p:spPr>
        <p:txBody>
          <a:bodyPr wrap="squar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User asks "Which campaign for them?"</a:t>
            </a:r>
            <a:endParaRPr lang="en-US" sz="900" dirty="0"/>
          </a:p>
        </p:txBody>
      </p:sp>
      <p:sp>
        <p:nvSpPr>
          <p:cNvPr id="20" name="Text 18"/>
          <p:cNvSpPr/>
          <p:nvPr/>
        </p:nvSpPr>
        <p:spPr>
          <a:xfrm>
            <a:off x="4349948" y="5106710"/>
            <a:ext cx="802362" cy="132517"/>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user</a:t>
            </a:r>
            <a:endParaRPr lang="en-US" sz="900" dirty="0"/>
          </a:p>
        </p:txBody>
      </p:sp>
      <p:sp>
        <p:nvSpPr>
          <p:cNvPr id="21" name="Text 19"/>
          <p:cNvSpPr/>
          <p:nvPr/>
        </p:nvSpPr>
        <p:spPr>
          <a:xfrm>
            <a:off x="5390436" y="5106710"/>
            <a:ext cx="806172" cy="132517"/>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PLAYBOOK</a:t>
            </a:r>
            <a:endParaRPr lang="en-US" sz="900" dirty="0"/>
          </a:p>
        </p:txBody>
      </p:sp>
      <p:sp>
        <p:nvSpPr>
          <p:cNvPr id="22" name="Text 20"/>
          <p:cNvSpPr/>
          <p:nvPr/>
        </p:nvSpPr>
        <p:spPr>
          <a:xfrm>
            <a:off x="3305651" y="5733455"/>
            <a:ext cx="806172" cy="397550"/>
          </a:xfrm>
          <a:prstGeom prst="rect">
            <a:avLst/>
          </a:prstGeom>
          <a:noFill/>
          <a:ln/>
        </p:spPr>
        <p:txBody>
          <a:bodyPr wrap="squar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Assistant responds with strategy</a:t>
            </a:r>
            <a:endParaRPr lang="en-US" sz="900" dirty="0"/>
          </a:p>
        </p:txBody>
      </p:sp>
      <p:sp>
        <p:nvSpPr>
          <p:cNvPr id="23" name="Text 21"/>
          <p:cNvSpPr/>
          <p:nvPr/>
        </p:nvSpPr>
        <p:spPr>
          <a:xfrm>
            <a:off x="4349948" y="5733455"/>
            <a:ext cx="802362" cy="132517"/>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assistant</a:t>
            </a:r>
            <a:endParaRPr lang="en-US" sz="900" dirty="0"/>
          </a:p>
        </p:txBody>
      </p:sp>
      <p:sp>
        <p:nvSpPr>
          <p:cNvPr id="24" name="Text 22"/>
          <p:cNvSpPr/>
          <p:nvPr/>
        </p:nvSpPr>
        <p:spPr>
          <a:xfrm>
            <a:off x="5390436" y="5733455"/>
            <a:ext cx="806172" cy="132517"/>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PLAYBOOK</a:t>
            </a:r>
            <a:endParaRPr lang="en-US" sz="900" dirty="0"/>
          </a:p>
        </p:txBody>
      </p:sp>
      <p:sp>
        <p:nvSpPr>
          <p:cNvPr id="25" name="Shape 23"/>
          <p:cNvSpPr/>
          <p:nvPr/>
        </p:nvSpPr>
        <p:spPr>
          <a:xfrm>
            <a:off x="6525697" y="2214920"/>
            <a:ext cx="5012888" cy="4584502"/>
          </a:xfrm>
          <a:prstGeom prst="roundRect">
            <a:avLst>
              <a:gd name="adj" fmla="val 377"/>
            </a:avLst>
          </a:prstGeom>
          <a:solidFill>
            <a:srgbClr val="1D1F22"/>
          </a:solidFill>
          <a:ln/>
        </p:spPr>
      </p:sp>
      <p:sp>
        <p:nvSpPr>
          <p:cNvPr id="26" name="Text 24"/>
          <p:cNvSpPr/>
          <p:nvPr/>
        </p:nvSpPr>
        <p:spPr>
          <a:xfrm>
            <a:off x="6640949" y="2276356"/>
            <a:ext cx="2088832" cy="163711"/>
          </a:xfrm>
          <a:prstGeom prst="rect">
            <a:avLst/>
          </a:prstGeom>
          <a:noFill/>
          <a:ln/>
        </p:spPr>
        <p:txBody>
          <a:bodyPr wrap="none" lIns="0" tIns="0" rIns="0" bIns="0" rtlCol="0" anchor="t"/>
          <a:lstStyle/>
          <a:p>
            <a:pPr marL="0" indent="0" algn="l">
              <a:lnSpc>
                <a:spcPts val="1250"/>
              </a:lnSpc>
              <a:buNone/>
            </a:pPr>
            <a:r>
              <a:rPr lang="en-US" sz="1000" b="1" dirty="0">
                <a:solidFill>
                  <a:srgbClr val="FFFFFF"/>
                </a:solidFill>
                <a:latin typeface="Montserrat Bold" pitchFamily="34" charset="0"/>
                <a:ea typeface="Montserrat Bold" pitchFamily="34" charset="-122"/>
                <a:cs typeface="Montserrat Bold" pitchFamily="34" charset="-120"/>
              </a:rPr>
              <a:t>Persistence code — annotated</a:t>
            </a:r>
            <a:endParaRPr lang="en-US" sz="1000" dirty="0"/>
          </a:p>
        </p:txBody>
      </p:sp>
      <p:sp>
        <p:nvSpPr>
          <p:cNvPr id="27" name="Shape 25"/>
          <p:cNvSpPr/>
          <p:nvPr/>
        </p:nvSpPr>
        <p:spPr>
          <a:xfrm>
            <a:off x="6640949" y="2509242"/>
            <a:ext cx="4782383" cy="3410903"/>
          </a:xfrm>
          <a:prstGeom prst="roundRect">
            <a:avLst>
              <a:gd name="adj" fmla="val 507"/>
            </a:avLst>
          </a:prstGeom>
          <a:solidFill>
            <a:srgbClr val="2A2C2F"/>
          </a:solidFill>
          <a:ln/>
        </p:spPr>
      </p:sp>
      <p:sp>
        <p:nvSpPr>
          <p:cNvPr id="28" name="Shape 26"/>
          <p:cNvSpPr/>
          <p:nvPr/>
        </p:nvSpPr>
        <p:spPr>
          <a:xfrm>
            <a:off x="6635234" y="2509242"/>
            <a:ext cx="4793813" cy="3410903"/>
          </a:xfrm>
          <a:prstGeom prst="roundRect">
            <a:avLst>
              <a:gd name="adj" fmla="val 507"/>
            </a:avLst>
          </a:prstGeom>
          <a:solidFill>
            <a:srgbClr val="2A2C2F"/>
          </a:solidFill>
          <a:ln/>
        </p:spPr>
      </p:sp>
      <p:sp>
        <p:nvSpPr>
          <p:cNvPr id="29" name="Text 27"/>
          <p:cNvSpPr/>
          <p:nvPr/>
        </p:nvSpPr>
        <p:spPr>
          <a:xfrm>
            <a:off x="6779300" y="2624495"/>
            <a:ext cx="4505682" cy="3180398"/>
          </a:xfrm>
          <a:prstGeom prst="rect">
            <a:avLst/>
          </a:prstGeom>
          <a:noFill/>
          <a:ln/>
        </p:spPr>
        <p:txBody>
          <a:bodyPr wrap="square" lIns="0" tIns="0" rIns="0" bIns="0" rtlCol="0" anchor="t"/>
          <a:lstStyle/>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def _persist_user_turn(session, session_id,</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message, intent):</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try:  # wrapped in try/except — NON-FATAL</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row = session.sql(</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"SELECT COALESCE(MAX(turn_number)"</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",0)+1 AS n "  # next turn number</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"FROM SWIGGY_CONVERSATION_HISTORY"</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 WHERE session_id=?",</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params=[session_id]</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).collect()[0]</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turn = int(row["N"])</a:t>
            </a:r>
            <a:endParaRPr lang="en-US" sz="900" dirty="0"/>
          </a:p>
          <a:p>
            <a:pPr marL="0" indent="0" algn="l">
              <a:lnSpc>
                <a:spcPts val="1000"/>
              </a:lnSpc>
              <a:buNone/>
            </a:pP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session.sql(</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"""INSERT INTO</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SWIGGY_CONVERSATION_HISTORY</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(session_id, turn_number, role,</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message, intent, created_at)</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SELECT ?,?,'user',?,?,</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CURRENT_TIMESTAMP()""",</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params=[session_id, turn,</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message, intent]</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).collect()</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except Exception:</a:t>
            </a:r>
            <a:endParaRPr lang="en-US" sz="900" dirty="0"/>
          </a:p>
          <a:p>
            <a:pPr marL="0" indent="0" algn="l">
              <a:lnSpc>
                <a:spcPts val="100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pass  # NON-FATAL: conversation continues</a:t>
            </a:r>
            <a:endParaRPr lang="en-US" sz="900" dirty="0"/>
          </a:p>
        </p:txBody>
      </p:sp>
      <p:sp>
        <p:nvSpPr>
          <p:cNvPr id="30" name="Shape 28"/>
          <p:cNvSpPr/>
          <p:nvPr/>
        </p:nvSpPr>
        <p:spPr>
          <a:xfrm>
            <a:off x="6640949" y="5989320"/>
            <a:ext cx="4782383" cy="740926"/>
          </a:xfrm>
          <a:prstGeom prst="roundRect">
            <a:avLst>
              <a:gd name="adj" fmla="val 2334"/>
            </a:avLst>
          </a:prstGeom>
          <a:solidFill>
            <a:srgbClr val="262626"/>
          </a:solidFill>
          <a:ln/>
        </p:spPr>
      </p:sp>
      <p:pic>
        <p:nvPicPr>
          <p:cNvPr id="31" name="Image 0" descr="preencoded.png"/>
          <p:cNvPicPr>
            <a:picLocks noChangeAspect="1"/>
          </p:cNvPicPr>
          <p:nvPr/>
        </p:nvPicPr>
        <p:blipFill>
          <a:blip r:embed="rId3"/>
          <a:stretch>
            <a:fillRect/>
          </a:stretch>
        </p:blipFill>
        <p:spPr>
          <a:xfrm>
            <a:off x="6756202" y="6133386"/>
            <a:ext cx="144066" cy="115253"/>
          </a:xfrm>
          <a:prstGeom prst="rect">
            <a:avLst/>
          </a:prstGeom>
        </p:spPr>
      </p:pic>
      <p:sp>
        <p:nvSpPr>
          <p:cNvPr id="32" name="Text 29"/>
          <p:cNvSpPr/>
          <p:nvPr/>
        </p:nvSpPr>
        <p:spPr>
          <a:xfrm>
            <a:off x="7015520" y="6079569"/>
            <a:ext cx="4292560" cy="537686"/>
          </a:xfrm>
          <a:prstGeom prst="rect">
            <a:avLst/>
          </a:prstGeom>
          <a:noFill/>
          <a:ln/>
        </p:spPr>
        <p:txBody>
          <a:bodyPr wrap="square" lIns="0" tIns="0" rIns="0" bIns="0" rtlCol="0" anchor="t"/>
          <a:lstStyle/>
          <a:p>
            <a:pPr marL="0" indent="0" algn="l">
              <a:lnSpc>
                <a:spcPts val="1000"/>
              </a:lnSpc>
              <a:buNone/>
            </a:pPr>
            <a:r>
              <a:rPr lang="en-US" sz="900" b="1" dirty="0">
                <a:solidFill>
                  <a:srgbClr val="FFFFFF"/>
                </a:solidFill>
                <a:latin typeface="Source Sans 3" pitchFamily="34" charset="0"/>
                <a:ea typeface="Source Sans 3" pitchFamily="34" charset="-122"/>
                <a:cs typeface="Source Sans 3" pitchFamily="34" charset="-120"/>
              </a:rPr>
              <a:t>WHY NON-FATAL?</a:t>
            </a:r>
            <a:r>
              <a:rPr lang="en-US" sz="900" dirty="0">
                <a:solidFill>
                  <a:srgbClr val="FFFFFF"/>
                </a:solidFill>
                <a:latin typeface="Source Sans 3" pitchFamily="34" charset="0"/>
                <a:ea typeface="Source Sans 3" pitchFamily="34" charset="-122"/>
                <a:cs typeface="Source Sans 3" pitchFamily="34" charset="-120"/>
              </a:rPr>
              <a:t> The primary business value is the AI answer, not the audit log. If the database write fails (network glitch, lock timeout), the user should still receive their response. </a:t>
            </a:r>
            <a:r>
              <a:rPr lang="en-US" sz="900" dirty="0">
                <a:solidFill>
                  <a:srgbClr val="FFFFFF"/>
                </a:solidFill>
                <a:highlight>
                  <a:srgbClr val="2A2C2F"/>
                </a:highlight>
                <a:latin typeface="Consolas" pitchFamily="34" charset="0"/>
                <a:ea typeface="Consolas" pitchFamily="34" charset="-122"/>
                <a:cs typeface="Consolas" pitchFamily="34" charset="-120"/>
              </a:rPr>
              <a:t>try/except pass</a:t>
            </a:r>
            <a:r>
              <a:rPr lang="en-US" sz="900" dirty="0">
                <a:solidFill>
                  <a:srgbClr val="FFFFFF"/>
                </a:solidFill>
                <a:latin typeface="Source Sans 3" pitchFamily="34" charset="0"/>
                <a:ea typeface="Source Sans 3" pitchFamily="34" charset="-122"/>
                <a:cs typeface="Source Sans 3" pitchFamily="34" charset="-120"/>
              </a:rPr>
              <a:t> = graceful degradation. </a:t>
            </a:r>
            <a:r>
              <a:rPr lang="en-US" sz="900" dirty="0">
                <a:solidFill>
                  <a:srgbClr val="FFFFFF"/>
                </a:solidFill>
                <a:highlight>
                  <a:srgbClr val="2A2C2F"/>
                </a:highlight>
                <a:latin typeface="Consolas" pitchFamily="34" charset="0"/>
                <a:ea typeface="Consolas" pitchFamily="34" charset="-122"/>
                <a:cs typeface="Consolas" pitchFamily="34" charset="-120"/>
              </a:rPr>
              <a:t>COALESCE(MAX(...),0)+1</a:t>
            </a:r>
            <a:r>
              <a:rPr lang="en-US" sz="900" dirty="0">
                <a:solidFill>
                  <a:srgbClr val="FFFFFF"/>
                </a:solidFill>
                <a:latin typeface="Source Sans 3" pitchFamily="34" charset="0"/>
                <a:ea typeface="Source Sans 3" pitchFamily="34" charset="-122"/>
                <a:cs typeface="Source Sans 3" pitchFamily="34" charset="-120"/>
              </a:rPr>
              <a:t> handles first-message-of-session safely without AUTOINCREMENT.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2359104" y="1117640"/>
            <a:ext cx="1654612" cy="218837"/>
          </a:xfrm>
          <a:prstGeom prst="roundRect">
            <a:avLst>
              <a:gd name="adj" fmla="val 7582"/>
            </a:avLst>
          </a:prstGeom>
          <a:solidFill>
            <a:srgbClr val="262626"/>
          </a:solidFill>
          <a:ln/>
        </p:spPr>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41972" y="1171694"/>
            <a:ext cx="110609" cy="110609"/>
          </a:xfrm>
          <a:prstGeom prst="rect">
            <a:avLst/>
          </a:prstGeom>
        </p:spPr>
      </p:pic>
      <p:sp>
        <p:nvSpPr>
          <p:cNvPr id="4" name="Text 1"/>
          <p:cNvSpPr/>
          <p:nvPr/>
        </p:nvSpPr>
        <p:spPr>
          <a:xfrm>
            <a:off x="2607826" y="1159073"/>
            <a:ext cx="1323023" cy="135969"/>
          </a:xfrm>
          <a:prstGeom prst="rect">
            <a:avLst/>
          </a:prstGeom>
          <a:noFill/>
          <a:ln/>
        </p:spPr>
        <p:txBody>
          <a:bodyPr wrap="none" lIns="0" tIns="0" rIns="0" bIns="0" rtlCol="0" anchor="t"/>
          <a:lstStyle/>
          <a:p>
            <a:pPr marL="0" indent="0" algn="l">
              <a:lnSpc>
                <a:spcPts val="1050"/>
              </a:lnSpc>
              <a:buNone/>
            </a:pPr>
            <a:r>
              <a:rPr lang="en-US" sz="850" dirty="0">
                <a:solidFill>
                  <a:srgbClr val="E2E6E9"/>
                </a:solidFill>
                <a:latin typeface="Source Sans 3" pitchFamily="34" charset="0"/>
                <a:ea typeface="Source Sans 3" pitchFamily="34" charset="-122"/>
                <a:cs typeface="Source Sans 3" pitchFamily="34" charset="-120"/>
              </a:rPr>
              <a:t>STEP 06 — SP_SQL_ANALYST</a:t>
            </a:r>
            <a:endParaRPr lang="en-US" sz="850" dirty="0"/>
          </a:p>
        </p:txBody>
      </p:sp>
      <p:sp>
        <p:nvSpPr>
          <p:cNvPr id="5" name="Text 2"/>
          <p:cNvSpPr/>
          <p:nvPr/>
        </p:nvSpPr>
        <p:spPr>
          <a:xfrm>
            <a:off x="2359104" y="1371838"/>
            <a:ext cx="9912072" cy="785336"/>
          </a:xfrm>
          <a:prstGeom prst="rect">
            <a:avLst/>
          </a:prstGeom>
          <a:noFill/>
          <a:ln/>
        </p:spPr>
        <p:txBody>
          <a:bodyPr wrap="square" lIns="0" tIns="0" rIns="0" bIns="0" rtlCol="0" anchor="t"/>
          <a:lstStyle/>
          <a:p>
            <a:pPr marL="0" indent="0" algn="l">
              <a:lnSpc>
                <a:spcPts val="3050"/>
              </a:lnSpc>
              <a:buNone/>
            </a:pPr>
            <a:r>
              <a:rPr lang="en-US" sz="2450" b="1" dirty="0">
                <a:solidFill>
                  <a:srgbClr val="FFFFFF"/>
                </a:solidFill>
                <a:latin typeface="Montserrat Bold" pitchFamily="34" charset="0"/>
                <a:ea typeface="Montserrat Bold" pitchFamily="34" charset="-122"/>
                <a:cs typeface="Montserrat Bold" pitchFamily="34" charset="-120"/>
              </a:rPr>
              <a:t>SP_SQL_ANALYST — From English Question to Table + Insight</a:t>
            </a:r>
            <a:endParaRPr lang="en-US" sz="2450" dirty="0"/>
          </a:p>
        </p:txBody>
      </p:sp>
      <p:sp>
        <p:nvSpPr>
          <p:cNvPr id="6" name="Shape 3"/>
          <p:cNvSpPr/>
          <p:nvPr/>
        </p:nvSpPr>
        <p:spPr>
          <a:xfrm>
            <a:off x="2359104" y="2289929"/>
            <a:ext cx="9912072" cy="441722"/>
          </a:xfrm>
          <a:prstGeom prst="roundRect">
            <a:avLst>
              <a:gd name="adj" fmla="val 4695"/>
            </a:avLst>
          </a:prstGeom>
          <a:solidFill>
            <a:srgbClr val="262626"/>
          </a:solidFill>
          <a:ln/>
        </p:spPr>
      </p:sp>
      <p:pic>
        <p:nvPicPr>
          <p:cNvPr id="7" name="Image 1" descr="preencoded.png"/>
          <p:cNvPicPr>
            <a:picLocks noChangeAspect="1"/>
          </p:cNvPicPr>
          <p:nvPr/>
        </p:nvPicPr>
        <p:blipFill>
          <a:blip r:embed="rId4"/>
          <a:stretch>
            <a:fillRect/>
          </a:stretch>
        </p:blipFill>
        <p:spPr>
          <a:xfrm>
            <a:off x="2497336" y="2471261"/>
            <a:ext cx="172760" cy="138232"/>
          </a:xfrm>
          <a:prstGeom prst="rect">
            <a:avLst/>
          </a:prstGeom>
        </p:spPr>
      </p:pic>
      <p:sp>
        <p:nvSpPr>
          <p:cNvPr id="8" name="Text 4"/>
          <p:cNvSpPr/>
          <p:nvPr/>
        </p:nvSpPr>
        <p:spPr>
          <a:xfrm>
            <a:off x="2808327" y="2412921"/>
            <a:ext cx="9324618" cy="170021"/>
          </a:xfrm>
          <a:prstGeom prst="rect">
            <a:avLst/>
          </a:prstGeom>
          <a:noFill/>
          <a:ln/>
        </p:spPr>
        <p:txBody>
          <a:bodyPr wrap="none" lIns="0" tIns="0" rIns="0" bIns="0" rtlCol="0" anchor="t"/>
          <a:lstStyle/>
          <a:p>
            <a:pPr marL="0" indent="0" algn="l">
              <a:lnSpc>
                <a:spcPts val="1300"/>
              </a:lnSpc>
              <a:buNone/>
            </a:pPr>
            <a:r>
              <a:rPr lang="en-US" sz="1050" dirty="0">
                <a:solidFill>
                  <a:srgbClr val="FFFFFF"/>
                </a:solidFill>
                <a:latin typeface="Source Sans 3" pitchFamily="34" charset="0"/>
                <a:ea typeface="Source Sans 3" pitchFamily="34" charset="-122"/>
                <a:cs typeface="Source Sans 3" pitchFamily="34" charset="-120"/>
              </a:rPr>
              <a:t>SP_SQL_ANALYST handles ANALYST-intent questions only. It is called by SP_GATEWAY — never directly by Streamlit.</a:t>
            </a:r>
            <a:endParaRPr lang="en-US" sz="1050" dirty="0"/>
          </a:p>
        </p:txBody>
      </p:sp>
      <p:sp>
        <p:nvSpPr>
          <p:cNvPr id="9" name="Text 5"/>
          <p:cNvSpPr/>
          <p:nvPr/>
        </p:nvSpPr>
        <p:spPr>
          <a:xfrm>
            <a:off x="2359104" y="2831187"/>
            <a:ext cx="138232" cy="172760"/>
          </a:xfrm>
          <a:prstGeom prst="rect">
            <a:avLst/>
          </a:prstGeom>
          <a:noFill/>
          <a:ln/>
        </p:spPr>
        <p:txBody>
          <a:bodyPr wrap="none" lIns="0" tIns="0" rIns="0" bIns="0" rtlCol="0" anchor="t"/>
          <a:lstStyle/>
          <a:p>
            <a:pPr marL="0" indent="0" algn="l">
              <a:lnSpc>
                <a:spcPts val="1300"/>
              </a:lnSpc>
              <a:buNone/>
            </a:pPr>
            <a:r>
              <a:rPr lang="en-US" sz="1050" dirty="0">
                <a:solidFill>
                  <a:srgbClr val="E2E6E9"/>
                </a:solidFill>
                <a:latin typeface="Montserrat Light" pitchFamily="34" charset="0"/>
                <a:ea typeface="Montserrat Light" pitchFamily="34" charset="-122"/>
                <a:cs typeface="Montserrat Light" pitchFamily="34" charset="-120"/>
              </a:rPr>
              <a:t>01</a:t>
            </a:r>
            <a:endParaRPr lang="en-US" sz="1050" dirty="0"/>
          </a:p>
        </p:txBody>
      </p:sp>
      <p:sp>
        <p:nvSpPr>
          <p:cNvPr id="10" name="Shape 6"/>
          <p:cNvSpPr/>
          <p:nvPr/>
        </p:nvSpPr>
        <p:spPr>
          <a:xfrm>
            <a:off x="2359104" y="3050858"/>
            <a:ext cx="4911804" cy="15240"/>
          </a:xfrm>
          <a:prstGeom prst="rect">
            <a:avLst/>
          </a:prstGeom>
          <a:solidFill>
            <a:srgbClr val="FFFFFF"/>
          </a:solidFill>
          <a:ln/>
        </p:spPr>
      </p:sp>
      <p:sp>
        <p:nvSpPr>
          <p:cNvPr id="11" name="Text 7"/>
          <p:cNvSpPr/>
          <p:nvPr/>
        </p:nvSpPr>
        <p:spPr>
          <a:xfrm>
            <a:off x="2359104" y="3150394"/>
            <a:ext cx="1754029" cy="196453"/>
          </a:xfrm>
          <a:prstGeom prst="rect">
            <a:avLst/>
          </a:prstGeom>
          <a:noFill/>
          <a:ln/>
        </p:spPr>
        <p:txBody>
          <a:bodyPr wrap="none" lIns="0" tIns="0" rIns="0" bIns="0" rtlCol="0" anchor="t"/>
          <a:lstStyle/>
          <a:p>
            <a:pPr marL="0" indent="0" algn="l">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Build History Context</a:t>
            </a:r>
            <a:endParaRPr lang="en-US" sz="1200" dirty="0"/>
          </a:p>
        </p:txBody>
      </p:sp>
      <p:sp>
        <p:nvSpPr>
          <p:cNvPr id="12" name="Text 8"/>
          <p:cNvSpPr/>
          <p:nvPr/>
        </p:nvSpPr>
        <p:spPr>
          <a:xfrm>
            <a:off x="2359104" y="3399949"/>
            <a:ext cx="4911804" cy="340043"/>
          </a:xfrm>
          <a:prstGeom prst="rect">
            <a:avLst/>
          </a:prstGeom>
          <a:noFill/>
          <a:ln/>
        </p:spPr>
        <p:txBody>
          <a:bodyPr wrap="square" lIns="0" tIns="0" rIns="0" bIns="0" rtlCol="0" anchor="t"/>
          <a:lstStyle/>
          <a:p>
            <a:pPr marL="0" indent="0" algn="l">
              <a:lnSpc>
                <a:spcPts val="1300"/>
              </a:lnSpc>
              <a:buNone/>
            </a:pPr>
            <a:r>
              <a:rPr lang="en-US" sz="1050" dirty="0">
                <a:solidFill>
                  <a:srgbClr val="E2E6E9"/>
                </a:solidFill>
                <a:latin typeface="Source Sans 3" pitchFamily="34" charset="0"/>
                <a:ea typeface="Source Sans 3" pitchFamily="34" charset="-122"/>
                <a:cs typeface="Source Sans 3" pitchFamily="34" charset="-120"/>
              </a:rPr>
              <a:t>Extract last 3 ANALYST turns (user questions + SQL + result summaries). Enables "now break that down by month" to resolve correctly.</a:t>
            </a:r>
            <a:endParaRPr lang="en-US" sz="1050" dirty="0"/>
          </a:p>
        </p:txBody>
      </p:sp>
      <p:sp>
        <p:nvSpPr>
          <p:cNvPr id="13" name="Text 9"/>
          <p:cNvSpPr/>
          <p:nvPr/>
        </p:nvSpPr>
        <p:spPr>
          <a:xfrm>
            <a:off x="7359372" y="2831187"/>
            <a:ext cx="138232" cy="172760"/>
          </a:xfrm>
          <a:prstGeom prst="rect">
            <a:avLst/>
          </a:prstGeom>
          <a:noFill/>
          <a:ln/>
        </p:spPr>
        <p:txBody>
          <a:bodyPr wrap="none" lIns="0" tIns="0" rIns="0" bIns="0" rtlCol="0" anchor="t"/>
          <a:lstStyle/>
          <a:p>
            <a:pPr marL="0" indent="0" algn="l">
              <a:lnSpc>
                <a:spcPts val="1300"/>
              </a:lnSpc>
              <a:buNone/>
            </a:pPr>
            <a:r>
              <a:rPr lang="en-US" sz="1050" dirty="0">
                <a:solidFill>
                  <a:srgbClr val="E2E6E9"/>
                </a:solidFill>
                <a:latin typeface="Montserrat Light" pitchFamily="34" charset="0"/>
                <a:ea typeface="Montserrat Light" pitchFamily="34" charset="-122"/>
                <a:cs typeface="Montserrat Light" pitchFamily="34" charset="-120"/>
              </a:rPr>
              <a:t>02</a:t>
            </a:r>
            <a:endParaRPr lang="en-US" sz="1050" dirty="0"/>
          </a:p>
        </p:txBody>
      </p:sp>
      <p:sp>
        <p:nvSpPr>
          <p:cNvPr id="14" name="Shape 10"/>
          <p:cNvSpPr/>
          <p:nvPr/>
        </p:nvSpPr>
        <p:spPr>
          <a:xfrm>
            <a:off x="7359372" y="3050858"/>
            <a:ext cx="4911804" cy="15240"/>
          </a:xfrm>
          <a:prstGeom prst="rect">
            <a:avLst/>
          </a:prstGeom>
          <a:solidFill>
            <a:srgbClr val="FFFFFF"/>
          </a:solidFill>
          <a:ln/>
        </p:spPr>
      </p:sp>
      <p:sp>
        <p:nvSpPr>
          <p:cNvPr id="15" name="Text 11"/>
          <p:cNvSpPr/>
          <p:nvPr/>
        </p:nvSpPr>
        <p:spPr>
          <a:xfrm>
            <a:off x="7359372" y="3150394"/>
            <a:ext cx="2426494" cy="196453"/>
          </a:xfrm>
          <a:prstGeom prst="rect">
            <a:avLst/>
          </a:prstGeom>
          <a:noFill/>
          <a:ln/>
        </p:spPr>
        <p:txBody>
          <a:bodyPr wrap="none" lIns="0" tIns="0" rIns="0" bIns="0" rtlCol="0" anchor="t"/>
          <a:lstStyle/>
          <a:p>
            <a:pPr marL="0" indent="0" algn="l">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Build SQL Prompt (Attempt 1)</a:t>
            </a:r>
            <a:endParaRPr lang="en-US" sz="1200" dirty="0"/>
          </a:p>
        </p:txBody>
      </p:sp>
      <p:sp>
        <p:nvSpPr>
          <p:cNvPr id="16" name="Text 12"/>
          <p:cNvSpPr/>
          <p:nvPr/>
        </p:nvSpPr>
        <p:spPr>
          <a:xfrm>
            <a:off x="7359372" y="3399949"/>
            <a:ext cx="4911804" cy="340043"/>
          </a:xfrm>
          <a:prstGeom prst="rect">
            <a:avLst/>
          </a:prstGeom>
          <a:noFill/>
          <a:ln/>
        </p:spPr>
        <p:txBody>
          <a:bodyPr wrap="square" lIns="0" tIns="0" rIns="0" bIns="0" rtlCol="0" anchor="t"/>
          <a:lstStyle/>
          <a:p>
            <a:pPr marL="0" indent="0" algn="l">
              <a:lnSpc>
                <a:spcPts val="1300"/>
              </a:lnSpc>
              <a:buNone/>
            </a:pPr>
            <a:r>
              <a:rPr lang="en-US" sz="1050" dirty="0">
                <a:solidFill>
                  <a:srgbClr val="E2E6E9"/>
                </a:solidFill>
                <a:latin typeface="Source Sans 3" pitchFamily="34" charset="0"/>
                <a:ea typeface="Source Sans 3" pitchFamily="34" charset="-122"/>
                <a:cs typeface="Source Sans 3" pitchFamily="34" charset="-120"/>
              </a:rPr>
              <a:t>Full prompt: role + schema + history context + question + 7 rules. Model: </a:t>
            </a:r>
            <a:r>
              <a:rPr lang="en-US" sz="1050" b="1" dirty="0">
                <a:solidFill>
                  <a:srgbClr val="E2E6E9"/>
                </a:solidFill>
                <a:latin typeface="Source Sans 3" pitchFamily="34" charset="0"/>
                <a:ea typeface="Source Sans 3" pitchFamily="34" charset="-122"/>
                <a:cs typeface="Source Sans 3" pitchFamily="34" charset="-120"/>
              </a:rPr>
              <a:t>llama3.1-70b</a:t>
            </a:r>
            <a:r>
              <a:rPr lang="en-US" sz="1050" dirty="0">
                <a:solidFill>
                  <a:srgbClr val="E2E6E9"/>
                </a:solidFill>
                <a:latin typeface="Source Sans 3" pitchFamily="34" charset="0"/>
                <a:ea typeface="Source Sans 3" pitchFamily="34" charset="-122"/>
                <a:cs typeface="Source Sans 3" pitchFamily="34" charset="-120"/>
              </a:rPr>
              <a:t> — the smarter, larger model for complex SQL generation.</a:t>
            </a:r>
            <a:endParaRPr lang="en-US" sz="1050" dirty="0"/>
          </a:p>
        </p:txBody>
      </p:sp>
      <p:sp>
        <p:nvSpPr>
          <p:cNvPr id="17" name="Text 13"/>
          <p:cNvSpPr/>
          <p:nvPr/>
        </p:nvSpPr>
        <p:spPr>
          <a:xfrm>
            <a:off x="2359104" y="3932039"/>
            <a:ext cx="138232" cy="172760"/>
          </a:xfrm>
          <a:prstGeom prst="rect">
            <a:avLst/>
          </a:prstGeom>
          <a:noFill/>
          <a:ln/>
        </p:spPr>
        <p:txBody>
          <a:bodyPr wrap="none" lIns="0" tIns="0" rIns="0" bIns="0" rtlCol="0" anchor="t"/>
          <a:lstStyle/>
          <a:p>
            <a:pPr marL="0" indent="0" algn="l">
              <a:lnSpc>
                <a:spcPts val="1300"/>
              </a:lnSpc>
              <a:buNone/>
            </a:pPr>
            <a:r>
              <a:rPr lang="en-US" sz="1050" dirty="0">
                <a:solidFill>
                  <a:srgbClr val="E2E6E9"/>
                </a:solidFill>
                <a:latin typeface="Montserrat Light" pitchFamily="34" charset="0"/>
                <a:ea typeface="Montserrat Light" pitchFamily="34" charset="-122"/>
                <a:cs typeface="Montserrat Light" pitchFamily="34" charset="-120"/>
              </a:rPr>
              <a:t>03</a:t>
            </a:r>
            <a:endParaRPr lang="en-US" sz="1050" dirty="0"/>
          </a:p>
        </p:txBody>
      </p:sp>
      <p:sp>
        <p:nvSpPr>
          <p:cNvPr id="18" name="Shape 14"/>
          <p:cNvSpPr/>
          <p:nvPr/>
        </p:nvSpPr>
        <p:spPr>
          <a:xfrm>
            <a:off x="2359104" y="4151709"/>
            <a:ext cx="4911804" cy="15240"/>
          </a:xfrm>
          <a:prstGeom prst="rect">
            <a:avLst/>
          </a:prstGeom>
          <a:solidFill>
            <a:srgbClr val="FFFFFF"/>
          </a:solidFill>
          <a:ln/>
        </p:spPr>
      </p:sp>
      <p:sp>
        <p:nvSpPr>
          <p:cNvPr id="19" name="Text 15"/>
          <p:cNvSpPr/>
          <p:nvPr/>
        </p:nvSpPr>
        <p:spPr>
          <a:xfrm>
            <a:off x="2359104" y="4251246"/>
            <a:ext cx="1833086" cy="196453"/>
          </a:xfrm>
          <a:prstGeom prst="rect">
            <a:avLst/>
          </a:prstGeom>
          <a:noFill/>
          <a:ln/>
        </p:spPr>
        <p:txBody>
          <a:bodyPr wrap="none" lIns="0" tIns="0" rIns="0" bIns="0" rtlCol="0" anchor="t"/>
          <a:lstStyle/>
          <a:p>
            <a:pPr marL="0" indent="0" algn="l">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Extract &amp; Validate SQL</a:t>
            </a:r>
            <a:endParaRPr lang="en-US" sz="1200" dirty="0"/>
          </a:p>
        </p:txBody>
      </p:sp>
      <p:sp>
        <p:nvSpPr>
          <p:cNvPr id="20" name="Text 16"/>
          <p:cNvSpPr/>
          <p:nvPr/>
        </p:nvSpPr>
        <p:spPr>
          <a:xfrm>
            <a:off x="2359104" y="4500801"/>
            <a:ext cx="4911804" cy="510064"/>
          </a:xfrm>
          <a:prstGeom prst="rect">
            <a:avLst/>
          </a:prstGeom>
          <a:noFill/>
          <a:ln/>
        </p:spPr>
        <p:txBody>
          <a:bodyPr wrap="square" lIns="0" tIns="0" rIns="0" bIns="0" rtlCol="0" anchor="t"/>
          <a:lstStyle/>
          <a:p>
            <a:pPr marL="0" indent="0" algn="l">
              <a:lnSpc>
                <a:spcPts val="1300"/>
              </a:lnSpc>
              <a:buNone/>
            </a:pPr>
            <a:r>
              <a:rPr lang="en-US" sz="1050" dirty="0">
                <a:solidFill>
                  <a:srgbClr val="E2E6E9"/>
                </a:solidFill>
                <a:latin typeface="Source Sans 3" pitchFamily="34" charset="0"/>
                <a:ea typeface="Source Sans 3" pitchFamily="34" charset="-122"/>
                <a:cs typeface="Source Sans 3" pitchFamily="34" charset="-120"/>
              </a:rPr>
              <a:t>Strip markdown fences, find first SELECT, remove anything after semicolon. Validate: must contain SELECT, must NOT contain DROP/DELETE/UPDATE/INSERT/MERGE/TRUNCATE.</a:t>
            </a:r>
            <a:endParaRPr lang="en-US" sz="1050" dirty="0"/>
          </a:p>
        </p:txBody>
      </p:sp>
      <p:sp>
        <p:nvSpPr>
          <p:cNvPr id="21" name="Text 17"/>
          <p:cNvSpPr/>
          <p:nvPr/>
        </p:nvSpPr>
        <p:spPr>
          <a:xfrm>
            <a:off x="7359372" y="3932039"/>
            <a:ext cx="138232" cy="172760"/>
          </a:xfrm>
          <a:prstGeom prst="rect">
            <a:avLst/>
          </a:prstGeom>
          <a:noFill/>
          <a:ln/>
        </p:spPr>
        <p:txBody>
          <a:bodyPr wrap="none" lIns="0" tIns="0" rIns="0" bIns="0" rtlCol="0" anchor="t"/>
          <a:lstStyle/>
          <a:p>
            <a:pPr marL="0" indent="0" algn="l">
              <a:lnSpc>
                <a:spcPts val="1300"/>
              </a:lnSpc>
              <a:buNone/>
            </a:pPr>
            <a:r>
              <a:rPr lang="en-US" sz="1050" dirty="0">
                <a:solidFill>
                  <a:srgbClr val="E2E6E9"/>
                </a:solidFill>
                <a:latin typeface="Montserrat Light" pitchFamily="34" charset="0"/>
                <a:ea typeface="Montserrat Light" pitchFamily="34" charset="-122"/>
                <a:cs typeface="Montserrat Light" pitchFamily="34" charset="-120"/>
              </a:rPr>
              <a:t>04</a:t>
            </a:r>
            <a:endParaRPr lang="en-US" sz="1050" dirty="0"/>
          </a:p>
        </p:txBody>
      </p:sp>
      <p:sp>
        <p:nvSpPr>
          <p:cNvPr id="22" name="Shape 18"/>
          <p:cNvSpPr/>
          <p:nvPr/>
        </p:nvSpPr>
        <p:spPr>
          <a:xfrm>
            <a:off x="7359372" y="4151709"/>
            <a:ext cx="4911804" cy="15240"/>
          </a:xfrm>
          <a:prstGeom prst="rect">
            <a:avLst/>
          </a:prstGeom>
          <a:solidFill>
            <a:srgbClr val="FFFFFF"/>
          </a:solidFill>
          <a:ln/>
        </p:spPr>
      </p:sp>
      <p:sp>
        <p:nvSpPr>
          <p:cNvPr id="23" name="Text 19"/>
          <p:cNvSpPr/>
          <p:nvPr/>
        </p:nvSpPr>
        <p:spPr>
          <a:xfrm>
            <a:off x="7359372" y="4251246"/>
            <a:ext cx="1571149" cy="196453"/>
          </a:xfrm>
          <a:prstGeom prst="rect">
            <a:avLst/>
          </a:prstGeom>
          <a:noFill/>
          <a:ln/>
        </p:spPr>
        <p:txBody>
          <a:bodyPr wrap="none" lIns="0" tIns="0" rIns="0" bIns="0" rtlCol="0" anchor="t"/>
          <a:lstStyle/>
          <a:p>
            <a:pPr marL="0" indent="0" algn="l">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Execute SQL</a:t>
            </a:r>
            <a:endParaRPr lang="en-US" sz="1200" dirty="0"/>
          </a:p>
        </p:txBody>
      </p:sp>
      <p:sp>
        <p:nvSpPr>
          <p:cNvPr id="24" name="Text 20"/>
          <p:cNvSpPr/>
          <p:nvPr/>
        </p:nvSpPr>
        <p:spPr>
          <a:xfrm>
            <a:off x="7359372" y="4500801"/>
            <a:ext cx="4911804" cy="355283"/>
          </a:xfrm>
          <a:prstGeom prst="rect">
            <a:avLst/>
          </a:prstGeom>
          <a:noFill/>
          <a:ln/>
        </p:spPr>
        <p:txBody>
          <a:bodyPr wrap="square" lIns="0" tIns="0" rIns="0" bIns="0" rtlCol="0" anchor="t"/>
          <a:lstStyle/>
          <a:p>
            <a:pPr marL="0" indent="0" algn="l">
              <a:lnSpc>
                <a:spcPts val="1300"/>
              </a:lnSpc>
              <a:buNone/>
            </a:pPr>
            <a:r>
              <a:rPr lang="en-US" sz="1050" dirty="0">
                <a:solidFill>
                  <a:srgbClr val="E2E6E9"/>
                </a:solidFill>
                <a:highlight>
                  <a:srgbClr val="1E1F20"/>
                </a:highlight>
                <a:latin typeface="Consolas" pitchFamily="34" charset="0"/>
                <a:ea typeface="Consolas" pitchFamily="34" charset="-122"/>
                <a:cs typeface="Consolas" pitchFamily="34" charset="-120"/>
              </a:rPr>
              <a:t>session.sql(clean_sql).collect()</a:t>
            </a:r>
            <a:r>
              <a:rPr lang="en-US" sz="1050" dirty="0">
                <a:solidFill>
                  <a:srgbClr val="E2E6E9"/>
                </a:solidFill>
                <a:latin typeface="Source Sans 3" pitchFamily="34" charset="0"/>
                <a:ea typeface="Source Sans 3" pitchFamily="34" charset="-122"/>
                <a:cs typeface="Source Sans 3" pitchFamily="34" charset="-120"/>
              </a:rPr>
              <a:t> — runs against live SWIGGY_MASTER.DEV tables. Returns up to 500 rows. </a:t>
            </a:r>
            <a:r>
              <a:rPr lang="en-US" sz="1050" dirty="0">
                <a:solidFill>
                  <a:srgbClr val="E2E6E9"/>
                </a:solidFill>
                <a:highlight>
                  <a:srgbClr val="1E1F20"/>
                </a:highlight>
                <a:latin typeface="Consolas" pitchFamily="34" charset="0"/>
                <a:ea typeface="Consolas" pitchFamily="34" charset="-122"/>
                <a:cs typeface="Consolas" pitchFamily="34" charset="-120"/>
              </a:rPr>
              <a:t>_rows_to_list()</a:t>
            </a:r>
            <a:r>
              <a:rPr lang="en-US" sz="1050" dirty="0">
                <a:solidFill>
                  <a:srgbClr val="E2E6E9"/>
                </a:solidFill>
                <a:latin typeface="Source Sans 3" pitchFamily="34" charset="0"/>
                <a:ea typeface="Source Sans 3" pitchFamily="34" charset="-122"/>
                <a:cs typeface="Source Sans 3" pitchFamily="34" charset="-120"/>
              </a:rPr>
              <a:t> serialises Decimal and datetime edge cases.</a:t>
            </a:r>
            <a:endParaRPr lang="en-US" sz="1050" dirty="0"/>
          </a:p>
        </p:txBody>
      </p:sp>
      <p:sp>
        <p:nvSpPr>
          <p:cNvPr id="25" name="Text 21"/>
          <p:cNvSpPr/>
          <p:nvPr/>
        </p:nvSpPr>
        <p:spPr>
          <a:xfrm>
            <a:off x="2359104" y="5202912"/>
            <a:ext cx="138232" cy="172760"/>
          </a:xfrm>
          <a:prstGeom prst="rect">
            <a:avLst/>
          </a:prstGeom>
          <a:noFill/>
          <a:ln/>
        </p:spPr>
        <p:txBody>
          <a:bodyPr wrap="none" lIns="0" tIns="0" rIns="0" bIns="0" rtlCol="0" anchor="t"/>
          <a:lstStyle/>
          <a:p>
            <a:pPr marL="0" indent="0" algn="l">
              <a:lnSpc>
                <a:spcPts val="1300"/>
              </a:lnSpc>
              <a:buNone/>
            </a:pPr>
            <a:r>
              <a:rPr lang="en-US" sz="1050" dirty="0">
                <a:solidFill>
                  <a:srgbClr val="E2E6E9"/>
                </a:solidFill>
                <a:latin typeface="Montserrat Light" pitchFamily="34" charset="0"/>
                <a:ea typeface="Montserrat Light" pitchFamily="34" charset="-122"/>
                <a:cs typeface="Montserrat Light" pitchFamily="34" charset="-120"/>
              </a:rPr>
              <a:t>05</a:t>
            </a:r>
            <a:endParaRPr lang="en-US" sz="1050" dirty="0"/>
          </a:p>
        </p:txBody>
      </p:sp>
      <p:sp>
        <p:nvSpPr>
          <p:cNvPr id="26" name="Shape 22"/>
          <p:cNvSpPr/>
          <p:nvPr/>
        </p:nvSpPr>
        <p:spPr>
          <a:xfrm>
            <a:off x="2359104" y="5422583"/>
            <a:ext cx="4911804" cy="15240"/>
          </a:xfrm>
          <a:prstGeom prst="rect">
            <a:avLst/>
          </a:prstGeom>
          <a:solidFill>
            <a:srgbClr val="FFFFFF"/>
          </a:solidFill>
          <a:ln/>
        </p:spPr>
      </p:sp>
      <p:sp>
        <p:nvSpPr>
          <p:cNvPr id="27" name="Text 23"/>
          <p:cNvSpPr/>
          <p:nvPr/>
        </p:nvSpPr>
        <p:spPr>
          <a:xfrm>
            <a:off x="2359104" y="5522119"/>
            <a:ext cx="1571149" cy="196453"/>
          </a:xfrm>
          <a:prstGeom prst="rect">
            <a:avLst/>
          </a:prstGeom>
          <a:noFill/>
          <a:ln/>
        </p:spPr>
        <p:txBody>
          <a:bodyPr wrap="none" lIns="0" tIns="0" rIns="0" bIns="0" rtlCol="0" anchor="t"/>
          <a:lstStyle/>
          <a:p>
            <a:pPr marL="0" indent="0" algn="l">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Generate Narrative</a:t>
            </a:r>
            <a:endParaRPr lang="en-US" sz="1200" dirty="0"/>
          </a:p>
        </p:txBody>
      </p:sp>
      <p:sp>
        <p:nvSpPr>
          <p:cNvPr id="28" name="Text 24"/>
          <p:cNvSpPr/>
          <p:nvPr/>
        </p:nvSpPr>
        <p:spPr>
          <a:xfrm>
            <a:off x="2359104" y="5771674"/>
            <a:ext cx="4911804" cy="340043"/>
          </a:xfrm>
          <a:prstGeom prst="rect">
            <a:avLst/>
          </a:prstGeom>
          <a:noFill/>
          <a:ln/>
        </p:spPr>
        <p:txBody>
          <a:bodyPr wrap="square" lIns="0" tIns="0" rIns="0" bIns="0" rtlCol="0" anchor="t"/>
          <a:lstStyle/>
          <a:p>
            <a:pPr marL="0" indent="0" algn="l">
              <a:lnSpc>
                <a:spcPts val="1300"/>
              </a:lnSpc>
              <a:buNone/>
            </a:pPr>
            <a:r>
              <a:rPr lang="en-US" sz="1050" dirty="0">
                <a:solidFill>
                  <a:srgbClr val="E2E6E9"/>
                </a:solidFill>
                <a:latin typeface="Source Sans 3" pitchFamily="34" charset="0"/>
                <a:ea typeface="Source Sans 3" pitchFamily="34" charset="-122"/>
                <a:cs typeface="Source Sans 3" pitchFamily="34" charset="-120"/>
              </a:rPr>
              <a:t>Model: </a:t>
            </a:r>
            <a:r>
              <a:rPr lang="en-US" sz="1050" b="1" dirty="0">
                <a:solidFill>
                  <a:srgbClr val="E2E6E9"/>
                </a:solidFill>
                <a:latin typeface="Source Sans 3" pitchFamily="34" charset="0"/>
                <a:ea typeface="Source Sans 3" pitchFamily="34" charset="-122"/>
                <a:cs typeface="Source Sans 3" pitchFamily="34" charset="-120"/>
              </a:rPr>
              <a:t>llama3.1-8b</a:t>
            </a:r>
            <a:r>
              <a:rPr lang="en-US" sz="1050" dirty="0">
                <a:solidFill>
                  <a:srgbClr val="E2E6E9"/>
                </a:solidFill>
                <a:latin typeface="Source Sans 3" pitchFamily="34" charset="0"/>
                <a:ea typeface="Source Sans 3" pitchFamily="34" charset="-122"/>
                <a:cs typeface="Source Sans 3" pitchFamily="34" charset="-120"/>
              </a:rPr>
              <a:t> (faster, sufficient for narration). Input: first 10 rows + question. Output: 2-3 plain English sentences + 1 actionable recommendation.</a:t>
            </a:r>
            <a:endParaRPr lang="en-US" sz="1050" dirty="0"/>
          </a:p>
        </p:txBody>
      </p:sp>
      <p:sp>
        <p:nvSpPr>
          <p:cNvPr id="29" name="Text 25"/>
          <p:cNvSpPr/>
          <p:nvPr/>
        </p:nvSpPr>
        <p:spPr>
          <a:xfrm>
            <a:off x="7359372" y="5202912"/>
            <a:ext cx="138232" cy="172760"/>
          </a:xfrm>
          <a:prstGeom prst="rect">
            <a:avLst/>
          </a:prstGeom>
          <a:noFill/>
          <a:ln/>
        </p:spPr>
        <p:txBody>
          <a:bodyPr wrap="none" lIns="0" tIns="0" rIns="0" bIns="0" rtlCol="0" anchor="t"/>
          <a:lstStyle/>
          <a:p>
            <a:pPr marL="0" indent="0" algn="l">
              <a:lnSpc>
                <a:spcPts val="1300"/>
              </a:lnSpc>
              <a:buNone/>
            </a:pPr>
            <a:r>
              <a:rPr lang="en-US" sz="1050" dirty="0">
                <a:solidFill>
                  <a:srgbClr val="E2E6E9"/>
                </a:solidFill>
                <a:latin typeface="Montserrat Light" pitchFamily="34" charset="0"/>
                <a:ea typeface="Montserrat Light" pitchFamily="34" charset="-122"/>
                <a:cs typeface="Montserrat Light" pitchFamily="34" charset="-120"/>
              </a:rPr>
              <a:t>06</a:t>
            </a:r>
            <a:endParaRPr lang="en-US" sz="1050" dirty="0"/>
          </a:p>
        </p:txBody>
      </p:sp>
      <p:sp>
        <p:nvSpPr>
          <p:cNvPr id="30" name="Shape 26"/>
          <p:cNvSpPr/>
          <p:nvPr/>
        </p:nvSpPr>
        <p:spPr>
          <a:xfrm>
            <a:off x="7359372" y="5422583"/>
            <a:ext cx="4911804" cy="15240"/>
          </a:xfrm>
          <a:prstGeom prst="rect">
            <a:avLst/>
          </a:prstGeom>
          <a:solidFill>
            <a:srgbClr val="FFFFFF"/>
          </a:solidFill>
          <a:ln/>
        </p:spPr>
      </p:sp>
      <p:sp>
        <p:nvSpPr>
          <p:cNvPr id="31" name="Text 27"/>
          <p:cNvSpPr/>
          <p:nvPr/>
        </p:nvSpPr>
        <p:spPr>
          <a:xfrm>
            <a:off x="7359372" y="5522119"/>
            <a:ext cx="1571149" cy="196453"/>
          </a:xfrm>
          <a:prstGeom prst="rect">
            <a:avLst/>
          </a:prstGeom>
          <a:noFill/>
          <a:ln/>
        </p:spPr>
        <p:txBody>
          <a:bodyPr wrap="none" lIns="0" tIns="0" rIns="0" bIns="0" rtlCol="0" anchor="t"/>
          <a:lstStyle/>
          <a:p>
            <a:pPr marL="0" indent="0" algn="l">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Return VARIANT</a:t>
            </a:r>
            <a:endParaRPr lang="en-US" sz="1200" dirty="0"/>
          </a:p>
        </p:txBody>
      </p:sp>
      <p:sp>
        <p:nvSpPr>
          <p:cNvPr id="32" name="Text 28"/>
          <p:cNvSpPr/>
          <p:nvPr/>
        </p:nvSpPr>
        <p:spPr>
          <a:xfrm>
            <a:off x="7359372" y="5771674"/>
            <a:ext cx="4911804" cy="525304"/>
          </a:xfrm>
          <a:prstGeom prst="rect">
            <a:avLst/>
          </a:prstGeom>
          <a:noFill/>
          <a:ln/>
        </p:spPr>
        <p:txBody>
          <a:bodyPr wrap="square" lIns="0" tIns="0" rIns="0" bIns="0" rtlCol="0" anchor="t"/>
          <a:lstStyle/>
          <a:p>
            <a:pPr marL="0" indent="0" algn="l">
              <a:lnSpc>
                <a:spcPts val="1300"/>
              </a:lnSpc>
              <a:buNone/>
            </a:pPr>
            <a:r>
              <a:rPr lang="en-US" sz="1050" dirty="0">
                <a:solidFill>
                  <a:srgbClr val="E2E6E9"/>
                </a:solidFill>
                <a:latin typeface="Source Sans 3" pitchFamily="34" charset="0"/>
                <a:ea typeface="Source Sans 3" pitchFamily="34" charset="-122"/>
                <a:cs typeface="Source Sans 3" pitchFamily="34" charset="-120"/>
              </a:rPr>
              <a:t>Returns: </a:t>
            </a:r>
            <a:r>
              <a:rPr lang="en-US" sz="1050" dirty="0">
                <a:solidFill>
                  <a:srgbClr val="E2E6E9"/>
                </a:solidFill>
                <a:highlight>
                  <a:srgbClr val="1E1F20"/>
                </a:highlight>
                <a:latin typeface="Consolas" pitchFamily="34" charset="0"/>
                <a:ea typeface="Consolas" pitchFamily="34" charset="-122"/>
                <a:cs typeface="Consolas" pitchFamily="34" charset="-120"/>
              </a:rPr>
              <a:t>{status, sql, narrative, results[], columns[], row_count, fallback_used}</a:t>
            </a:r>
            <a:r>
              <a:rPr lang="en-US" sz="1050" dirty="0">
                <a:solidFill>
                  <a:srgbClr val="E2E6E9"/>
                </a:solidFill>
                <a:latin typeface="Source Sans 3" pitchFamily="34" charset="0"/>
                <a:ea typeface="Source Sans 3" pitchFamily="34" charset="-122"/>
                <a:cs typeface="Source Sans 3" pitchFamily="34" charset="-120"/>
              </a:rPr>
              <a:t>. If Attempt 1 fails, retries with a simplified prompt (schema + question only).</a:t>
            </a:r>
            <a:endParaRPr lang="en-US" sz="1050" dirty="0"/>
          </a:p>
        </p:txBody>
      </p:sp>
      <p:sp>
        <p:nvSpPr>
          <p:cNvPr id="33" name="Shape 29"/>
          <p:cNvSpPr/>
          <p:nvPr/>
        </p:nvSpPr>
        <p:spPr>
          <a:xfrm>
            <a:off x="2359104" y="6500098"/>
            <a:ext cx="9912072" cy="611743"/>
          </a:xfrm>
          <a:prstGeom prst="roundRect">
            <a:avLst>
              <a:gd name="adj" fmla="val 3390"/>
            </a:avLst>
          </a:prstGeom>
          <a:solidFill>
            <a:srgbClr val="262626"/>
          </a:solidFill>
          <a:ln/>
        </p:spPr>
      </p:sp>
      <p:pic>
        <p:nvPicPr>
          <p:cNvPr id="34" name="Image 2" descr="preencoded.png"/>
          <p:cNvPicPr>
            <a:picLocks noChangeAspect="1"/>
          </p:cNvPicPr>
          <p:nvPr/>
        </p:nvPicPr>
        <p:blipFill>
          <a:blip r:embed="rId4"/>
          <a:stretch>
            <a:fillRect/>
          </a:stretch>
        </p:blipFill>
        <p:spPr>
          <a:xfrm>
            <a:off x="2497336" y="6681430"/>
            <a:ext cx="172760" cy="138232"/>
          </a:xfrm>
          <a:prstGeom prst="rect">
            <a:avLst/>
          </a:prstGeom>
        </p:spPr>
      </p:pic>
      <p:sp>
        <p:nvSpPr>
          <p:cNvPr id="35" name="Text 30"/>
          <p:cNvSpPr/>
          <p:nvPr/>
        </p:nvSpPr>
        <p:spPr>
          <a:xfrm>
            <a:off x="2808327" y="6623090"/>
            <a:ext cx="9324618" cy="340043"/>
          </a:xfrm>
          <a:prstGeom prst="rect">
            <a:avLst/>
          </a:prstGeom>
          <a:noFill/>
          <a:ln/>
        </p:spPr>
        <p:txBody>
          <a:bodyPr wrap="square" lIns="0" tIns="0" rIns="0" bIns="0" rtlCol="0" anchor="t"/>
          <a:lstStyle/>
          <a:p>
            <a:pPr marL="0" indent="0" algn="l">
              <a:lnSpc>
                <a:spcPts val="1300"/>
              </a:lnSpc>
              <a:buNone/>
            </a:pPr>
            <a:r>
              <a:rPr lang="en-US" sz="1050" dirty="0">
                <a:solidFill>
                  <a:srgbClr val="FFFFFF"/>
                </a:solidFill>
                <a:latin typeface="Source Sans 3" pitchFamily="34" charset="0"/>
                <a:ea typeface="Source Sans 3" pitchFamily="34" charset="-122"/>
                <a:cs typeface="Source Sans 3" pitchFamily="34" charset="-120"/>
              </a:rPr>
              <a:t>The two-attempt pattern is a production reliability technique. The first attempt is optimistic — full context. The second is defensive — simpler is more reliable. Most queries succeed on attempt 1. The retry handles edge cases where complex history context confuses the LLM.</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3038594" y="1140619"/>
            <a:ext cx="8553212" cy="677942"/>
          </a:xfrm>
          <a:prstGeom prst="rect">
            <a:avLst/>
          </a:prstGeom>
          <a:noFill/>
          <a:ln/>
        </p:spPr>
        <p:txBody>
          <a:bodyPr wrap="square" lIns="0" tIns="0" rIns="0" bIns="0" rtlCol="0" anchor="t"/>
          <a:lstStyle/>
          <a:p>
            <a:pPr marL="0" indent="0" algn="l">
              <a:lnSpc>
                <a:spcPts val="2650"/>
              </a:lnSpc>
              <a:buNone/>
            </a:pPr>
            <a:r>
              <a:rPr lang="en-US" sz="2100" b="1" dirty="0">
                <a:solidFill>
                  <a:srgbClr val="FFFFFF"/>
                </a:solidFill>
                <a:latin typeface="Montserrat Bold" pitchFamily="34" charset="0"/>
                <a:ea typeface="Montserrat Bold" pitchFamily="34" charset="-122"/>
                <a:cs typeface="Montserrat Bold" pitchFamily="34" charset="-120"/>
              </a:rPr>
              <a:t>The SCHEMA Constant — The Most Important String in the Project</a:t>
            </a:r>
            <a:endParaRPr lang="en-US" sz="2100" dirty="0"/>
          </a:p>
        </p:txBody>
      </p:sp>
      <p:sp>
        <p:nvSpPr>
          <p:cNvPr id="3" name="Text 1"/>
          <p:cNvSpPr/>
          <p:nvPr/>
        </p:nvSpPr>
        <p:spPr>
          <a:xfrm>
            <a:off x="3038594" y="1950363"/>
            <a:ext cx="8553212" cy="277654"/>
          </a:xfrm>
          <a:prstGeom prst="rect">
            <a:avLst/>
          </a:prstGeom>
          <a:noFill/>
          <a:ln/>
        </p:spPr>
        <p:txBody>
          <a:bodyPr wrap="square" lIns="0" tIns="0" rIns="0" bIns="0" rtlCol="0" anchor="t"/>
          <a:lstStyle/>
          <a:p>
            <a:pPr marL="0" indent="0" algn="l">
              <a:lnSpc>
                <a:spcPts val="1050"/>
              </a:lnSpc>
              <a:buNone/>
            </a:pPr>
            <a:r>
              <a:rPr lang="en-US" sz="900" dirty="0">
                <a:solidFill>
                  <a:srgbClr val="E2E6E9"/>
                </a:solidFill>
                <a:latin typeface="Source Sans 3" pitchFamily="34" charset="0"/>
                <a:ea typeface="Source Sans 3" pitchFamily="34" charset="-122"/>
                <a:cs typeface="Source Sans 3" pitchFamily="34" charset="-120"/>
              </a:rPr>
              <a:t>The SCHEMA string is what allows the LLM to write correct SQL. It is a complete description of all 6 tables, column types, and join relationships. </a:t>
            </a:r>
            <a:r>
              <a:rPr lang="en-US" sz="900" b="1" dirty="0">
                <a:solidFill>
                  <a:srgbClr val="E2E6E9"/>
                </a:solidFill>
                <a:latin typeface="Source Sans 3" pitchFamily="34" charset="0"/>
                <a:ea typeface="Source Sans 3" pitchFamily="34" charset="-122"/>
                <a:cs typeface="Source Sans 3" pitchFamily="34" charset="-120"/>
              </a:rPr>
              <a:t>Every rule in it exists because testing found a failure without it.</a:t>
            </a:r>
            <a:endParaRPr lang="en-US" sz="900" dirty="0"/>
          </a:p>
        </p:txBody>
      </p:sp>
      <p:sp>
        <p:nvSpPr>
          <p:cNvPr id="4" name="Text 2"/>
          <p:cNvSpPr/>
          <p:nvPr/>
        </p:nvSpPr>
        <p:spPr>
          <a:xfrm>
            <a:off x="3038594" y="2367915"/>
            <a:ext cx="2298144" cy="169426"/>
          </a:xfrm>
          <a:prstGeom prst="rect">
            <a:avLst/>
          </a:prstGeom>
          <a:noFill/>
          <a:ln/>
        </p:spPr>
        <p:txBody>
          <a:bodyPr wrap="none" lIns="0" tIns="0" rIns="0" bIns="0" rtlCol="0" anchor="t"/>
          <a:lstStyle/>
          <a:p>
            <a:pPr marL="0" indent="0" algn="l">
              <a:lnSpc>
                <a:spcPts val="1300"/>
              </a:lnSpc>
              <a:buNone/>
            </a:pPr>
            <a:r>
              <a:rPr lang="en-US" sz="1050" b="1" dirty="0">
                <a:solidFill>
                  <a:srgbClr val="FFFFFF"/>
                </a:solidFill>
                <a:latin typeface="Montserrat Bold" pitchFamily="34" charset="0"/>
                <a:ea typeface="Montserrat Bold" pitchFamily="34" charset="-122"/>
                <a:cs typeface="Montserrat Bold" pitchFamily="34" charset="-120"/>
              </a:rPr>
              <a:t>The SCHEMA string (condensed)</a:t>
            </a:r>
            <a:endParaRPr lang="en-US" sz="1050" dirty="0"/>
          </a:p>
        </p:txBody>
      </p:sp>
      <p:sp>
        <p:nvSpPr>
          <p:cNvPr id="5" name="Shape 3"/>
          <p:cNvSpPr/>
          <p:nvPr/>
        </p:nvSpPr>
        <p:spPr>
          <a:xfrm>
            <a:off x="3038594" y="2611398"/>
            <a:ext cx="4573310" cy="4403407"/>
          </a:xfrm>
          <a:prstGeom prst="roundRect">
            <a:avLst>
              <a:gd name="adj" fmla="val 406"/>
            </a:avLst>
          </a:prstGeom>
          <a:solidFill>
            <a:srgbClr val="1E1F20"/>
          </a:solidFill>
          <a:ln/>
        </p:spPr>
      </p:sp>
      <p:sp>
        <p:nvSpPr>
          <p:cNvPr id="6" name="Shape 4"/>
          <p:cNvSpPr/>
          <p:nvPr/>
        </p:nvSpPr>
        <p:spPr>
          <a:xfrm>
            <a:off x="3032641" y="2611398"/>
            <a:ext cx="4585216" cy="4403407"/>
          </a:xfrm>
          <a:prstGeom prst="roundRect">
            <a:avLst>
              <a:gd name="adj" fmla="val 406"/>
            </a:avLst>
          </a:prstGeom>
          <a:solidFill>
            <a:srgbClr val="1E1F20"/>
          </a:solidFill>
          <a:ln/>
        </p:spPr>
      </p:sp>
      <p:sp>
        <p:nvSpPr>
          <p:cNvPr id="7" name="Text 5"/>
          <p:cNvSpPr/>
          <p:nvPr/>
        </p:nvSpPr>
        <p:spPr>
          <a:xfrm>
            <a:off x="3181707" y="2730698"/>
            <a:ext cx="4287083" cy="4164806"/>
          </a:xfrm>
          <a:prstGeom prst="rect">
            <a:avLst/>
          </a:prstGeom>
          <a:noFill/>
          <a:ln/>
        </p:spPr>
        <p:txBody>
          <a:bodyPr wrap="square" lIns="0" tIns="0" rIns="0" bIns="0" rtlCol="0" anchor="t"/>
          <a:lstStyle/>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SCHEMA = """</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Database: SWIGGY_MASTER, Schema: DEV.</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Always prefix: SWIGGY_MASTER.DEV.</a:t>
            </a:r>
            <a:endParaRPr lang="en-US" sz="900" dirty="0"/>
          </a:p>
          <a:p>
            <a:pPr marL="0" indent="0" algn="l">
              <a:lnSpc>
                <a:spcPts val="1050"/>
              </a:lnSpc>
              <a:buNone/>
            </a:pP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IMPORTANT: Data covers Dec 2024–Dec 2025 only.</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Never filter by CURRENT_DATE — use</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'2025-12-27'::DATE as effective today.</a:t>
            </a:r>
            <a:endParaRPr lang="en-US" sz="900" dirty="0"/>
          </a:p>
          <a:p>
            <a:pPr marL="0" indent="0" algn="l">
              <a:lnSpc>
                <a:spcPts val="1050"/>
              </a:lnSpc>
              <a:buNone/>
            </a:pP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All monetary amounts are in INR not USD.</a:t>
            </a:r>
            <a:endParaRPr lang="en-US" sz="900" dirty="0"/>
          </a:p>
          <a:p>
            <a:pPr marL="0" indent="0" algn="l">
              <a:lnSpc>
                <a:spcPts val="1050"/>
              </a:lnSpc>
              <a:buNone/>
            </a:pP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SWIGGY_FACT_TRANSACTIONS — 158,000+ rows</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transaction_id (PK INT),</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customer_id    (FK INT),</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transaction_date (DATE),</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gross_amount (FLOAT), net_amount (FLOAT),</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rating (TEXT — use TRY_CAST(rating AS FLOAT))</a:t>
            </a:r>
            <a:endParaRPr lang="en-US" sz="900" dirty="0"/>
          </a:p>
          <a:p>
            <a:pPr marL="0" indent="0" algn="l">
              <a:lnSpc>
                <a:spcPts val="1050"/>
              </a:lnSpc>
              <a:buNone/>
            </a:pP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SWIGGY_DIM_CUSTOMER — 6,000 rows</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customer_id (PK INT), customer_name,</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membership_tier</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(NONE/ONE_LITE/ONE/ONE_PLUS),</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signup_date (DATE)</a:t>
            </a:r>
            <a:endParaRPr lang="en-US" sz="900" dirty="0"/>
          </a:p>
          <a:p>
            <a:pPr marL="0" indent="0" algn="l">
              <a:lnSpc>
                <a:spcPts val="1050"/>
              </a:lnSpc>
              <a:buNone/>
            </a:pP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[+ 4 more dimension tables with all columns,</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types, FK relationships]</a:t>
            </a:r>
            <a:endParaRPr lang="en-US" sz="900" dirty="0"/>
          </a:p>
          <a:p>
            <a:pPr marL="0" indent="0" algn="l">
              <a:lnSpc>
                <a:spcPts val="1050"/>
              </a:lnSpc>
              <a:buNone/>
            </a:pP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FK Joins:</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fact.customer_id = dim_customer.customer_id</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  fact.coupon_id   = dim_coupon.coupon_id</a:t>
            </a:r>
            <a:endParaRPr lang="en-US" sz="900" dirty="0"/>
          </a:p>
          <a:p>
            <a:pPr marL="0" indent="0" algn="l">
              <a:lnSpc>
                <a:spcPts val="1050"/>
              </a:lnSpc>
              <a:buNone/>
            </a:pPr>
            <a:r>
              <a:rPr lang="en-US" sz="900" dirty="0">
                <a:solidFill>
                  <a:srgbClr val="E2E6E9"/>
                </a:solidFill>
                <a:latin typeface="Consolas" pitchFamily="34" charset="0"/>
                <a:ea typeface="Consolas" pitchFamily="34" charset="-122"/>
                <a:cs typeface="Consolas" pitchFamily="34" charset="-120"/>
              </a:rPr>
              <a:t>"""</a:t>
            </a:r>
            <a:endParaRPr lang="en-US" sz="900" dirty="0"/>
          </a:p>
        </p:txBody>
      </p:sp>
      <p:sp>
        <p:nvSpPr>
          <p:cNvPr id="8" name="Shape 6"/>
          <p:cNvSpPr/>
          <p:nvPr/>
        </p:nvSpPr>
        <p:spPr>
          <a:xfrm>
            <a:off x="7824668" y="2302073"/>
            <a:ext cx="3860483" cy="4786789"/>
          </a:xfrm>
          <a:prstGeom prst="roundRect">
            <a:avLst>
              <a:gd name="adj" fmla="val 464"/>
            </a:avLst>
          </a:prstGeom>
          <a:solidFill>
            <a:srgbClr val="1D1F22"/>
          </a:solidFill>
          <a:ln/>
        </p:spPr>
      </p:sp>
      <p:sp>
        <p:nvSpPr>
          <p:cNvPr id="9" name="Text 7"/>
          <p:cNvSpPr/>
          <p:nvPr/>
        </p:nvSpPr>
        <p:spPr>
          <a:xfrm>
            <a:off x="7943969" y="2367915"/>
            <a:ext cx="1471613" cy="169426"/>
          </a:xfrm>
          <a:prstGeom prst="rect">
            <a:avLst/>
          </a:prstGeom>
          <a:noFill/>
          <a:ln/>
        </p:spPr>
        <p:txBody>
          <a:bodyPr wrap="none" lIns="0" tIns="0" rIns="0" bIns="0" rtlCol="0" anchor="t"/>
          <a:lstStyle/>
          <a:p>
            <a:pPr marL="0" indent="0" algn="l">
              <a:lnSpc>
                <a:spcPts val="1300"/>
              </a:lnSpc>
              <a:buNone/>
            </a:pPr>
            <a:r>
              <a:rPr lang="en-US" sz="1050" b="1" dirty="0">
                <a:solidFill>
                  <a:srgbClr val="E2E6E9"/>
                </a:solidFill>
                <a:latin typeface="Montserrat Bold" pitchFamily="34" charset="0"/>
                <a:ea typeface="Montserrat Bold" pitchFamily="34" charset="-122"/>
                <a:cs typeface="Montserrat Bold" pitchFamily="34" charset="-120"/>
              </a:rPr>
              <a:t>Why each rule exists</a:t>
            </a:r>
            <a:endParaRPr lang="en-US" sz="1050" dirty="0"/>
          </a:p>
        </p:txBody>
      </p:sp>
      <p:sp>
        <p:nvSpPr>
          <p:cNvPr id="10" name="Shape 8"/>
          <p:cNvSpPr/>
          <p:nvPr/>
        </p:nvSpPr>
        <p:spPr>
          <a:xfrm>
            <a:off x="7943969" y="2611398"/>
            <a:ext cx="1777960" cy="1367909"/>
          </a:xfrm>
          <a:prstGeom prst="roundRect">
            <a:avLst>
              <a:gd name="adj" fmla="val 5348"/>
            </a:avLst>
          </a:prstGeom>
          <a:solidFill>
            <a:srgbClr val="1D1F22"/>
          </a:solidFill>
          <a:ln w="15240">
            <a:solidFill>
              <a:srgbClr val="494A4B"/>
            </a:solidFill>
            <a:prstDash val="solid"/>
          </a:ln>
        </p:spPr>
      </p:sp>
      <p:sp>
        <p:nvSpPr>
          <p:cNvPr id="11" name="Shape 9"/>
          <p:cNvSpPr/>
          <p:nvPr/>
        </p:nvSpPr>
        <p:spPr>
          <a:xfrm>
            <a:off x="7928729" y="2611398"/>
            <a:ext cx="60960" cy="1367909"/>
          </a:xfrm>
          <a:prstGeom prst="roundRect">
            <a:avLst>
              <a:gd name="adj" fmla="val 29358"/>
            </a:avLst>
          </a:prstGeom>
          <a:solidFill>
            <a:srgbClr val="FFFFFF"/>
          </a:solidFill>
          <a:ln/>
        </p:spPr>
      </p:sp>
      <p:sp>
        <p:nvSpPr>
          <p:cNvPr id="12" name="Text 10"/>
          <p:cNvSpPr/>
          <p:nvPr/>
        </p:nvSpPr>
        <p:spPr>
          <a:xfrm>
            <a:off x="8124230" y="2745938"/>
            <a:ext cx="1463159" cy="338852"/>
          </a:xfrm>
          <a:prstGeom prst="rect">
            <a:avLst/>
          </a:prstGeom>
          <a:noFill/>
          <a:ln/>
        </p:spPr>
        <p:txBody>
          <a:bodyPr wrap="square" lIns="0" tIns="0" rIns="0" bIns="0" rtlCol="0" anchor="t"/>
          <a:lstStyle/>
          <a:p>
            <a:pPr marL="0" indent="0" algn="l">
              <a:lnSpc>
                <a:spcPts val="1300"/>
              </a:lnSpc>
              <a:buNone/>
            </a:pPr>
            <a:r>
              <a:rPr lang="en-US" sz="1050" b="1" dirty="0">
                <a:solidFill>
                  <a:srgbClr val="E2E6E9"/>
                </a:solidFill>
                <a:latin typeface="Montserrat Bold" pitchFamily="34" charset="0"/>
                <a:ea typeface="Montserrat Bold" pitchFamily="34" charset="-122"/>
                <a:cs typeface="Montserrat Bold" pitchFamily="34" charset="-120"/>
              </a:rPr>
              <a:t>Never use CURRENT_DATE</a:t>
            </a:r>
            <a:endParaRPr lang="en-US" sz="1050" dirty="0"/>
          </a:p>
        </p:txBody>
      </p:sp>
      <p:sp>
        <p:nvSpPr>
          <p:cNvPr id="13" name="Text 11"/>
          <p:cNvSpPr/>
          <p:nvPr/>
        </p:nvSpPr>
        <p:spPr>
          <a:xfrm>
            <a:off x="8124230" y="3150632"/>
            <a:ext cx="1463159" cy="694134"/>
          </a:xfrm>
          <a:prstGeom prst="rect">
            <a:avLst/>
          </a:prstGeom>
          <a:noFill/>
          <a:ln/>
        </p:spPr>
        <p:txBody>
          <a:bodyPr wrap="square" lIns="0" tIns="0" rIns="0" bIns="0" rtlCol="0" anchor="t"/>
          <a:lstStyle/>
          <a:p>
            <a:pPr marL="0" indent="0" algn="l">
              <a:lnSpc>
                <a:spcPts val="1050"/>
              </a:lnSpc>
              <a:buNone/>
            </a:pPr>
            <a:r>
              <a:rPr lang="en-US" sz="900" dirty="0">
                <a:solidFill>
                  <a:srgbClr val="E2E6E9"/>
                </a:solidFill>
                <a:latin typeface="Source Sans 3" pitchFamily="34" charset="0"/>
                <a:ea typeface="Source Sans 3" pitchFamily="34" charset="-122"/>
                <a:cs typeface="Source Sans 3" pitchFamily="34" charset="-120"/>
              </a:rPr>
              <a:t>Data ends Dec 2025. CURRENT_DATE (2026) returns 0 rows. Every "this month" query fails without this rule.</a:t>
            </a:r>
            <a:endParaRPr lang="en-US" sz="900" dirty="0"/>
          </a:p>
        </p:txBody>
      </p:sp>
      <p:sp>
        <p:nvSpPr>
          <p:cNvPr id="14" name="Shape 12"/>
          <p:cNvSpPr/>
          <p:nvPr/>
        </p:nvSpPr>
        <p:spPr>
          <a:xfrm>
            <a:off x="9787771" y="2611398"/>
            <a:ext cx="1778079" cy="1367909"/>
          </a:xfrm>
          <a:prstGeom prst="roundRect">
            <a:avLst>
              <a:gd name="adj" fmla="val 5348"/>
            </a:avLst>
          </a:prstGeom>
          <a:solidFill>
            <a:srgbClr val="1D1F22"/>
          </a:solidFill>
          <a:ln w="15240">
            <a:solidFill>
              <a:srgbClr val="494A4B"/>
            </a:solidFill>
            <a:prstDash val="solid"/>
          </a:ln>
        </p:spPr>
      </p:sp>
      <p:sp>
        <p:nvSpPr>
          <p:cNvPr id="15" name="Shape 13"/>
          <p:cNvSpPr/>
          <p:nvPr/>
        </p:nvSpPr>
        <p:spPr>
          <a:xfrm>
            <a:off x="9772531" y="2611398"/>
            <a:ext cx="60960" cy="1367909"/>
          </a:xfrm>
          <a:prstGeom prst="roundRect">
            <a:avLst>
              <a:gd name="adj" fmla="val 29358"/>
            </a:avLst>
          </a:prstGeom>
          <a:solidFill>
            <a:srgbClr val="FFFFFF"/>
          </a:solidFill>
          <a:ln/>
        </p:spPr>
      </p:sp>
      <p:sp>
        <p:nvSpPr>
          <p:cNvPr id="16" name="Text 14"/>
          <p:cNvSpPr/>
          <p:nvPr/>
        </p:nvSpPr>
        <p:spPr>
          <a:xfrm>
            <a:off x="9968032" y="2745938"/>
            <a:ext cx="1463278" cy="338852"/>
          </a:xfrm>
          <a:prstGeom prst="rect">
            <a:avLst/>
          </a:prstGeom>
          <a:noFill/>
          <a:ln/>
        </p:spPr>
        <p:txBody>
          <a:bodyPr wrap="square" lIns="0" tIns="0" rIns="0" bIns="0" rtlCol="0" anchor="t"/>
          <a:lstStyle/>
          <a:p>
            <a:pPr marL="0" indent="0" algn="l">
              <a:lnSpc>
                <a:spcPts val="1300"/>
              </a:lnSpc>
              <a:buNone/>
            </a:pPr>
            <a:r>
              <a:rPr lang="en-US" sz="1050" b="1" dirty="0">
                <a:solidFill>
                  <a:srgbClr val="E2E6E9"/>
                </a:solidFill>
                <a:latin typeface="Montserrat Bold" pitchFamily="34" charset="0"/>
                <a:ea typeface="Montserrat Bold" pitchFamily="34" charset="-122"/>
                <a:cs typeface="Montserrat Bold" pitchFamily="34" charset="-120"/>
              </a:rPr>
              <a:t>TRY_CAST(rating AS FLOAT)</a:t>
            </a:r>
            <a:endParaRPr lang="en-US" sz="1050" dirty="0"/>
          </a:p>
        </p:txBody>
      </p:sp>
      <p:sp>
        <p:nvSpPr>
          <p:cNvPr id="17" name="Text 15"/>
          <p:cNvSpPr/>
          <p:nvPr/>
        </p:nvSpPr>
        <p:spPr>
          <a:xfrm>
            <a:off x="9968032" y="3150632"/>
            <a:ext cx="1463278" cy="562927"/>
          </a:xfrm>
          <a:prstGeom prst="rect">
            <a:avLst/>
          </a:prstGeom>
          <a:noFill/>
          <a:ln/>
        </p:spPr>
        <p:txBody>
          <a:bodyPr wrap="square" lIns="0" tIns="0" rIns="0" bIns="0" rtlCol="0" anchor="t"/>
          <a:lstStyle/>
          <a:p>
            <a:pPr marL="0" indent="0" algn="l">
              <a:lnSpc>
                <a:spcPts val="1050"/>
              </a:lnSpc>
              <a:buNone/>
            </a:pPr>
            <a:r>
              <a:rPr lang="en-US" sz="900" dirty="0">
                <a:solidFill>
                  <a:srgbClr val="E2E6E9"/>
                </a:solidFill>
                <a:latin typeface="Source Sans 3" pitchFamily="34" charset="0"/>
                <a:ea typeface="Source Sans 3" pitchFamily="34" charset="-122"/>
                <a:cs typeface="Source Sans 3" pitchFamily="34" charset="-120"/>
              </a:rPr>
              <a:t>Rating is stored as TEXT. Without this rule, </a:t>
            </a:r>
            <a:r>
              <a:rPr lang="en-US" sz="900" dirty="0">
                <a:solidFill>
                  <a:srgbClr val="E2E6E9"/>
                </a:solidFill>
                <a:highlight>
                  <a:srgbClr val="2A2C2F"/>
                </a:highlight>
                <a:latin typeface="Consolas" pitchFamily="34" charset="0"/>
                <a:ea typeface="Consolas" pitchFamily="34" charset="-122"/>
                <a:cs typeface="Consolas" pitchFamily="34" charset="-120"/>
              </a:rPr>
              <a:t>AVG(rating)</a:t>
            </a:r>
            <a:r>
              <a:rPr lang="en-US" sz="900" dirty="0">
                <a:solidFill>
                  <a:srgbClr val="E2E6E9"/>
                </a:solidFill>
                <a:latin typeface="Source Sans 3" pitchFamily="34" charset="0"/>
                <a:ea typeface="Source Sans 3" pitchFamily="34" charset="-122"/>
                <a:cs typeface="Source Sans 3" pitchFamily="34" charset="-120"/>
              </a:rPr>
              <a:t> throws a Snowflake type error.</a:t>
            </a:r>
            <a:endParaRPr lang="en-US" sz="900" dirty="0"/>
          </a:p>
        </p:txBody>
      </p:sp>
      <p:sp>
        <p:nvSpPr>
          <p:cNvPr id="18" name="Shape 16"/>
          <p:cNvSpPr/>
          <p:nvPr/>
        </p:nvSpPr>
        <p:spPr>
          <a:xfrm>
            <a:off x="7943969" y="4045148"/>
            <a:ext cx="1777960" cy="1398508"/>
          </a:xfrm>
          <a:prstGeom prst="roundRect">
            <a:avLst>
              <a:gd name="adj" fmla="val 5231"/>
            </a:avLst>
          </a:prstGeom>
          <a:solidFill>
            <a:srgbClr val="1D1F22"/>
          </a:solidFill>
          <a:ln w="15240">
            <a:solidFill>
              <a:srgbClr val="494A4B"/>
            </a:solidFill>
            <a:prstDash val="solid"/>
          </a:ln>
        </p:spPr>
      </p:sp>
      <p:sp>
        <p:nvSpPr>
          <p:cNvPr id="19" name="Shape 17"/>
          <p:cNvSpPr/>
          <p:nvPr/>
        </p:nvSpPr>
        <p:spPr>
          <a:xfrm>
            <a:off x="7928729" y="4045148"/>
            <a:ext cx="60960" cy="1398508"/>
          </a:xfrm>
          <a:prstGeom prst="roundRect">
            <a:avLst>
              <a:gd name="adj" fmla="val 29358"/>
            </a:avLst>
          </a:prstGeom>
          <a:solidFill>
            <a:srgbClr val="FFFFFF"/>
          </a:solidFill>
          <a:ln/>
        </p:spPr>
      </p:sp>
      <p:sp>
        <p:nvSpPr>
          <p:cNvPr id="20" name="Text 18"/>
          <p:cNvSpPr/>
          <p:nvPr/>
        </p:nvSpPr>
        <p:spPr>
          <a:xfrm>
            <a:off x="8124230" y="4179689"/>
            <a:ext cx="1463159" cy="508278"/>
          </a:xfrm>
          <a:prstGeom prst="rect">
            <a:avLst/>
          </a:prstGeom>
          <a:noFill/>
          <a:ln/>
        </p:spPr>
        <p:txBody>
          <a:bodyPr wrap="square" lIns="0" tIns="0" rIns="0" bIns="0" rtlCol="0" anchor="t"/>
          <a:lstStyle/>
          <a:p>
            <a:pPr marL="0" indent="0" algn="l">
              <a:lnSpc>
                <a:spcPts val="1300"/>
              </a:lnSpc>
              <a:buNone/>
            </a:pPr>
            <a:r>
              <a:rPr lang="en-US" sz="1050" b="1" dirty="0">
                <a:solidFill>
                  <a:srgbClr val="E2E6E9"/>
                </a:solidFill>
                <a:latin typeface="Montserrat Bold" pitchFamily="34" charset="0"/>
                <a:ea typeface="Montserrat Bold" pitchFamily="34" charset="-122"/>
                <a:cs typeface="Montserrat Bold" pitchFamily="34" charset="-120"/>
              </a:rPr>
              <a:t>Always prefix SWIGGY_MASTER.DEV.</a:t>
            </a:r>
            <a:endParaRPr lang="en-US" sz="1050" dirty="0"/>
          </a:p>
        </p:txBody>
      </p:sp>
      <p:sp>
        <p:nvSpPr>
          <p:cNvPr id="21" name="Text 19"/>
          <p:cNvSpPr/>
          <p:nvPr/>
        </p:nvSpPr>
        <p:spPr>
          <a:xfrm>
            <a:off x="8124230" y="4753808"/>
            <a:ext cx="1463159" cy="555308"/>
          </a:xfrm>
          <a:prstGeom prst="rect">
            <a:avLst/>
          </a:prstGeom>
          <a:noFill/>
          <a:ln/>
        </p:spPr>
        <p:txBody>
          <a:bodyPr wrap="square" lIns="0" tIns="0" rIns="0" bIns="0" rtlCol="0" anchor="t"/>
          <a:lstStyle/>
          <a:p>
            <a:pPr marL="0" indent="0" algn="l">
              <a:lnSpc>
                <a:spcPts val="1050"/>
              </a:lnSpc>
              <a:buNone/>
            </a:pPr>
            <a:r>
              <a:rPr lang="en-US" sz="900" dirty="0">
                <a:solidFill>
                  <a:srgbClr val="E2E6E9"/>
                </a:solidFill>
                <a:latin typeface="Source Sans 3" pitchFamily="34" charset="0"/>
                <a:ea typeface="Source Sans 3" pitchFamily="34" charset="-122"/>
                <a:cs typeface="Source Sans 3" pitchFamily="34" charset="-120"/>
              </a:rPr>
              <a:t>Without the prefix, "FROM FACT_TRANSACTIONS" → table not found error at runtime.</a:t>
            </a:r>
            <a:endParaRPr lang="en-US" sz="900" dirty="0"/>
          </a:p>
        </p:txBody>
      </p:sp>
      <p:sp>
        <p:nvSpPr>
          <p:cNvPr id="22" name="Shape 20"/>
          <p:cNvSpPr/>
          <p:nvPr/>
        </p:nvSpPr>
        <p:spPr>
          <a:xfrm>
            <a:off x="9787771" y="4045148"/>
            <a:ext cx="1778079" cy="1398508"/>
          </a:xfrm>
          <a:prstGeom prst="roundRect">
            <a:avLst>
              <a:gd name="adj" fmla="val 5231"/>
            </a:avLst>
          </a:prstGeom>
          <a:solidFill>
            <a:srgbClr val="1D1F22"/>
          </a:solidFill>
          <a:ln w="15240">
            <a:solidFill>
              <a:srgbClr val="494A4B"/>
            </a:solidFill>
            <a:prstDash val="solid"/>
          </a:ln>
        </p:spPr>
      </p:sp>
      <p:sp>
        <p:nvSpPr>
          <p:cNvPr id="23" name="Shape 21"/>
          <p:cNvSpPr/>
          <p:nvPr/>
        </p:nvSpPr>
        <p:spPr>
          <a:xfrm>
            <a:off x="9772531" y="4045148"/>
            <a:ext cx="60960" cy="1398508"/>
          </a:xfrm>
          <a:prstGeom prst="roundRect">
            <a:avLst>
              <a:gd name="adj" fmla="val 29358"/>
            </a:avLst>
          </a:prstGeom>
          <a:solidFill>
            <a:srgbClr val="FFFFFF"/>
          </a:solidFill>
          <a:ln/>
        </p:spPr>
      </p:sp>
      <p:sp>
        <p:nvSpPr>
          <p:cNvPr id="24" name="Text 22"/>
          <p:cNvSpPr/>
          <p:nvPr/>
        </p:nvSpPr>
        <p:spPr>
          <a:xfrm>
            <a:off x="9968032" y="4179689"/>
            <a:ext cx="1355765" cy="169426"/>
          </a:xfrm>
          <a:prstGeom prst="rect">
            <a:avLst/>
          </a:prstGeom>
          <a:noFill/>
          <a:ln/>
        </p:spPr>
        <p:txBody>
          <a:bodyPr wrap="none" lIns="0" tIns="0" rIns="0" bIns="0" rtlCol="0" anchor="t"/>
          <a:lstStyle/>
          <a:p>
            <a:pPr marL="0" indent="0" algn="l">
              <a:lnSpc>
                <a:spcPts val="1300"/>
              </a:lnSpc>
              <a:buNone/>
            </a:pPr>
            <a:r>
              <a:rPr lang="en-US" sz="1050" b="1" dirty="0">
                <a:solidFill>
                  <a:srgbClr val="E2E6E9"/>
                </a:solidFill>
                <a:latin typeface="Montserrat Bold" pitchFamily="34" charset="0"/>
                <a:ea typeface="Montserrat Bold" pitchFamily="34" charset="-122"/>
                <a:cs typeface="Montserrat Bold" pitchFamily="34" charset="-120"/>
              </a:rPr>
              <a:t>FK Joins section</a:t>
            </a:r>
            <a:endParaRPr lang="en-US" sz="1050" dirty="0"/>
          </a:p>
        </p:txBody>
      </p:sp>
      <p:sp>
        <p:nvSpPr>
          <p:cNvPr id="25" name="Text 23"/>
          <p:cNvSpPr/>
          <p:nvPr/>
        </p:nvSpPr>
        <p:spPr>
          <a:xfrm>
            <a:off x="9968032" y="4414957"/>
            <a:ext cx="1463278" cy="694134"/>
          </a:xfrm>
          <a:prstGeom prst="rect">
            <a:avLst/>
          </a:prstGeom>
          <a:noFill/>
          <a:ln/>
        </p:spPr>
        <p:txBody>
          <a:bodyPr wrap="square" lIns="0" tIns="0" rIns="0" bIns="0" rtlCol="0" anchor="t"/>
          <a:lstStyle/>
          <a:p>
            <a:pPr marL="0" indent="0" algn="l">
              <a:lnSpc>
                <a:spcPts val="1050"/>
              </a:lnSpc>
              <a:buNone/>
            </a:pPr>
            <a:r>
              <a:rPr lang="en-US" sz="900" dirty="0">
                <a:solidFill>
                  <a:srgbClr val="E2E6E9"/>
                </a:solidFill>
                <a:latin typeface="Source Sans 3" pitchFamily="34" charset="0"/>
                <a:ea typeface="Source Sans 3" pitchFamily="34" charset="-122"/>
                <a:cs typeface="Source Sans 3" pitchFamily="34" charset="-120"/>
              </a:rPr>
              <a:t>LLMs hallucinate wrong join keys without explicit guidance. Wrong joins produce silently incorrect results.</a:t>
            </a:r>
            <a:endParaRPr lang="en-US" sz="900" dirty="0"/>
          </a:p>
        </p:txBody>
      </p:sp>
      <p:sp>
        <p:nvSpPr>
          <p:cNvPr id="26" name="Shape 24"/>
          <p:cNvSpPr/>
          <p:nvPr/>
        </p:nvSpPr>
        <p:spPr>
          <a:xfrm>
            <a:off x="7943969" y="5517713"/>
            <a:ext cx="3621881" cy="631031"/>
          </a:xfrm>
          <a:prstGeom prst="roundRect">
            <a:avLst>
              <a:gd name="adj" fmla="val 2836"/>
            </a:avLst>
          </a:prstGeom>
          <a:solidFill>
            <a:srgbClr val="262626"/>
          </a:solidFill>
          <a:ln/>
        </p:spPr>
      </p:sp>
      <p:pic>
        <p:nvPicPr>
          <p:cNvPr id="27" name="Image 0" descr="preencoded.png"/>
          <p:cNvPicPr>
            <a:picLocks noChangeAspect="1"/>
          </p:cNvPicPr>
          <p:nvPr/>
        </p:nvPicPr>
        <p:blipFill>
          <a:blip r:embed="rId3"/>
          <a:stretch>
            <a:fillRect/>
          </a:stretch>
        </p:blipFill>
        <p:spPr>
          <a:xfrm>
            <a:off x="8063270" y="5669042"/>
            <a:ext cx="149066" cy="119301"/>
          </a:xfrm>
          <a:prstGeom prst="rect">
            <a:avLst/>
          </a:prstGeom>
        </p:spPr>
      </p:pic>
      <p:sp>
        <p:nvSpPr>
          <p:cNvPr id="28" name="Text 25"/>
          <p:cNvSpPr/>
          <p:nvPr/>
        </p:nvSpPr>
        <p:spPr>
          <a:xfrm>
            <a:off x="8331637" y="5613321"/>
            <a:ext cx="3114913" cy="416481"/>
          </a:xfrm>
          <a:prstGeom prst="rect">
            <a:avLst/>
          </a:prstGeom>
          <a:noFill/>
          <a:ln/>
        </p:spPr>
        <p:txBody>
          <a:bodyPr wrap="square" lIns="0" tIns="0" rIns="0" bIns="0" rtlCol="0" anchor="t"/>
          <a:lstStyle/>
          <a:p>
            <a:pPr marL="0" indent="0" algn="l">
              <a:lnSpc>
                <a:spcPts val="1050"/>
              </a:lnSpc>
              <a:buNone/>
            </a:pPr>
            <a:r>
              <a:rPr lang="en-US" sz="900" b="1" dirty="0">
                <a:solidFill>
                  <a:srgbClr val="FFFFFF"/>
                </a:solidFill>
                <a:latin typeface="Source Sans 3" pitchFamily="34" charset="0"/>
                <a:ea typeface="Source Sans 3" pitchFamily="34" charset="-122"/>
                <a:cs typeface="Source Sans 3" pitchFamily="34" charset="-120"/>
              </a:rPr>
              <a:t>Prompt engineering for SQL is empirical.</a:t>
            </a:r>
            <a:r>
              <a:rPr lang="en-US" sz="900" dirty="0">
                <a:solidFill>
                  <a:srgbClr val="FFFFFF"/>
                </a:solidFill>
                <a:latin typeface="Source Sans 3" pitchFamily="34" charset="0"/>
                <a:ea typeface="Source Sans 3" pitchFamily="34" charset="-122"/>
                <a:cs typeface="Source Sans 3" pitchFamily="34" charset="-120"/>
              </a:rPr>
              <a:t> Every rule was added after observing a failure. The schema string grew from 100 words to 400 words through testing and iteration.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3439001" y="1577816"/>
            <a:ext cx="6506885" cy="307181"/>
          </a:xfrm>
          <a:prstGeom prst="rect">
            <a:avLst/>
          </a:prstGeom>
          <a:noFill/>
          <a:ln/>
        </p:spPr>
        <p:txBody>
          <a:bodyPr wrap="none" lIns="0" tIns="0" rIns="0" bIns="0" rtlCol="0" anchor="t"/>
          <a:lstStyle/>
          <a:p>
            <a:pPr marL="0" indent="0" algn="l">
              <a:lnSpc>
                <a:spcPts val="2400"/>
              </a:lnSpc>
              <a:buNone/>
            </a:pPr>
            <a:r>
              <a:rPr lang="en-US" sz="1900" b="1" dirty="0">
                <a:solidFill>
                  <a:srgbClr val="FFFFFF"/>
                </a:solidFill>
                <a:latin typeface="Montserrat Bold" pitchFamily="34" charset="0"/>
                <a:ea typeface="Montserrat Bold" pitchFamily="34" charset="-122"/>
                <a:cs typeface="Montserrat Bold" pitchFamily="34" charset="-120"/>
              </a:rPr>
              <a:t>The SQL Generation Prompt — Inputs and Outputs</a:t>
            </a:r>
            <a:endParaRPr lang="en-US" sz="1900" dirty="0"/>
          </a:p>
        </p:txBody>
      </p:sp>
      <p:sp>
        <p:nvSpPr>
          <p:cNvPr id="3" name="Text 1"/>
          <p:cNvSpPr/>
          <p:nvPr/>
        </p:nvSpPr>
        <p:spPr>
          <a:xfrm>
            <a:off x="3439001" y="1993225"/>
            <a:ext cx="7752278" cy="243126"/>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The SQL prompt combines the schema, conversation history, and 7 explicit rules to guide the LLM. Understanding what goes in and what comes out makes it easy to debug and improve.</a:t>
            </a:r>
            <a:endParaRPr lang="en-US" sz="850" dirty="0"/>
          </a:p>
        </p:txBody>
      </p:sp>
      <p:sp>
        <p:nvSpPr>
          <p:cNvPr id="4" name="Text 2"/>
          <p:cNvSpPr/>
          <p:nvPr/>
        </p:nvSpPr>
        <p:spPr>
          <a:xfrm>
            <a:off x="3439001" y="2351246"/>
            <a:ext cx="1757482" cy="153591"/>
          </a:xfrm>
          <a:prstGeom prst="rect">
            <a:avLst/>
          </a:prstGeom>
          <a:noFill/>
          <a:ln/>
        </p:spPr>
        <p:txBody>
          <a:bodyPr wrap="none" lIns="0" tIns="0" rIns="0" bIns="0" rtlCol="0" anchor="t"/>
          <a:lstStyle/>
          <a:p>
            <a:pPr marL="0" indent="0" algn="l">
              <a:lnSpc>
                <a:spcPts val="1200"/>
              </a:lnSpc>
              <a:buNone/>
            </a:pPr>
            <a:r>
              <a:rPr lang="en-US" sz="950" b="1" dirty="0">
                <a:solidFill>
                  <a:srgbClr val="FFFFFF"/>
                </a:solidFill>
                <a:latin typeface="Montserrat Bold" pitchFamily="34" charset="0"/>
                <a:ea typeface="Montserrat Bold" pitchFamily="34" charset="-122"/>
                <a:cs typeface="Montserrat Bold" pitchFamily="34" charset="-120"/>
              </a:rPr>
              <a:t>What goes into the prompt</a:t>
            </a:r>
            <a:endParaRPr lang="en-US" sz="950" dirty="0"/>
          </a:p>
        </p:txBody>
      </p:sp>
      <p:sp>
        <p:nvSpPr>
          <p:cNvPr id="5" name="Shape 3"/>
          <p:cNvSpPr/>
          <p:nvPr/>
        </p:nvSpPr>
        <p:spPr>
          <a:xfrm>
            <a:off x="3439001" y="2565678"/>
            <a:ext cx="3744158" cy="2525911"/>
          </a:xfrm>
          <a:prstGeom prst="roundRect">
            <a:avLst>
              <a:gd name="adj" fmla="val 642"/>
            </a:avLst>
          </a:prstGeom>
          <a:solidFill>
            <a:srgbClr val="1E1F20"/>
          </a:solidFill>
          <a:ln/>
        </p:spPr>
      </p:sp>
      <p:sp>
        <p:nvSpPr>
          <p:cNvPr id="6" name="Shape 4"/>
          <p:cNvSpPr/>
          <p:nvPr/>
        </p:nvSpPr>
        <p:spPr>
          <a:xfrm>
            <a:off x="3433643" y="2565678"/>
            <a:ext cx="3754874" cy="2525911"/>
          </a:xfrm>
          <a:prstGeom prst="roundRect">
            <a:avLst>
              <a:gd name="adj" fmla="val 642"/>
            </a:avLst>
          </a:prstGeom>
          <a:solidFill>
            <a:srgbClr val="1E1F20"/>
          </a:solidFill>
          <a:ln/>
        </p:spPr>
      </p:sp>
      <p:sp>
        <p:nvSpPr>
          <p:cNvPr id="7" name="Text 5"/>
          <p:cNvSpPr/>
          <p:nvPr/>
        </p:nvSpPr>
        <p:spPr>
          <a:xfrm>
            <a:off x="3568779" y="2673787"/>
            <a:ext cx="3484602" cy="2309693"/>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You are a Snowflake SQL expert for Swiggy.</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Schema:</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{SCHEMA}</a:t>
            </a:r>
            <a:endParaRPr lang="en-US" sz="850" dirty="0"/>
          </a:p>
          <a:p>
            <a:pPr marL="0" indent="0" algn="l">
              <a:lnSpc>
                <a:spcPts val="950"/>
              </a:lnSpc>
              <a:buNone/>
            </a:pP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Conversation history:</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{history_context}</a:t>
            </a:r>
            <a:endParaRPr lang="en-US" sz="850" dirty="0"/>
          </a:p>
          <a:p>
            <a:pPr marL="0" indent="0" algn="l">
              <a:lnSpc>
                <a:spcPts val="950"/>
              </a:lnSpc>
              <a:buNone/>
            </a:pP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Question: "{message}"</a:t>
            </a:r>
            <a:endParaRPr lang="en-US" sz="850" dirty="0"/>
          </a:p>
          <a:p>
            <a:pPr marL="0" indent="0" algn="l">
              <a:lnSpc>
                <a:spcPts val="950"/>
              </a:lnSpc>
              <a:buNone/>
            </a:pP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Rules:</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1. Return ONLY a Snowflake SELECT —</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   no markdown, no backticks</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2. Always prefix: SWIGGY_MASTER.DEV.</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3. Alias every computed column clearly</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4. Default LIMIT 500</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5. Resolve pronouns using history</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6. ROUND monetary columns</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7. Use TRY_CAST for rating column</a:t>
            </a:r>
            <a:endParaRPr lang="en-US" sz="850" dirty="0"/>
          </a:p>
          <a:p>
            <a:pPr marL="0" indent="0" algn="l">
              <a:lnSpc>
                <a:spcPts val="950"/>
              </a:lnSpc>
              <a:buNone/>
            </a:pPr>
            <a:r>
              <a:rPr lang="en-US" sz="850" dirty="0">
                <a:solidFill>
                  <a:srgbClr val="E2E6E9"/>
                </a:solidFill>
                <a:latin typeface="Consolas" pitchFamily="34" charset="0"/>
                <a:ea typeface="Consolas" pitchFamily="34" charset="-122"/>
                <a:cs typeface="Consolas" pitchFamily="34" charset="-120"/>
              </a:rPr>
              <a:t>SQL:</a:t>
            </a:r>
            <a:endParaRPr lang="en-US" sz="850" dirty="0"/>
          </a:p>
        </p:txBody>
      </p:sp>
      <p:sp>
        <p:nvSpPr>
          <p:cNvPr id="8" name="Shape 6"/>
          <p:cNvSpPr/>
          <p:nvPr/>
        </p:nvSpPr>
        <p:spPr>
          <a:xfrm>
            <a:off x="7376755" y="2297192"/>
            <a:ext cx="3899892" cy="2855238"/>
          </a:xfrm>
          <a:prstGeom prst="roundRect">
            <a:avLst>
              <a:gd name="adj" fmla="val 568"/>
            </a:avLst>
          </a:prstGeom>
          <a:solidFill>
            <a:srgbClr val="1D1F22"/>
          </a:solidFill>
          <a:ln/>
        </p:spPr>
      </p:sp>
      <p:sp>
        <p:nvSpPr>
          <p:cNvPr id="9" name="Text 7"/>
          <p:cNvSpPr/>
          <p:nvPr/>
        </p:nvSpPr>
        <p:spPr>
          <a:xfrm>
            <a:off x="7484864" y="2351246"/>
            <a:ext cx="1688068" cy="153591"/>
          </a:xfrm>
          <a:prstGeom prst="rect">
            <a:avLst/>
          </a:prstGeom>
          <a:noFill/>
          <a:ln/>
        </p:spPr>
        <p:txBody>
          <a:bodyPr wrap="none" lIns="0" tIns="0" rIns="0" bIns="0" rtlCol="0" anchor="t"/>
          <a:lstStyle/>
          <a:p>
            <a:pPr marL="0" indent="0" algn="l">
              <a:lnSpc>
                <a:spcPts val="1200"/>
              </a:lnSpc>
              <a:buNone/>
            </a:pPr>
            <a:r>
              <a:rPr lang="en-US" sz="950" b="1" dirty="0">
                <a:solidFill>
                  <a:srgbClr val="FFFFFF"/>
                </a:solidFill>
                <a:latin typeface="Montserrat Bold" pitchFamily="34" charset="0"/>
                <a:ea typeface="Montserrat Bold" pitchFamily="34" charset="-122"/>
                <a:cs typeface="Montserrat Bold" pitchFamily="34" charset="-120"/>
              </a:rPr>
              <a:t>What llama3.1-70b returns</a:t>
            </a:r>
            <a:endParaRPr lang="en-US" sz="950" dirty="0"/>
          </a:p>
        </p:txBody>
      </p:sp>
      <p:sp>
        <p:nvSpPr>
          <p:cNvPr id="10" name="Shape 8"/>
          <p:cNvSpPr/>
          <p:nvPr/>
        </p:nvSpPr>
        <p:spPr>
          <a:xfrm>
            <a:off x="7484864" y="2565678"/>
            <a:ext cx="3683675" cy="2282785"/>
          </a:xfrm>
          <a:prstGeom prst="roundRect">
            <a:avLst>
              <a:gd name="adj" fmla="val 711"/>
            </a:avLst>
          </a:prstGeom>
          <a:solidFill>
            <a:srgbClr val="2A2C2F"/>
          </a:solidFill>
          <a:ln/>
        </p:spPr>
      </p:sp>
      <p:sp>
        <p:nvSpPr>
          <p:cNvPr id="11" name="Shape 9"/>
          <p:cNvSpPr/>
          <p:nvPr/>
        </p:nvSpPr>
        <p:spPr>
          <a:xfrm>
            <a:off x="7479506" y="2565678"/>
            <a:ext cx="3694390" cy="2282785"/>
          </a:xfrm>
          <a:prstGeom prst="roundRect">
            <a:avLst>
              <a:gd name="adj" fmla="val 711"/>
            </a:avLst>
          </a:prstGeom>
          <a:solidFill>
            <a:srgbClr val="2A2C2F"/>
          </a:solidFill>
          <a:ln/>
        </p:spPr>
      </p:sp>
      <p:sp>
        <p:nvSpPr>
          <p:cNvPr id="12" name="Text 10"/>
          <p:cNvSpPr/>
          <p:nvPr/>
        </p:nvSpPr>
        <p:spPr>
          <a:xfrm>
            <a:off x="7614642" y="2673787"/>
            <a:ext cx="3424118" cy="2066568"/>
          </a:xfrm>
          <a:prstGeom prst="rect">
            <a:avLst/>
          </a:prstGeom>
          <a:noFill/>
          <a:ln/>
        </p:spPr>
        <p:txBody>
          <a:bodyPr wrap="square" lIns="0" tIns="0" rIns="0" bIns="0" rtlCol="0" anchor="t"/>
          <a:lstStyle/>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SELECT</a:t>
            </a:r>
            <a:endParaRPr lang="en-US" sz="850" dirty="0"/>
          </a:p>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  rp.cuisine_tag,</a:t>
            </a:r>
            <a:endParaRPr lang="en-US" sz="850" dirty="0"/>
          </a:p>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  COUNT(f.transaction_id) AS total_orders,</a:t>
            </a:r>
            <a:endParaRPr lang="en-US" sz="850" dirty="0"/>
          </a:p>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  ROUND(SUM(f.net_amount), 2)</a:t>
            </a:r>
            <a:endParaRPr lang="en-US" sz="850" dirty="0"/>
          </a:p>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    AS total_net_revenue,</a:t>
            </a:r>
            <a:endParaRPr lang="en-US" sz="850" dirty="0"/>
          </a:p>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  ROUND(AVG(f.net_amount), 2)</a:t>
            </a:r>
            <a:endParaRPr lang="en-US" sz="850" dirty="0"/>
          </a:p>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    AS avg_order_value</a:t>
            </a:r>
            <a:endParaRPr lang="en-US" sz="850" dirty="0"/>
          </a:p>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FROM SWIGGY_MASTER.DEV</a:t>
            </a:r>
            <a:endParaRPr lang="en-US" sz="850" dirty="0"/>
          </a:p>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     .SWIGGY_FACT_TRANSACTIONS f</a:t>
            </a:r>
            <a:endParaRPr lang="en-US" sz="850" dirty="0"/>
          </a:p>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JOIN SWIGGY_MASTER.DEV</a:t>
            </a:r>
            <a:endParaRPr lang="en-US" sz="850" dirty="0"/>
          </a:p>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     .SWIGGY_DIM_RESTAURANT_PRODUCT rp</a:t>
            </a:r>
            <a:endParaRPr lang="en-US" sz="850" dirty="0"/>
          </a:p>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  ON f.restaurant_product_id =</a:t>
            </a:r>
            <a:endParaRPr lang="en-US" sz="850" dirty="0"/>
          </a:p>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     rp.restaurant_product_id</a:t>
            </a:r>
            <a:endParaRPr lang="en-US" sz="850" dirty="0"/>
          </a:p>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WHERE f.city = 'Bangalore'  -- resolved from history</a:t>
            </a:r>
            <a:endParaRPr lang="en-US" sz="850" dirty="0"/>
          </a:p>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GROUP BY rp.cuisine_tag</a:t>
            </a:r>
            <a:endParaRPr lang="en-US" sz="850" dirty="0"/>
          </a:p>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ORDER BY total_orders DESC</a:t>
            </a:r>
            <a:endParaRPr lang="en-US" sz="850" dirty="0"/>
          </a:p>
          <a:p>
            <a:pPr marL="0" indent="0" algn="l">
              <a:lnSpc>
                <a:spcPts val="950"/>
              </a:lnSpc>
              <a:buNone/>
            </a:pPr>
            <a:r>
              <a:rPr lang="en-US" sz="850" dirty="0">
                <a:solidFill>
                  <a:srgbClr val="FF7B72"/>
                </a:solidFill>
                <a:highlight>
                  <a:srgbClr val="2A2C2F"/>
                </a:highlight>
                <a:latin typeface="Consolas" pitchFamily="34" charset="0"/>
                <a:ea typeface="Consolas" pitchFamily="34" charset="-122"/>
                <a:cs typeface="Consolas" pitchFamily="34" charset="-120"/>
              </a:rPr>
              <a:t>LIMIT 500;</a:t>
            </a:r>
            <a:endParaRPr lang="en-US" sz="850" dirty="0"/>
          </a:p>
        </p:txBody>
      </p:sp>
      <p:sp>
        <p:nvSpPr>
          <p:cNvPr id="13" name="Shape 11"/>
          <p:cNvSpPr/>
          <p:nvPr/>
        </p:nvSpPr>
        <p:spPr>
          <a:xfrm>
            <a:off x="3439001" y="5213271"/>
            <a:ext cx="7752278" cy="943094"/>
          </a:xfrm>
          <a:prstGeom prst="roundRect">
            <a:avLst>
              <a:gd name="adj" fmla="val 1720"/>
            </a:avLst>
          </a:prstGeom>
          <a:noFill/>
          <a:ln w="7620">
            <a:solidFill>
              <a:srgbClr val="FFFFFF">
                <a:alpha val="24000"/>
              </a:srgbClr>
            </a:solidFill>
            <a:prstDash val="solid"/>
          </a:ln>
        </p:spPr>
      </p:sp>
      <p:sp>
        <p:nvSpPr>
          <p:cNvPr id="14" name="Shape 12"/>
          <p:cNvSpPr/>
          <p:nvPr/>
        </p:nvSpPr>
        <p:spPr>
          <a:xfrm>
            <a:off x="3446621" y="5220891"/>
            <a:ext cx="7736205" cy="201573"/>
          </a:xfrm>
          <a:prstGeom prst="rect">
            <a:avLst/>
          </a:prstGeom>
          <a:solidFill>
            <a:srgbClr val="FFFFFF">
              <a:alpha val="4000"/>
            </a:srgbClr>
          </a:solidFill>
          <a:ln/>
        </p:spPr>
      </p:sp>
      <p:sp>
        <p:nvSpPr>
          <p:cNvPr id="15" name="Text 13"/>
          <p:cNvSpPr/>
          <p:nvPr/>
        </p:nvSpPr>
        <p:spPr>
          <a:xfrm>
            <a:off x="3555683" y="5260896"/>
            <a:ext cx="2358390" cy="121563"/>
          </a:xfrm>
          <a:prstGeom prst="rect">
            <a:avLst/>
          </a:prstGeom>
          <a:noFill/>
          <a:ln/>
        </p:spPr>
        <p:txBody>
          <a:bodyPr wrap="none" lIns="0" tIns="0" rIns="0" bIns="0" rtlCol="0" anchor="t"/>
          <a:lstStyle/>
          <a:p>
            <a:pPr marL="0" indent="0" algn="l">
              <a:lnSpc>
                <a:spcPts val="950"/>
              </a:lnSpc>
              <a:buNone/>
            </a:pPr>
            <a:r>
              <a:rPr lang="en-US" sz="850" b="1" dirty="0">
                <a:solidFill>
                  <a:srgbClr val="E2E6E9"/>
                </a:solidFill>
                <a:latin typeface="Source Sans 3" pitchFamily="34" charset="0"/>
                <a:ea typeface="Source Sans 3" pitchFamily="34" charset="-122"/>
                <a:cs typeface="Source Sans 3" pitchFamily="34" charset="-120"/>
              </a:rPr>
              <a:t>Task</a:t>
            </a:r>
            <a:endParaRPr lang="en-US" sz="850" dirty="0"/>
          </a:p>
        </p:txBody>
      </p:sp>
      <p:sp>
        <p:nvSpPr>
          <p:cNvPr id="16" name="Text 14"/>
          <p:cNvSpPr/>
          <p:nvPr/>
        </p:nvSpPr>
        <p:spPr>
          <a:xfrm>
            <a:off x="6137910" y="5260896"/>
            <a:ext cx="2354580" cy="121563"/>
          </a:xfrm>
          <a:prstGeom prst="rect">
            <a:avLst/>
          </a:prstGeom>
          <a:noFill/>
          <a:ln/>
        </p:spPr>
        <p:txBody>
          <a:bodyPr wrap="none" lIns="0" tIns="0" rIns="0" bIns="0" rtlCol="0" anchor="t"/>
          <a:lstStyle/>
          <a:p>
            <a:pPr marL="0" indent="0" algn="l">
              <a:lnSpc>
                <a:spcPts val="950"/>
              </a:lnSpc>
              <a:buNone/>
            </a:pPr>
            <a:r>
              <a:rPr lang="en-US" sz="850" b="1" dirty="0">
                <a:solidFill>
                  <a:srgbClr val="E2E6E9"/>
                </a:solidFill>
                <a:latin typeface="Source Sans 3" pitchFamily="34" charset="0"/>
                <a:ea typeface="Source Sans 3" pitchFamily="34" charset="-122"/>
                <a:cs typeface="Source Sans 3" pitchFamily="34" charset="-120"/>
              </a:rPr>
              <a:t>Model</a:t>
            </a:r>
            <a:endParaRPr lang="en-US" sz="850" dirty="0"/>
          </a:p>
        </p:txBody>
      </p:sp>
      <p:sp>
        <p:nvSpPr>
          <p:cNvPr id="17" name="Text 15"/>
          <p:cNvSpPr/>
          <p:nvPr/>
        </p:nvSpPr>
        <p:spPr>
          <a:xfrm>
            <a:off x="8716328" y="5260896"/>
            <a:ext cx="2358390" cy="121563"/>
          </a:xfrm>
          <a:prstGeom prst="rect">
            <a:avLst/>
          </a:prstGeom>
          <a:noFill/>
          <a:ln/>
        </p:spPr>
        <p:txBody>
          <a:bodyPr wrap="none" lIns="0" tIns="0" rIns="0" bIns="0" rtlCol="0" anchor="t"/>
          <a:lstStyle/>
          <a:p>
            <a:pPr marL="0" indent="0" algn="l">
              <a:lnSpc>
                <a:spcPts val="950"/>
              </a:lnSpc>
              <a:buNone/>
            </a:pPr>
            <a:r>
              <a:rPr lang="en-US" sz="850" b="1" dirty="0">
                <a:solidFill>
                  <a:srgbClr val="E2E6E9"/>
                </a:solidFill>
                <a:latin typeface="Source Sans 3" pitchFamily="34" charset="0"/>
                <a:ea typeface="Source Sans 3" pitchFamily="34" charset="-122"/>
                <a:cs typeface="Source Sans 3" pitchFamily="34" charset="-120"/>
              </a:rPr>
              <a:t>Why</a:t>
            </a:r>
            <a:endParaRPr lang="en-US" sz="850" dirty="0"/>
          </a:p>
        </p:txBody>
      </p:sp>
      <p:sp>
        <p:nvSpPr>
          <p:cNvPr id="18" name="Shape 16"/>
          <p:cNvSpPr/>
          <p:nvPr/>
        </p:nvSpPr>
        <p:spPr>
          <a:xfrm>
            <a:off x="3446621" y="5422463"/>
            <a:ext cx="7736205" cy="323136"/>
          </a:xfrm>
          <a:prstGeom prst="rect">
            <a:avLst/>
          </a:prstGeom>
          <a:solidFill>
            <a:srgbClr val="000000">
              <a:alpha val="4000"/>
            </a:srgbClr>
          </a:solidFill>
          <a:ln/>
        </p:spPr>
      </p:sp>
      <p:sp>
        <p:nvSpPr>
          <p:cNvPr id="19" name="Text 17"/>
          <p:cNvSpPr/>
          <p:nvPr/>
        </p:nvSpPr>
        <p:spPr>
          <a:xfrm>
            <a:off x="3555683" y="5462468"/>
            <a:ext cx="2358390" cy="121563"/>
          </a:xfrm>
          <a:prstGeom prst="rect">
            <a:avLst/>
          </a:prstGeom>
          <a:noFill/>
          <a:ln/>
        </p:spPr>
        <p:txBody>
          <a:bodyPr wrap="non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SQL Generation</a:t>
            </a:r>
            <a:endParaRPr lang="en-US" sz="850" dirty="0"/>
          </a:p>
        </p:txBody>
      </p:sp>
      <p:sp>
        <p:nvSpPr>
          <p:cNvPr id="20" name="Text 18"/>
          <p:cNvSpPr/>
          <p:nvPr/>
        </p:nvSpPr>
        <p:spPr>
          <a:xfrm>
            <a:off x="6137910" y="5462468"/>
            <a:ext cx="2354580" cy="121563"/>
          </a:xfrm>
          <a:prstGeom prst="rect">
            <a:avLst/>
          </a:prstGeom>
          <a:noFill/>
          <a:ln/>
        </p:spPr>
        <p:txBody>
          <a:bodyPr wrap="non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llama3.1-70b</a:t>
            </a:r>
            <a:endParaRPr lang="en-US" sz="850" dirty="0"/>
          </a:p>
        </p:txBody>
      </p:sp>
      <p:sp>
        <p:nvSpPr>
          <p:cNvPr id="21" name="Text 19"/>
          <p:cNvSpPr/>
          <p:nvPr/>
        </p:nvSpPr>
        <p:spPr>
          <a:xfrm>
            <a:off x="8716328" y="5462468"/>
            <a:ext cx="2358390" cy="243126"/>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Complex reasoning: schema, multi-table joins, precise rule-following</a:t>
            </a:r>
            <a:endParaRPr lang="en-US" sz="850" dirty="0"/>
          </a:p>
        </p:txBody>
      </p:sp>
      <p:sp>
        <p:nvSpPr>
          <p:cNvPr id="22" name="Shape 20"/>
          <p:cNvSpPr/>
          <p:nvPr/>
        </p:nvSpPr>
        <p:spPr>
          <a:xfrm>
            <a:off x="3446621" y="5745599"/>
            <a:ext cx="7736205" cy="201573"/>
          </a:xfrm>
          <a:prstGeom prst="rect">
            <a:avLst/>
          </a:prstGeom>
          <a:solidFill>
            <a:srgbClr val="FFFFFF">
              <a:alpha val="4000"/>
            </a:srgbClr>
          </a:solidFill>
          <a:ln/>
        </p:spPr>
      </p:sp>
      <p:sp>
        <p:nvSpPr>
          <p:cNvPr id="23" name="Text 21"/>
          <p:cNvSpPr/>
          <p:nvPr/>
        </p:nvSpPr>
        <p:spPr>
          <a:xfrm>
            <a:off x="3555683" y="5785604"/>
            <a:ext cx="2358390" cy="121563"/>
          </a:xfrm>
          <a:prstGeom prst="rect">
            <a:avLst/>
          </a:prstGeom>
          <a:noFill/>
          <a:ln/>
        </p:spPr>
        <p:txBody>
          <a:bodyPr wrap="non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Narrative Generation</a:t>
            </a:r>
            <a:endParaRPr lang="en-US" sz="850" dirty="0"/>
          </a:p>
        </p:txBody>
      </p:sp>
      <p:sp>
        <p:nvSpPr>
          <p:cNvPr id="24" name="Text 22"/>
          <p:cNvSpPr/>
          <p:nvPr/>
        </p:nvSpPr>
        <p:spPr>
          <a:xfrm>
            <a:off x="6137910" y="5785604"/>
            <a:ext cx="2354580" cy="121563"/>
          </a:xfrm>
          <a:prstGeom prst="rect">
            <a:avLst/>
          </a:prstGeom>
          <a:noFill/>
          <a:ln/>
        </p:spPr>
        <p:txBody>
          <a:bodyPr wrap="non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llama3.1-8b</a:t>
            </a:r>
            <a:endParaRPr lang="en-US" sz="850" dirty="0"/>
          </a:p>
        </p:txBody>
      </p:sp>
      <p:sp>
        <p:nvSpPr>
          <p:cNvPr id="25" name="Text 23"/>
          <p:cNvSpPr/>
          <p:nvPr/>
        </p:nvSpPr>
        <p:spPr>
          <a:xfrm>
            <a:off x="8716328" y="5785604"/>
            <a:ext cx="2358390" cy="121563"/>
          </a:xfrm>
          <a:prstGeom prst="rect">
            <a:avLst/>
          </a:prstGeom>
          <a:noFill/>
          <a:ln/>
        </p:spPr>
        <p:txBody>
          <a:bodyPr wrap="non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Fast, sufficient for 2-3 sentence summaries</a:t>
            </a:r>
            <a:endParaRPr lang="en-US" sz="850" dirty="0"/>
          </a:p>
        </p:txBody>
      </p:sp>
      <p:sp>
        <p:nvSpPr>
          <p:cNvPr id="26" name="Shape 24"/>
          <p:cNvSpPr/>
          <p:nvPr/>
        </p:nvSpPr>
        <p:spPr>
          <a:xfrm>
            <a:off x="3446621" y="5947172"/>
            <a:ext cx="7736205" cy="201573"/>
          </a:xfrm>
          <a:prstGeom prst="rect">
            <a:avLst/>
          </a:prstGeom>
          <a:solidFill>
            <a:srgbClr val="000000">
              <a:alpha val="4000"/>
            </a:srgbClr>
          </a:solidFill>
          <a:ln/>
        </p:spPr>
      </p:sp>
      <p:sp>
        <p:nvSpPr>
          <p:cNvPr id="27" name="Text 25"/>
          <p:cNvSpPr/>
          <p:nvPr/>
        </p:nvSpPr>
        <p:spPr>
          <a:xfrm>
            <a:off x="3555683" y="5987177"/>
            <a:ext cx="2358390" cy="121563"/>
          </a:xfrm>
          <a:prstGeom prst="rect">
            <a:avLst/>
          </a:prstGeom>
          <a:noFill/>
          <a:ln/>
        </p:spPr>
        <p:txBody>
          <a:bodyPr wrap="non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Intent Classification</a:t>
            </a:r>
            <a:endParaRPr lang="en-US" sz="850" dirty="0"/>
          </a:p>
        </p:txBody>
      </p:sp>
      <p:sp>
        <p:nvSpPr>
          <p:cNvPr id="28" name="Text 26"/>
          <p:cNvSpPr/>
          <p:nvPr/>
        </p:nvSpPr>
        <p:spPr>
          <a:xfrm>
            <a:off x="6137910" y="5987177"/>
            <a:ext cx="2354580" cy="121563"/>
          </a:xfrm>
          <a:prstGeom prst="rect">
            <a:avLst/>
          </a:prstGeom>
          <a:noFill/>
          <a:ln/>
        </p:spPr>
        <p:txBody>
          <a:bodyPr wrap="non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llama3.1-8b</a:t>
            </a:r>
            <a:endParaRPr lang="en-US" sz="850" dirty="0"/>
          </a:p>
        </p:txBody>
      </p:sp>
      <p:sp>
        <p:nvSpPr>
          <p:cNvPr id="29" name="Text 27"/>
          <p:cNvSpPr/>
          <p:nvPr/>
        </p:nvSpPr>
        <p:spPr>
          <a:xfrm>
            <a:off x="8716328" y="5987177"/>
            <a:ext cx="2358390" cy="121563"/>
          </a:xfrm>
          <a:prstGeom prst="rect">
            <a:avLst/>
          </a:prstGeom>
          <a:noFill/>
          <a:ln/>
        </p:spPr>
        <p:txBody>
          <a:bodyPr wrap="non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Simple binary choice — fast model is optimal</a:t>
            </a:r>
            <a:endParaRPr lang="en-US" sz="850" dirty="0"/>
          </a:p>
        </p:txBody>
      </p:sp>
      <p:sp>
        <p:nvSpPr>
          <p:cNvPr id="30" name="Shape 28"/>
          <p:cNvSpPr/>
          <p:nvPr/>
        </p:nvSpPr>
        <p:spPr>
          <a:xfrm>
            <a:off x="3439001" y="6217206"/>
            <a:ext cx="7752278" cy="434578"/>
          </a:xfrm>
          <a:prstGeom prst="roundRect">
            <a:avLst>
              <a:gd name="adj" fmla="val 3733"/>
            </a:avLst>
          </a:prstGeom>
          <a:solidFill>
            <a:srgbClr val="262626"/>
          </a:solidFill>
          <a:ln/>
        </p:spPr>
      </p:sp>
      <p:pic>
        <p:nvPicPr>
          <p:cNvPr id="31" name="Image 0" descr="preencoded.png"/>
          <p:cNvPicPr>
            <a:picLocks noChangeAspect="1"/>
          </p:cNvPicPr>
          <p:nvPr/>
        </p:nvPicPr>
        <p:blipFill>
          <a:blip r:embed="rId3"/>
          <a:stretch>
            <a:fillRect/>
          </a:stretch>
        </p:blipFill>
        <p:spPr>
          <a:xfrm>
            <a:off x="3547110" y="6352342"/>
            <a:ext cx="135136" cy="108109"/>
          </a:xfrm>
          <a:prstGeom prst="rect">
            <a:avLst/>
          </a:prstGeom>
        </p:spPr>
      </p:pic>
      <p:sp>
        <p:nvSpPr>
          <p:cNvPr id="32" name="Text 29"/>
          <p:cNvSpPr/>
          <p:nvPr/>
        </p:nvSpPr>
        <p:spPr>
          <a:xfrm>
            <a:off x="3790355" y="6298287"/>
            <a:ext cx="7292816" cy="250746"/>
          </a:xfrm>
          <a:prstGeom prst="rect">
            <a:avLst/>
          </a:prstGeom>
          <a:noFill/>
          <a:ln/>
        </p:spPr>
        <p:txBody>
          <a:bodyPr wrap="square" lIns="0" tIns="0" rIns="0" bIns="0" rtlCol="0" anchor="t"/>
          <a:lstStyle/>
          <a:p>
            <a:pPr marL="0" indent="0" algn="l">
              <a:lnSpc>
                <a:spcPts val="950"/>
              </a:lnSpc>
              <a:buNone/>
            </a:pPr>
            <a:r>
              <a:rPr lang="en-US" sz="850" dirty="0">
                <a:solidFill>
                  <a:srgbClr val="FFFFFF"/>
                </a:solidFill>
                <a:latin typeface="Source Sans 3" pitchFamily="34" charset="0"/>
                <a:ea typeface="Source Sans 3" pitchFamily="34" charset="-122"/>
                <a:cs typeface="Source Sans 3" pitchFamily="34" charset="-120"/>
              </a:rPr>
              <a:t>The history context resolving "that breakdown" to "Bangalore + restaurants" is </a:t>
            </a:r>
            <a:r>
              <a:rPr lang="en-US" sz="850" b="1" dirty="0">
                <a:solidFill>
                  <a:srgbClr val="FFFFFF"/>
                </a:solidFill>
                <a:latin typeface="Source Sans 3" pitchFamily="34" charset="0"/>
                <a:ea typeface="Source Sans 3" pitchFamily="34" charset="-122"/>
                <a:cs typeface="Source Sans 3" pitchFamily="34" charset="-120"/>
              </a:rPr>
              <a:t>multi-turn SQL generation</a:t>
            </a:r>
            <a:r>
              <a:rPr lang="en-US" sz="850" dirty="0">
                <a:solidFill>
                  <a:srgbClr val="FFFFFF"/>
                </a:solidFill>
                <a:latin typeface="Source Sans 3" pitchFamily="34" charset="0"/>
                <a:ea typeface="Source Sans 3" pitchFamily="34" charset="-122"/>
                <a:cs typeface="Source Sans 3" pitchFamily="34" charset="-120"/>
              </a:rPr>
              <a:t>. Without the ASSISTANT_SQL in history, "that" has no referent and the LLM writes a generic query. This is why </a:t>
            </a:r>
            <a:r>
              <a:rPr lang="en-US" sz="850" dirty="0">
                <a:solidFill>
                  <a:srgbClr val="FFFFFF"/>
                </a:solidFill>
                <a:highlight>
                  <a:srgbClr val="1E1F20"/>
                </a:highlight>
                <a:latin typeface="Consolas" pitchFamily="34" charset="0"/>
                <a:ea typeface="Consolas" pitchFamily="34" charset="-122"/>
                <a:cs typeface="Consolas" pitchFamily="34" charset="-120"/>
              </a:rPr>
              <a:t>_build_history_context()</a:t>
            </a:r>
            <a:r>
              <a:rPr lang="en-US" sz="850" dirty="0">
                <a:solidFill>
                  <a:srgbClr val="FFFFFF"/>
                </a:solidFill>
                <a:latin typeface="Source Sans 3" pitchFamily="34" charset="0"/>
                <a:ea typeface="Source Sans 3" pitchFamily="34" charset="-122"/>
                <a:cs typeface="Source Sans 3" pitchFamily="34" charset="-120"/>
              </a:rPr>
              <a:t> includes previous SQLs, not just previous questions.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3083957" y="1235273"/>
            <a:ext cx="8462367" cy="670560"/>
          </a:xfrm>
          <a:prstGeom prst="rect">
            <a:avLst/>
          </a:prstGeom>
          <a:noFill/>
          <a:ln/>
        </p:spPr>
        <p:txBody>
          <a:bodyPr wrap="square" lIns="0" tIns="0" rIns="0" bIns="0" rtlCol="0" anchor="t"/>
          <a:lstStyle/>
          <a:p>
            <a:pPr marL="0" indent="0" algn="l">
              <a:lnSpc>
                <a:spcPts val="2600"/>
              </a:lnSpc>
              <a:buNone/>
            </a:pPr>
            <a:r>
              <a:rPr lang="en-US" sz="2100" b="1" dirty="0">
                <a:solidFill>
                  <a:srgbClr val="FFFFFF"/>
                </a:solidFill>
                <a:latin typeface="Montserrat Bold" pitchFamily="34" charset="0"/>
                <a:ea typeface="Montserrat Bold" pitchFamily="34" charset="-122"/>
                <a:cs typeface="Montserrat Bold" pitchFamily="34" charset="-120"/>
              </a:rPr>
              <a:t>_extract_sql() and _validate_sql() — Cleaning and Safeguarding LLM Output</a:t>
            </a:r>
            <a:endParaRPr lang="en-US" sz="2100" dirty="0"/>
          </a:p>
        </p:txBody>
      </p:sp>
      <p:sp>
        <p:nvSpPr>
          <p:cNvPr id="3" name="Text 1"/>
          <p:cNvSpPr/>
          <p:nvPr/>
        </p:nvSpPr>
        <p:spPr>
          <a:xfrm>
            <a:off x="3083957" y="2034778"/>
            <a:ext cx="8462367" cy="273606"/>
          </a:xfrm>
          <a:prstGeom prst="rect">
            <a:avLst/>
          </a:prstGeom>
          <a:noFill/>
          <a:ln/>
        </p:spPr>
        <p:txBody>
          <a:bodyPr wrap="square" lIns="0" tIns="0" rIns="0" bIns="0" rtlCol="0" anchor="t"/>
          <a:lstStyle/>
          <a:p>
            <a:pPr marL="0" indent="0" algn="l">
              <a:lnSpc>
                <a:spcPts val="1050"/>
              </a:lnSpc>
              <a:buNone/>
            </a:pPr>
            <a:r>
              <a:rPr lang="en-US" sz="900" dirty="0">
                <a:solidFill>
                  <a:srgbClr val="E2E6E9"/>
                </a:solidFill>
                <a:latin typeface="Source Sans 3" pitchFamily="34" charset="0"/>
                <a:ea typeface="Source Sans 3" pitchFamily="34" charset="-122"/>
                <a:cs typeface="Source Sans 3" pitchFamily="34" charset="-120"/>
              </a:rPr>
              <a:t>LLMs do not always return clean SQL — they often add explanation text, markdown fences, or trailing commentary. These two functions clean and safety-check the output before it ever touches the database.</a:t>
            </a:r>
            <a:endParaRPr lang="en-US" sz="900" dirty="0"/>
          </a:p>
        </p:txBody>
      </p:sp>
      <p:sp>
        <p:nvSpPr>
          <p:cNvPr id="4" name="Text 2"/>
          <p:cNvSpPr/>
          <p:nvPr/>
        </p:nvSpPr>
        <p:spPr>
          <a:xfrm>
            <a:off x="3083957" y="2445306"/>
            <a:ext cx="2485192" cy="167640"/>
          </a:xfrm>
          <a:prstGeom prst="rect">
            <a:avLst/>
          </a:prstGeom>
          <a:noFill/>
          <a:ln/>
        </p:spPr>
        <p:txBody>
          <a:bodyPr wrap="none" lIns="0" tIns="0" rIns="0" bIns="0" rtlCol="0" anchor="t"/>
          <a:lstStyle/>
          <a:p>
            <a:pPr marL="0" indent="0" algn="l">
              <a:lnSpc>
                <a:spcPts val="1300"/>
              </a:lnSpc>
              <a:buNone/>
            </a:pPr>
            <a:r>
              <a:rPr lang="en-US" sz="1050" b="1" dirty="0">
                <a:solidFill>
                  <a:srgbClr val="FFFFFF"/>
                </a:solidFill>
                <a:latin typeface="Montserrat Bold" pitchFamily="34" charset="0"/>
                <a:ea typeface="Montserrat Bold" pitchFamily="34" charset="-122"/>
                <a:cs typeface="Montserrat Bold" pitchFamily="34" charset="-120"/>
              </a:rPr>
              <a:t>_extract_sql() — four cleaning steps</a:t>
            </a:r>
            <a:endParaRPr lang="en-US" sz="1050" dirty="0"/>
          </a:p>
        </p:txBody>
      </p:sp>
      <p:sp>
        <p:nvSpPr>
          <p:cNvPr id="5" name="Shape 3"/>
          <p:cNvSpPr/>
          <p:nvPr/>
        </p:nvSpPr>
        <p:spPr>
          <a:xfrm>
            <a:off x="3083957" y="2685455"/>
            <a:ext cx="4087178" cy="2698433"/>
          </a:xfrm>
          <a:prstGeom prst="roundRect">
            <a:avLst>
              <a:gd name="adj" fmla="val 656"/>
            </a:avLst>
          </a:prstGeom>
          <a:solidFill>
            <a:srgbClr val="1E1F20"/>
          </a:solidFill>
          <a:ln/>
        </p:spPr>
      </p:sp>
      <p:sp>
        <p:nvSpPr>
          <p:cNvPr id="6" name="Shape 4"/>
          <p:cNvSpPr/>
          <p:nvPr/>
        </p:nvSpPr>
        <p:spPr>
          <a:xfrm>
            <a:off x="3078123" y="2685455"/>
            <a:ext cx="4098846" cy="2698433"/>
          </a:xfrm>
          <a:prstGeom prst="roundRect">
            <a:avLst>
              <a:gd name="adj" fmla="val 656"/>
            </a:avLst>
          </a:prstGeom>
          <a:solidFill>
            <a:srgbClr val="1E1F20"/>
          </a:solidFill>
          <a:ln/>
        </p:spPr>
      </p:sp>
      <p:sp>
        <p:nvSpPr>
          <p:cNvPr id="7" name="Text 5"/>
          <p:cNvSpPr/>
          <p:nvPr/>
        </p:nvSpPr>
        <p:spPr>
          <a:xfrm>
            <a:off x="3225641" y="2803446"/>
            <a:ext cx="3803809" cy="2462451"/>
          </a:xfrm>
          <a:prstGeom prst="rect">
            <a:avLst/>
          </a:prstGeom>
          <a:noFill/>
          <a:ln/>
        </p:spPr>
        <p:txBody>
          <a:bodyPr wrap="square" lIns="0" tIns="0" rIns="0" bIns="0" rtlCol="0" anchor="t"/>
          <a:lstStyle/>
          <a:p>
            <a:pPr marL="0" indent="0" algn="l">
              <a:lnSpc>
                <a:spcPts val="1050"/>
              </a:lnSpc>
              <a:buNone/>
            </a:pPr>
            <a:r>
              <a:rPr lang="en-US" sz="900" dirty="0">
                <a:solidFill>
                  <a:srgbClr val="8B949E"/>
                </a:solidFill>
                <a:highlight>
                  <a:srgbClr val="1E1F20"/>
                </a:highlight>
                <a:latin typeface="Consolas" pitchFamily="34" charset="0"/>
                <a:ea typeface="Consolas" pitchFamily="34" charset="-122"/>
                <a:cs typeface="Consolas" pitchFamily="34" charset="-120"/>
              </a:rPr>
              <a:t># Step 1: Strip markdown fences</a:t>
            </a:r>
            <a:endParaRPr lang="en-US" sz="900" dirty="0"/>
          </a:p>
          <a:p>
            <a:pPr marL="0" indent="0" algn="l">
              <a:lnSpc>
                <a:spcPts val="1050"/>
              </a:lnSpc>
              <a:buNone/>
            </a:pPr>
            <a:r>
              <a:rPr lang="en-US" sz="900" dirty="0">
                <a:solidFill>
                  <a:srgbClr val="8B949E"/>
                </a:solidFill>
                <a:highlight>
                  <a:srgbClr val="1E1F20"/>
                </a:highlight>
                <a:latin typeface="Consolas" pitchFamily="34" charset="0"/>
                <a:ea typeface="Consolas" pitchFamily="34" charset="-122"/>
                <a:cs typeface="Consolas" pitchFamily="34" charset="-120"/>
              </a:rPr>
              <a:t># Input:  ```sql SELECT restaurant_name...</a:t>
            </a:r>
            <a:endParaRPr lang="en-US" sz="900" dirty="0"/>
          </a:p>
          <a:p>
            <a:pPr marL="0" indent="0" algn="l">
              <a:lnSpc>
                <a:spcPts val="1050"/>
              </a:lnSpc>
              <a:buNone/>
            </a:pPr>
            <a:r>
              <a:rPr lang="en-US" sz="900" dirty="0">
                <a:solidFill>
                  <a:srgbClr val="8B949E"/>
                </a:solidFill>
                <a:highlight>
                  <a:srgbClr val="1E1F20"/>
                </a:highlight>
                <a:latin typeface="Consolas" pitchFamily="34" charset="0"/>
                <a:ea typeface="Consolas" pitchFamily="34" charset="-122"/>
                <a:cs typeface="Consolas" pitchFamily="34" charset="-120"/>
              </a:rPr>
              <a:t># Output: SELECT restaurant_name...</a:t>
            </a:r>
            <a:endParaRPr lang="en-US" sz="900" dirty="0"/>
          </a:p>
          <a:p>
            <a:pPr marL="0" indent="0" algn="l">
              <a:lnSpc>
                <a:spcPts val="1050"/>
              </a:lnSpc>
              <a:buNone/>
            </a:pPr>
            <a:endParaRPr lang="en-US" sz="900" dirty="0"/>
          </a:p>
          <a:p>
            <a:pPr marL="0" indent="0" algn="l">
              <a:lnSpc>
                <a:spcPts val="1050"/>
              </a:lnSpc>
              <a:buNone/>
            </a:pPr>
            <a:r>
              <a:rPr lang="en-US" sz="900" dirty="0">
                <a:solidFill>
                  <a:srgbClr val="8B949E"/>
                </a:solidFill>
                <a:highlight>
                  <a:srgbClr val="1E1F20"/>
                </a:highlight>
                <a:latin typeface="Consolas" pitchFamily="34" charset="0"/>
                <a:ea typeface="Consolas" pitchFamily="34" charset="-122"/>
                <a:cs typeface="Consolas" pitchFamily="34" charset="-120"/>
              </a:rPr>
              <a:t># Step 2: Find SELECT keyword</a:t>
            </a:r>
            <a:endParaRPr lang="en-US" sz="900" dirty="0"/>
          </a:p>
          <a:p>
            <a:pPr marL="0" indent="0" algn="l">
              <a:lnSpc>
                <a:spcPts val="1050"/>
              </a:lnSpc>
              <a:buNone/>
            </a:pPr>
            <a:r>
              <a:rPr lang="en-US" sz="900" dirty="0">
                <a:solidFill>
                  <a:srgbClr val="8B949E"/>
                </a:solidFill>
                <a:highlight>
                  <a:srgbClr val="1E1F20"/>
                </a:highlight>
                <a:latin typeface="Consolas" pitchFamily="34" charset="0"/>
                <a:ea typeface="Consolas" pitchFamily="34" charset="-122"/>
                <a:cs typeface="Consolas" pitchFamily="34" charset="-120"/>
              </a:rPr>
              <a:t>raw = re.sub(r"(?:```sql|```)", "",</a:t>
            </a:r>
            <a:endParaRPr lang="en-US" sz="900" dirty="0"/>
          </a:p>
          <a:p>
            <a:pPr marL="0" indent="0" algn="l">
              <a:lnSpc>
                <a:spcPts val="1050"/>
              </a:lnSpc>
              <a:buNone/>
            </a:pPr>
            <a:r>
              <a:rPr lang="en-US" sz="900" dirty="0">
                <a:solidFill>
                  <a:srgbClr val="8B949E"/>
                </a:solidFill>
                <a:highlight>
                  <a:srgbClr val="1E1F20"/>
                </a:highlight>
                <a:latin typeface="Consolas" pitchFamily="34" charset="0"/>
                <a:ea typeface="Consolas" pitchFamily="34" charset="-122"/>
                <a:cs typeface="Consolas" pitchFamily="34" charset="-120"/>
              </a:rPr>
              <a:t>             raw, flags=re.IGNORECASE).strip()</a:t>
            </a:r>
            <a:endParaRPr lang="en-US" sz="900" dirty="0"/>
          </a:p>
          <a:p>
            <a:pPr marL="0" indent="0" algn="l">
              <a:lnSpc>
                <a:spcPts val="1050"/>
              </a:lnSpc>
              <a:buNone/>
            </a:pPr>
            <a:r>
              <a:rPr lang="en-US" sz="900" dirty="0">
                <a:solidFill>
                  <a:srgbClr val="8B949E"/>
                </a:solidFill>
                <a:highlight>
                  <a:srgbClr val="1E1F20"/>
                </a:highlight>
                <a:latin typeface="Consolas" pitchFamily="34" charset="0"/>
                <a:ea typeface="Consolas" pitchFamily="34" charset="-122"/>
                <a:cs typeface="Consolas" pitchFamily="34" charset="-120"/>
              </a:rPr>
              <a:t>match = re.search(r"(SELECT\s.+)", raw,</a:t>
            </a:r>
            <a:endParaRPr lang="en-US" sz="900" dirty="0"/>
          </a:p>
          <a:p>
            <a:pPr marL="0" indent="0" algn="l">
              <a:lnSpc>
                <a:spcPts val="1050"/>
              </a:lnSpc>
              <a:buNone/>
            </a:pPr>
            <a:r>
              <a:rPr lang="en-US" sz="900" dirty="0">
                <a:solidFill>
                  <a:srgbClr val="8B949E"/>
                </a:solidFill>
                <a:highlight>
                  <a:srgbClr val="1E1F20"/>
                </a:highlight>
                <a:latin typeface="Consolas" pitchFamily="34" charset="0"/>
                <a:ea typeface="Consolas" pitchFamily="34" charset="-122"/>
                <a:cs typeface="Consolas" pitchFamily="34" charset="-120"/>
              </a:rPr>
              <a:t>                  re.IGNORECASE | re.DOTALL)</a:t>
            </a:r>
            <a:endParaRPr lang="en-US" sz="900" dirty="0"/>
          </a:p>
          <a:p>
            <a:pPr marL="0" indent="0" algn="l">
              <a:lnSpc>
                <a:spcPts val="1050"/>
              </a:lnSpc>
              <a:buNone/>
            </a:pPr>
            <a:endParaRPr lang="en-US" sz="900" dirty="0"/>
          </a:p>
          <a:p>
            <a:pPr marL="0" indent="0" algn="l">
              <a:lnSpc>
                <a:spcPts val="1050"/>
              </a:lnSpc>
              <a:buNone/>
            </a:pPr>
            <a:r>
              <a:rPr lang="en-US" sz="900" dirty="0">
                <a:solidFill>
                  <a:srgbClr val="8B949E"/>
                </a:solidFill>
                <a:highlight>
                  <a:srgbClr val="1E1F20"/>
                </a:highlight>
                <a:latin typeface="Consolas" pitchFamily="34" charset="0"/>
                <a:ea typeface="Consolas" pitchFamily="34" charset="-122"/>
                <a:cs typeface="Consolas" pitchFamily="34" charset="-120"/>
              </a:rPr>
              <a:t># Step 3: Cut at first semicolon</a:t>
            </a:r>
            <a:endParaRPr lang="en-US" sz="900" dirty="0"/>
          </a:p>
          <a:p>
            <a:pPr marL="0" indent="0" algn="l">
              <a:lnSpc>
                <a:spcPts val="1050"/>
              </a:lnSpc>
              <a:buNone/>
            </a:pPr>
            <a:r>
              <a:rPr lang="en-US" sz="900" dirty="0">
                <a:solidFill>
                  <a:srgbClr val="8B949E"/>
                </a:solidFill>
                <a:highlight>
                  <a:srgbClr val="1E1F20"/>
                </a:highlight>
                <a:latin typeface="Consolas" pitchFamily="34" charset="0"/>
                <a:ea typeface="Consolas" pitchFamily="34" charset="-122"/>
                <a:cs typeface="Consolas" pitchFamily="34" charset="-120"/>
              </a:rPr>
              <a:t>sql = sql.split(";")[0].strip() + ";"</a:t>
            </a:r>
            <a:endParaRPr lang="en-US" sz="900" dirty="0"/>
          </a:p>
          <a:p>
            <a:pPr marL="0" indent="0" algn="l">
              <a:lnSpc>
                <a:spcPts val="1050"/>
              </a:lnSpc>
              <a:buNone/>
            </a:pPr>
            <a:r>
              <a:rPr lang="en-US" sz="900" dirty="0">
                <a:solidFill>
                  <a:srgbClr val="8B949E"/>
                </a:solidFill>
                <a:highlight>
                  <a:srgbClr val="1E1F20"/>
                </a:highlight>
                <a:latin typeface="Consolas" pitchFamily="34" charset="0"/>
                <a:ea typeface="Consolas" pitchFamily="34" charset="-122"/>
                <a:cs typeface="Consolas" pitchFamily="34" charset="-120"/>
              </a:rPr>
              <a:t># Removes: "Note: This query returns..."</a:t>
            </a:r>
            <a:endParaRPr lang="en-US" sz="900" dirty="0"/>
          </a:p>
          <a:p>
            <a:pPr marL="0" indent="0" algn="l">
              <a:lnSpc>
                <a:spcPts val="1050"/>
              </a:lnSpc>
              <a:buNone/>
            </a:pPr>
            <a:r>
              <a:rPr lang="en-US" sz="900" dirty="0">
                <a:solidFill>
                  <a:srgbClr val="8B949E"/>
                </a:solidFill>
                <a:highlight>
                  <a:srgbClr val="1E1F20"/>
                </a:highlight>
                <a:latin typeface="Consolas" pitchFamily="34" charset="0"/>
                <a:ea typeface="Consolas" pitchFamily="34" charset="-122"/>
                <a:cs typeface="Consolas" pitchFamily="34" charset="-120"/>
              </a:rPr>
              <a:t># that LLMs append after the semicolon</a:t>
            </a:r>
            <a:endParaRPr lang="en-US" sz="900" dirty="0"/>
          </a:p>
          <a:p>
            <a:pPr marL="0" indent="0" algn="l">
              <a:lnSpc>
                <a:spcPts val="1050"/>
              </a:lnSpc>
              <a:buNone/>
            </a:pPr>
            <a:endParaRPr lang="en-US" sz="900" dirty="0"/>
          </a:p>
          <a:p>
            <a:pPr marL="0" indent="0" algn="l">
              <a:lnSpc>
                <a:spcPts val="1050"/>
              </a:lnSpc>
              <a:buNone/>
            </a:pPr>
            <a:r>
              <a:rPr lang="en-US" sz="900" dirty="0">
                <a:solidFill>
                  <a:srgbClr val="8B949E"/>
                </a:solidFill>
                <a:highlight>
                  <a:srgbClr val="1E1F20"/>
                </a:highlight>
                <a:latin typeface="Consolas" pitchFamily="34" charset="0"/>
                <a:ea typeface="Consolas" pitchFamily="34" charset="-122"/>
                <a:cs typeface="Consolas" pitchFamily="34" charset="-120"/>
              </a:rPr>
              <a:t># Step 4: Return clean SQL</a:t>
            </a:r>
            <a:endParaRPr lang="en-US" sz="900" dirty="0"/>
          </a:p>
          <a:p>
            <a:pPr marL="0" indent="0" algn="l">
              <a:lnSpc>
                <a:spcPts val="1050"/>
              </a:lnSpc>
              <a:buNone/>
            </a:pPr>
            <a:r>
              <a:rPr lang="en-US" sz="900" dirty="0">
                <a:solidFill>
                  <a:srgbClr val="8B949E"/>
                </a:solidFill>
                <a:highlight>
                  <a:srgbClr val="1E1F20"/>
                </a:highlight>
                <a:latin typeface="Consolas" pitchFamily="34" charset="0"/>
                <a:ea typeface="Consolas" pitchFamily="34" charset="-122"/>
                <a:cs typeface="Consolas" pitchFamily="34" charset="-120"/>
              </a:rPr>
              <a:t># If no SELECT found → return raw string</a:t>
            </a:r>
            <a:endParaRPr lang="en-US" sz="900" dirty="0"/>
          </a:p>
          <a:p>
            <a:pPr marL="0" indent="0" algn="l">
              <a:lnSpc>
                <a:spcPts val="1050"/>
              </a:lnSpc>
              <a:buNone/>
            </a:pPr>
            <a:r>
              <a:rPr lang="en-US" sz="900" dirty="0">
                <a:solidFill>
                  <a:srgbClr val="8B949E"/>
                </a:solidFill>
                <a:highlight>
                  <a:srgbClr val="1E1F20"/>
                </a:highlight>
                <a:latin typeface="Consolas" pitchFamily="34" charset="0"/>
                <a:ea typeface="Consolas" pitchFamily="34" charset="-122"/>
                <a:cs typeface="Consolas" pitchFamily="34" charset="-120"/>
              </a:rPr>
              <a:t># (will fail _validate_sql next)</a:t>
            </a:r>
            <a:endParaRPr lang="en-US" sz="900" dirty="0"/>
          </a:p>
        </p:txBody>
      </p:sp>
      <p:sp>
        <p:nvSpPr>
          <p:cNvPr id="8" name="Shape 6"/>
          <p:cNvSpPr/>
          <p:nvPr/>
        </p:nvSpPr>
        <p:spPr>
          <a:xfrm>
            <a:off x="7381637" y="2380893"/>
            <a:ext cx="4257199" cy="4048958"/>
          </a:xfrm>
          <a:prstGeom prst="roundRect">
            <a:avLst>
              <a:gd name="adj" fmla="val 437"/>
            </a:avLst>
          </a:prstGeom>
          <a:solidFill>
            <a:srgbClr val="1D1F22"/>
          </a:solidFill>
          <a:ln/>
        </p:spPr>
      </p:sp>
      <p:sp>
        <p:nvSpPr>
          <p:cNvPr id="9" name="Text 7"/>
          <p:cNvSpPr/>
          <p:nvPr/>
        </p:nvSpPr>
        <p:spPr>
          <a:xfrm>
            <a:off x="7499628" y="2445306"/>
            <a:ext cx="2252782" cy="167640"/>
          </a:xfrm>
          <a:prstGeom prst="rect">
            <a:avLst/>
          </a:prstGeom>
          <a:noFill/>
          <a:ln/>
        </p:spPr>
        <p:txBody>
          <a:bodyPr wrap="none" lIns="0" tIns="0" rIns="0" bIns="0" rtlCol="0" anchor="t"/>
          <a:lstStyle/>
          <a:p>
            <a:pPr marL="0" indent="0" algn="l">
              <a:lnSpc>
                <a:spcPts val="1300"/>
              </a:lnSpc>
              <a:buNone/>
            </a:pPr>
            <a:r>
              <a:rPr lang="en-US" sz="1050" b="1" dirty="0">
                <a:solidFill>
                  <a:srgbClr val="FFFFFF"/>
                </a:solidFill>
                <a:latin typeface="Montserrat Bold" pitchFamily="34" charset="0"/>
                <a:ea typeface="Montserrat Bold" pitchFamily="34" charset="-122"/>
                <a:cs typeface="Montserrat Bold" pitchFamily="34" charset="-120"/>
              </a:rPr>
              <a:t>_validate_sql() — the safety gate</a:t>
            </a:r>
            <a:endParaRPr lang="en-US" sz="1050" dirty="0"/>
          </a:p>
        </p:txBody>
      </p:sp>
      <p:sp>
        <p:nvSpPr>
          <p:cNvPr id="10" name="Shape 8"/>
          <p:cNvSpPr/>
          <p:nvPr/>
        </p:nvSpPr>
        <p:spPr>
          <a:xfrm>
            <a:off x="7499628" y="2685455"/>
            <a:ext cx="4021217" cy="2561630"/>
          </a:xfrm>
          <a:prstGeom prst="roundRect">
            <a:avLst>
              <a:gd name="adj" fmla="val 691"/>
            </a:avLst>
          </a:prstGeom>
          <a:solidFill>
            <a:srgbClr val="2A2C2F"/>
          </a:solidFill>
          <a:ln/>
        </p:spPr>
      </p:sp>
      <p:sp>
        <p:nvSpPr>
          <p:cNvPr id="11" name="Shape 9"/>
          <p:cNvSpPr/>
          <p:nvPr/>
        </p:nvSpPr>
        <p:spPr>
          <a:xfrm>
            <a:off x="7493794" y="2685455"/>
            <a:ext cx="4032885" cy="2561630"/>
          </a:xfrm>
          <a:prstGeom prst="roundRect">
            <a:avLst>
              <a:gd name="adj" fmla="val 691"/>
            </a:avLst>
          </a:prstGeom>
          <a:solidFill>
            <a:srgbClr val="2A2C2F"/>
          </a:solidFill>
          <a:ln/>
        </p:spPr>
      </p:sp>
      <p:sp>
        <p:nvSpPr>
          <p:cNvPr id="12" name="Text 10"/>
          <p:cNvSpPr/>
          <p:nvPr/>
        </p:nvSpPr>
        <p:spPr>
          <a:xfrm>
            <a:off x="7641312" y="2803446"/>
            <a:ext cx="3737848" cy="2325648"/>
          </a:xfrm>
          <a:prstGeom prst="rect">
            <a:avLst/>
          </a:prstGeom>
          <a:noFill/>
          <a:ln/>
        </p:spPr>
        <p:txBody>
          <a:bodyPr wrap="square" lIns="0" tIns="0" rIns="0" bIns="0" rtlCol="0" anchor="t"/>
          <a:lstStyle/>
          <a:p>
            <a:pPr marL="0" indent="0" algn="l">
              <a:lnSpc>
                <a:spcPts val="105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def _validate_sql(sql):</a:t>
            </a:r>
            <a:endParaRPr lang="en-US" sz="900" dirty="0"/>
          </a:p>
          <a:p>
            <a:pPr marL="0" indent="0" algn="l">
              <a:lnSpc>
                <a:spcPts val="105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upper = sql.upper()</a:t>
            </a:r>
            <a:endParaRPr lang="en-US" sz="900" dirty="0"/>
          </a:p>
          <a:p>
            <a:pPr marL="0" indent="0" algn="l">
              <a:lnSpc>
                <a:spcPts val="1050"/>
              </a:lnSpc>
              <a:buNone/>
            </a:pPr>
            <a:endParaRPr lang="en-US" sz="900" dirty="0"/>
          </a:p>
          <a:p>
            <a:pPr marL="0" indent="0" algn="l">
              <a:lnSpc>
                <a:spcPts val="105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 Must be a read-only query</a:t>
            </a:r>
            <a:endParaRPr lang="en-US" sz="900" dirty="0"/>
          </a:p>
          <a:p>
            <a:pPr marL="0" indent="0" algn="l">
              <a:lnSpc>
                <a:spcPts val="105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if not re.search(r"\bSELECT\b", upper):</a:t>
            </a:r>
            <a:endParaRPr lang="en-US" sz="900" dirty="0"/>
          </a:p>
          <a:p>
            <a:pPr marL="0" indent="0" algn="l">
              <a:lnSpc>
                <a:spcPts val="105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return False, "No SELECT statement"</a:t>
            </a:r>
            <a:endParaRPr lang="en-US" sz="900" dirty="0"/>
          </a:p>
          <a:p>
            <a:pPr marL="0" indent="0" algn="l">
              <a:lnSpc>
                <a:spcPts val="1050"/>
              </a:lnSpc>
              <a:buNone/>
            </a:pPr>
            <a:endParaRPr lang="en-US" sz="900" dirty="0"/>
          </a:p>
          <a:p>
            <a:pPr marL="0" indent="0" algn="l">
              <a:lnSpc>
                <a:spcPts val="105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 Reject any destructive keyword</a:t>
            </a:r>
            <a:endParaRPr lang="en-US" sz="900" dirty="0"/>
          </a:p>
          <a:p>
            <a:pPr marL="0" indent="0" algn="l">
              <a:lnSpc>
                <a:spcPts val="105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for dangerous in ("DROP ", "DELETE ",</a:t>
            </a:r>
            <a:endParaRPr lang="en-US" sz="900" dirty="0"/>
          </a:p>
          <a:p>
            <a:pPr marL="0" indent="0" algn="l">
              <a:lnSpc>
                <a:spcPts val="105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"UPDATE ", "INSERT ",</a:t>
            </a:r>
            <a:endParaRPr lang="en-US" sz="900" dirty="0"/>
          </a:p>
          <a:p>
            <a:pPr marL="0" indent="0" algn="l">
              <a:lnSpc>
                <a:spcPts val="105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"MERGE ", "TRUNCATE ",</a:t>
            </a:r>
            <a:endParaRPr lang="en-US" sz="900" dirty="0"/>
          </a:p>
          <a:p>
            <a:pPr marL="0" indent="0" algn="l">
              <a:lnSpc>
                <a:spcPts val="105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"ALTER "):</a:t>
            </a:r>
            <a:endParaRPr lang="en-US" sz="900" dirty="0"/>
          </a:p>
          <a:p>
            <a:pPr marL="0" indent="0" algn="l">
              <a:lnSpc>
                <a:spcPts val="105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if dangerous in upper:</a:t>
            </a:r>
            <a:endParaRPr lang="en-US" sz="900" dirty="0"/>
          </a:p>
          <a:p>
            <a:pPr marL="0" indent="0" algn="l">
              <a:lnSpc>
                <a:spcPts val="105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return False,</a:t>
            </a:r>
            <a:endParaRPr lang="en-US" sz="900" dirty="0"/>
          </a:p>
          <a:p>
            <a:pPr marL="0" indent="0" algn="l">
              <a:lnSpc>
                <a:spcPts val="105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f"Dangerous: {dangerous}"</a:t>
            </a:r>
            <a:endParaRPr lang="en-US" sz="900" dirty="0"/>
          </a:p>
          <a:p>
            <a:pPr marL="0" indent="0" algn="l">
              <a:lnSpc>
                <a:spcPts val="1050"/>
              </a:lnSpc>
              <a:buNone/>
            </a:pPr>
            <a:endParaRPr lang="en-US" sz="900" dirty="0"/>
          </a:p>
          <a:p>
            <a:pPr marL="0" indent="0" algn="l">
              <a:lnSpc>
                <a:spcPts val="1050"/>
              </a:lnSpc>
              <a:buNone/>
            </a:pPr>
            <a:r>
              <a:rPr lang="en-US" sz="900" dirty="0">
                <a:solidFill>
                  <a:srgbClr val="FF7B72"/>
                </a:solidFill>
                <a:highlight>
                  <a:srgbClr val="2A2C2F"/>
                </a:highlight>
                <a:latin typeface="Consolas" pitchFamily="34" charset="0"/>
                <a:ea typeface="Consolas" pitchFamily="34" charset="-122"/>
                <a:cs typeface="Consolas" pitchFamily="34" charset="-120"/>
              </a:rPr>
              <a:t>    return True, "ok"</a:t>
            </a:r>
            <a:endParaRPr lang="en-US" sz="900" dirty="0"/>
          </a:p>
        </p:txBody>
      </p:sp>
      <p:sp>
        <p:nvSpPr>
          <p:cNvPr id="13" name="Shape 11"/>
          <p:cNvSpPr/>
          <p:nvPr/>
        </p:nvSpPr>
        <p:spPr>
          <a:xfrm>
            <a:off x="7499628" y="5319593"/>
            <a:ext cx="1978343" cy="1037749"/>
          </a:xfrm>
          <a:prstGeom prst="roundRect">
            <a:avLst>
              <a:gd name="adj" fmla="val 1706"/>
            </a:avLst>
          </a:prstGeom>
          <a:solidFill>
            <a:srgbClr val="303132"/>
          </a:solidFill>
          <a:ln/>
        </p:spPr>
      </p:sp>
      <p:sp>
        <p:nvSpPr>
          <p:cNvPr id="14" name="Text 12"/>
          <p:cNvSpPr/>
          <p:nvPr/>
        </p:nvSpPr>
        <p:spPr>
          <a:xfrm>
            <a:off x="7617619" y="5437584"/>
            <a:ext cx="1341358" cy="167640"/>
          </a:xfrm>
          <a:prstGeom prst="rect">
            <a:avLst/>
          </a:prstGeom>
          <a:noFill/>
          <a:ln/>
        </p:spPr>
        <p:txBody>
          <a:bodyPr wrap="none" lIns="0" tIns="0" rIns="0" bIns="0" rtlCol="0" anchor="t"/>
          <a:lstStyle/>
          <a:p>
            <a:pPr marL="0" indent="0" algn="l">
              <a:lnSpc>
                <a:spcPts val="1300"/>
              </a:lnSpc>
              <a:buNone/>
            </a:pPr>
            <a:r>
              <a:rPr lang="en-US" sz="1050" b="1" dirty="0">
                <a:solidFill>
                  <a:srgbClr val="000000"/>
                </a:solidFill>
                <a:latin typeface="Montserrat Bold" pitchFamily="34" charset="0"/>
                <a:ea typeface="Montserrat Bold" pitchFamily="34" charset="-122"/>
                <a:cs typeface="Montserrat Bold" pitchFamily="34" charset="-120"/>
              </a:rPr>
              <a:t>✅</a:t>
            </a:r>
            <a:r>
              <a:rPr lang="en-US" sz="1050" b="1" dirty="0">
                <a:solidFill>
                  <a:srgbClr val="E2E6E9"/>
                </a:solidFill>
                <a:latin typeface="Montserrat Bold" pitchFamily="34" charset="0"/>
                <a:ea typeface="Montserrat Bold" pitchFamily="34" charset="-122"/>
                <a:cs typeface="Montserrat Bold" pitchFamily="34" charset="-120"/>
              </a:rPr>
              <a:t> PASS</a:t>
            </a:r>
            <a:endParaRPr lang="en-US" sz="1050" dirty="0"/>
          </a:p>
        </p:txBody>
      </p:sp>
      <p:sp>
        <p:nvSpPr>
          <p:cNvPr id="15" name="Text 13"/>
          <p:cNvSpPr/>
          <p:nvPr/>
        </p:nvSpPr>
        <p:spPr>
          <a:xfrm>
            <a:off x="7617619" y="5669637"/>
            <a:ext cx="1742361" cy="432911"/>
          </a:xfrm>
          <a:prstGeom prst="rect">
            <a:avLst/>
          </a:prstGeom>
          <a:noFill/>
          <a:ln/>
        </p:spPr>
        <p:txBody>
          <a:bodyPr wrap="square" lIns="0" tIns="0" rIns="0" bIns="0" rtlCol="0" anchor="t"/>
          <a:lstStyle/>
          <a:p>
            <a:pPr marL="342900" indent="-342900" algn="l">
              <a:lnSpc>
                <a:spcPts val="1050"/>
              </a:lnSpc>
              <a:buSzPct val="100000"/>
              <a:buChar char="•"/>
            </a:pPr>
            <a:r>
              <a:rPr lang="en-US" sz="900" dirty="0">
                <a:solidFill>
                  <a:srgbClr val="E2E6E9"/>
                </a:solidFill>
                <a:latin typeface="Source Sans 3" pitchFamily="34" charset="0"/>
                <a:ea typeface="Source Sans 3" pitchFamily="34" charset="-122"/>
                <a:cs typeface="Source Sans 3" pitchFamily="34" charset="-120"/>
              </a:rPr>
              <a:t>SELECT COUNT(*) FROM...</a:t>
            </a:r>
            <a:endParaRPr lang="en-US" sz="900" dirty="0"/>
          </a:p>
          <a:p>
            <a:pPr marL="342900" indent="-342900" algn="l">
              <a:lnSpc>
                <a:spcPts val="1050"/>
              </a:lnSpc>
              <a:buSzPct val="100000"/>
              <a:buChar char="•"/>
            </a:pPr>
            <a:r>
              <a:rPr lang="en-US" sz="900" dirty="0">
                <a:solidFill>
                  <a:srgbClr val="E2E6E9"/>
                </a:solidFill>
                <a:latin typeface="Source Sans 3" pitchFamily="34" charset="0"/>
                <a:ea typeface="Source Sans 3" pitchFamily="34" charset="-122"/>
                <a:cs typeface="Source Sans 3" pitchFamily="34" charset="-120"/>
              </a:rPr>
              <a:t>SELECT r.name, SUM(f.amount) FROM... JOIN...</a:t>
            </a:r>
            <a:endParaRPr lang="en-US" sz="900" dirty="0"/>
          </a:p>
        </p:txBody>
      </p:sp>
      <p:sp>
        <p:nvSpPr>
          <p:cNvPr id="16" name="Shape 14"/>
          <p:cNvSpPr/>
          <p:nvPr/>
        </p:nvSpPr>
        <p:spPr>
          <a:xfrm>
            <a:off x="9542383" y="5319593"/>
            <a:ext cx="1978462" cy="1037749"/>
          </a:xfrm>
          <a:prstGeom prst="roundRect">
            <a:avLst>
              <a:gd name="adj" fmla="val 1706"/>
            </a:avLst>
          </a:prstGeom>
          <a:solidFill>
            <a:srgbClr val="303132"/>
          </a:solidFill>
          <a:ln/>
        </p:spPr>
      </p:sp>
      <p:sp>
        <p:nvSpPr>
          <p:cNvPr id="17" name="Text 15"/>
          <p:cNvSpPr/>
          <p:nvPr/>
        </p:nvSpPr>
        <p:spPr>
          <a:xfrm>
            <a:off x="9660374" y="5437584"/>
            <a:ext cx="1341358" cy="167640"/>
          </a:xfrm>
          <a:prstGeom prst="rect">
            <a:avLst/>
          </a:prstGeom>
          <a:noFill/>
          <a:ln/>
        </p:spPr>
        <p:txBody>
          <a:bodyPr wrap="none" lIns="0" tIns="0" rIns="0" bIns="0" rtlCol="0" anchor="t"/>
          <a:lstStyle/>
          <a:p>
            <a:pPr marL="0" indent="0" algn="l">
              <a:lnSpc>
                <a:spcPts val="1300"/>
              </a:lnSpc>
              <a:buNone/>
            </a:pPr>
            <a:r>
              <a:rPr lang="en-US" sz="1050" b="1" dirty="0">
                <a:solidFill>
                  <a:srgbClr val="000000"/>
                </a:solidFill>
                <a:latin typeface="Montserrat Bold" pitchFamily="34" charset="0"/>
                <a:ea typeface="Montserrat Bold" pitchFamily="34" charset="-122"/>
                <a:cs typeface="Montserrat Bold" pitchFamily="34" charset="-120"/>
              </a:rPr>
              <a:t>❌</a:t>
            </a:r>
            <a:r>
              <a:rPr lang="en-US" sz="1050" b="1" dirty="0">
                <a:solidFill>
                  <a:srgbClr val="E2E6E9"/>
                </a:solidFill>
                <a:latin typeface="Montserrat Bold" pitchFamily="34" charset="0"/>
                <a:ea typeface="Montserrat Bold" pitchFamily="34" charset="-122"/>
                <a:cs typeface="Montserrat Bold" pitchFamily="34" charset="-120"/>
              </a:rPr>
              <a:t> FAIL</a:t>
            </a:r>
            <a:endParaRPr lang="en-US" sz="1050" dirty="0"/>
          </a:p>
        </p:txBody>
      </p:sp>
      <p:sp>
        <p:nvSpPr>
          <p:cNvPr id="18" name="Text 16"/>
          <p:cNvSpPr/>
          <p:nvPr/>
        </p:nvSpPr>
        <p:spPr>
          <a:xfrm>
            <a:off x="9660374" y="5669637"/>
            <a:ext cx="1742480" cy="569714"/>
          </a:xfrm>
          <a:prstGeom prst="rect">
            <a:avLst/>
          </a:prstGeom>
          <a:noFill/>
          <a:ln/>
        </p:spPr>
        <p:txBody>
          <a:bodyPr wrap="square" lIns="0" tIns="0" rIns="0" bIns="0" rtlCol="0" anchor="t"/>
          <a:lstStyle/>
          <a:p>
            <a:pPr marL="342900" indent="-342900" algn="l">
              <a:lnSpc>
                <a:spcPts val="1050"/>
              </a:lnSpc>
              <a:buSzPct val="100000"/>
              <a:buChar char="•"/>
            </a:pPr>
            <a:r>
              <a:rPr lang="en-US" sz="900" dirty="0">
                <a:solidFill>
                  <a:srgbClr val="E2E6E9"/>
                </a:solidFill>
                <a:latin typeface="Source Sans 3" pitchFamily="34" charset="0"/>
                <a:ea typeface="Source Sans 3" pitchFamily="34" charset="-122"/>
                <a:cs typeface="Source Sans 3" pitchFamily="34" charset="-120"/>
              </a:rPr>
              <a:t>UPDATE SET status = ... (destructive)</a:t>
            </a:r>
            <a:endParaRPr lang="en-US" sz="900" dirty="0"/>
          </a:p>
          <a:p>
            <a:pPr marL="342900" indent="-342900" algn="l">
              <a:lnSpc>
                <a:spcPts val="1050"/>
              </a:lnSpc>
              <a:buSzPct val="100000"/>
              <a:buChar char="•"/>
            </a:pPr>
            <a:r>
              <a:rPr lang="en-US" sz="900" dirty="0">
                <a:solidFill>
                  <a:srgbClr val="E2E6E9"/>
                </a:solidFill>
                <a:latin typeface="Source Sans 3" pitchFamily="34" charset="0"/>
                <a:ea typeface="Source Sans 3" pitchFamily="34" charset="-122"/>
                <a:cs typeface="Source Sans 3" pitchFamily="34" charset="-120"/>
              </a:rPr>
              <a:t>DROP TABLE SWIGGY_FACT... (destructive)</a:t>
            </a:r>
            <a:endParaRPr lang="en-US" sz="900" dirty="0"/>
          </a:p>
        </p:txBody>
      </p:sp>
      <p:sp>
        <p:nvSpPr>
          <p:cNvPr id="19" name="Shape 17"/>
          <p:cNvSpPr/>
          <p:nvPr/>
        </p:nvSpPr>
        <p:spPr>
          <a:xfrm>
            <a:off x="3083957" y="6502360"/>
            <a:ext cx="8462367" cy="491966"/>
          </a:xfrm>
          <a:prstGeom prst="roundRect">
            <a:avLst>
              <a:gd name="adj" fmla="val 3599"/>
            </a:avLst>
          </a:prstGeom>
          <a:solidFill>
            <a:srgbClr val="262626"/>
          </a:solidFill>
          <a:ln/>
        </p:spPr>
      </p:sp>
      <p:pic>
        <p:nvPicPr>
          <p:cNvPr id="20" name="Image 0" descr="preencoded.png"/>
          <p:cNvPicPr>
            <a:picLocks noChangeAspect="1"/>
          </p:cNvPicPr>
          <p:nvPr/>
        </p:nvPicPr>
        <p:blipFill>
          <a:blip r:embed="rId3"/>
          <a:stretch>
            <a:fillRect/>
          </a:stretch>
        </p:blipFill>
        <p:spPr>
          <a:xfrm>
            <a:off x="3201948" y="6649760"/>
            <a:ext cx="147518" cy="117991"/>
          </a:xfrm>
          <a:prstGeom prst="rect">
            <a:avLst/>
          </a:prstGeom>
        </p:spPr>
      </p:pic>
      <p:sp>
        <p:nvSpPr>
          <p:cNvPr id="21" name="Text 18"/>
          <p:cNvSpPr/>
          <p:nvPr/>
        </p:nvSpPr>
        <p:spPr>
          <a:xfrm>
            <a:off x="3467457" y="6596182"/>
            <a:ext cx="7960876" cy="281226"/>
          </a:xfrm>
          <a:prstGeom prst="rect">
            <a:avLst/>
          </a:prstGeom>
          <a:noFill/>
          <a:ln/>
        </p:spPr>
        <p:txBody>
          <a:bodyPr wrap="square" lIns="0" tIns="0" rIns="0" bIns="0" rtlCol="0" anchor="t"/>
          <a:lstStyle/>
          <a:p>
            <a:pPr marL="0" indent="0" algn="l">
              <a:lnSpc>
                <a:spcPts val="1050"/>
              </a:lnSpc>
              <a:buNone/>
            </a:pPr>
            <a:r>
              <a:rPr lang="en-US" sz="900" dirty="0">
                <a:solidFill>
                  <a:srgbClr val="FFFFFF"/>
                </a:solidFill>
                <a:highlight>
                  <a:srgbClr val="1E1F20"/>
                </a:highlight>
                <a:latin typeface="Consolas" pitchFamily="34" charset="0"/>
                <a:ea typeface="Consolas" pitchFamily="34" charset="-122"/>
                <a:cs typeface="Consolas" pitchFamily="34" charset="-120"/>
              </a:rPr>
              <a:t>_validate_sql()</a:t>
            </a:r>
            <a:r>
              <a:rPr lang="en-US" sz="900" dirty="0">
                <a:solidFill>
                  <a:srgbClr val="FFFFFF"/>
                </a:solidFill>
                <a:latin typeface="Source Sans 3" pitchFamily="34" charset="0"/>
                <a:ea typeface="Source Sans 3" pitchFamily="34" charset="-122"/>
                <a:cs typeface="Source Sans 3" pitchFamily="34" charset="-120"/>
              </a:rPr>
              <a:t> + </a:t>
            </a:r>
            <a:r>
              <a:rPr lang="en-US" sz="900" dirty="0">
                <a:solidFill>
                  <a:srgbClr val="FFFFFF"/>
                </a:solidFill>
                <a:highlight>
                  <a:srgbClr val="1E1F20"/>
                </a:highlight>
                <a:latin typeface="Consolas" pitchFamily="34" charset="0"/>
                <a:ea typeface="Consolas" pitchFamily="34" charset="-122"/>
                <a:cs typeface="Consolas" pitchFamily="34" charset="-120"/>
              </a:rPr>
              <a:t>EXECUTE AS OWNER</a:t>
            </a:r>
            <a:r>
              <a:rPr lang="en-US" sz="900" dirty="0">
                <a:solidFill>
                  <a:srgbClr val="FFFFFF"/>
                </a:solidFill>
                <a:latin typeface="Source Sans 3" pitchFamily="34" charset="0"/>
                <a:ea typeface="Source Sans 3" pitchFamily="34" charset="-122"/>
                <a:cs typeface="Source Sans 3" pitchFamily="34" charset="-120"/>
              </a:rPr>
              <a:t> with read-only permissions = </a:t>
            </a:r>
            <a:r>
              <a:rPr lang="en-US" sz="900" b="1" dirty="0">
                <a:solidFill>
                  <a:srgbClr val="FFFFFF"/>
                </a:solidFill>
                <a:latin typeface="Source Sans 3" pitchFamily="34" charset="0"/>
                <a:ea typeface="Source Sans 3" pitchFamily="34" charset="-122"/>
                <a:cs typeface="Source Sans 3" pitchFamily="34" charset="-120"/>
              </a:rPr>
              <a:t>two independent layers of defence</a:t>
            </a:r>
            <a:r>
              <a:rPr lang="en-US" sz="900" dirty="0">
                <a:solidFill>
                  <a:srgbClr val="FFFFFF"/>
                </a:solidFill>
                <a:latin typeface="Source Sans 3" pitchFamily="34" charset="0"/>
                <a:ea typeface="Source Sans 3" pitchFamily="34" charset="-122"/>
                <a:cs typeface="Source Sans 3" pitchFamily="34" charset="-120"/>
              </a:rPr>
              <a:t>. Even if a destructive keyword slipped past the regex, the owner role has no DROP or DELETE privileges — execution would fail at the database level.</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3264337" y="1272540"/>
            <a:ext cx="8101608" cy="641985"/>
          </a:xfrm>
          <a:prstGeom prst="rect">
            <a:avLst/>
          </a:prstGeom>
          <a:noFill/>
          <a:ln/>
        </p:spPr>
        <p:txBody>
          <a:bodyPr wrap="square" lIns="0" tIns="0" rIns="0" bIns="0" rtlCol="0" anchor="t"/>
          <a:lstStyle/>
          <a:p>
            <a:pPr marL="0" indent="0" algn="l">
              <a:lnSpc>
                <a:spcPts val="2500"/>
              </a:lnSpc>
              <a:buNone/>
            </a:pPr>
            <a:r>
              <a:rPr lang="en-US" sz="2000" b="1" dirty="0">
                <a:solidFill>
                  <a:srgbClr val="FFFFFF"/>
                </a:solidFill>
                <a:latin typeface="Montserrat Bold" pitchFamily="34" charset="0"/>
                <a:ea typeface="Montserrat Bold" pitchFamily="34" charset="-122"/>
                <a:cs typeface="Montserrat Bold" pitchFamily="34" charset="-120"/>
              </a:rPr>
              <a:t>_rows_to_list() — Why Snowflake Rows Need Special Handling</a:t>
            </a:r>
            <a:endParaRPr lang="en-US" sz="2000" dirty="0"/>
          </a:p>
        </p:txBody>
      </p:sp>
      <p:sp>
        <p:nvSpPr>
          <p:cNvPr id="3" name="Text 1"/>
          <p:cNvSpPr/>
          <p:nvPr/>
        </p:nvSpPr>
        <p:spPr>
          <a:xfrm>
            <a:off x="3264337" y="2032754"/>
            <a:ext cx="8101608" cy="258128"/>
          </a:xfrm>
          <a:prstGeom prst="rect">
            <a:avLst/>
          </a:prstGeom>
          <a:noFill/>
          <a:ln/>
        </p:spPr>
        <p:txBody>
          <a:bodyPr wrap="square" lIns="0" tIns="0" rIns="0" bIns="0" rtlCol="0" anchor="t"/>
          <a:lstStyle/>
          <a:p>
            <a:pPr marL="0" indent="0" algn="l">
              <a:lnSpc>
                <a:spcPts val="1000"/>
              </a:lnSpc>
              <a:buNone/>
            </a:pPr>
            <a:r>
              <a:rPr lang="en-US" sz="850" dirty="0">
                <a:solidFill>
                  <a:srgbClr val="E2E6E9"/>
                </a:solidFill>
                <a:latin typeface="Source Sans 3" pitchFamily="34" charset="0"/>
                <a:ea typeface="Source Sans 3" pitchFamily="34" charset="-122"/>
                <a:cs typeface="Source Sans 3" pitchFamily="34" charset="-120"/>
              </a:rPr>
              <a:t>Snowflake returns data as Row objects, not Python dicts. And some Snowflake data types don't serialise to JSON automatically. These are the "real-world engineering" surprises that tutorials don't warn you about.</a:t>
            </a:r>
            <a:endParaRPr lang="en-US" sz="850" dirty="0"/>
          </a:p>
        </p:txBody>
      </p:sp>
      <p:sp>
        <p:nvSpPr>
          <p:cNvPr id="4" name="Text 2"/>
          <p:cNvSpPr/>
          <p:nvPr/>
        </p:nvSpPr>
        <p:spPr>
          <a:xfrm>
            <a:off x="3264337" y="2416373"/>
            <a:ext cx="2783443" cy="160496"/>
          </a:xfrm>
          <a:prstGeom prst="rect">
            <a:avLst/>
          </a:prstGeom>
          <a:noFill/>
          <a:ln/>
        </p:spPr>
        <p:txBody>
          <a:bodyPr wrap="none" lIns="0" tIns="0" rIns="0" bIns="0" rtlCol="0" anchor="t"/>
          <a:lstStyle/>
          <a:p>
            <a:pPr marL="0" indent="0" algn="l">
              <a:lnSpc>
                <a:spcPts val="1250"/>
              </a:lnSpc>
              <a:buNone/>
            </a:pPr>
            <a:r>
              <a:rPr lang="en-US" sz="1000" b="1" dirty="0">
                <a:solidFill>
                  <a:srgbClr val="000000"/>
                </a:solidFill>
                <a:latin typeface="Montserrat Bold" pitchFamily="34" charset="0"/>
                <a:ea typeface="Montserrat Bold" pitchFamily="34" charset="-122"/>
                <a:cs typeface="Montserrat Bold" pitchFamily="34" charset="-120"/>
              </a:rPr>
              <a:t>❌</a:t>
            </a:r>
            <a:r>
              <a:rPr lang="en-US" sz="1000" b="1" dirty="0">
                <a:solidFill>
                  <a:srgbClr val="FFFFFF"/>
                </a:solidFill>
                <a:latin typeface="Montserrat Bold" pitchFamily="34" charset="0"/>
                <a:ea typeface="Montserrat Bold" pitchFamily="34" charset="-122"/>
                <a:cs typeface="Montserrat Bold" pitchFamily="34" charset="-120"/>
              </a:rPr>
              <a:t> The problem without safe serialisation</a:t>
            </a:r>
            <a:endParaRPr lang="en-US" sz="1000" dirty="0"/>
          </a:p>
        </p:txBody>
      </p:sp>
      <p:sp>
        <p:nvSpPr>
          <p:cNvPr id="5" name="Shape 3"/>
          <p:cNvSpPr/>
          <p:nvPr/>
        </p:nvSpPr>
        <p:spPr>
          <a:xfrm>
            <a:off x="3264337" y="2643307"/>
            <a:ext cx="3745468" cy="1645682"/>
          </a:xfrm>
          <a:prstGeom prst="roundRect">
            <a:avLst>
              <a:gd name="adj" fmla="val 1030"/>
            </a:avLst>
          </a:prstGeom>
          <a:solidFill>
            <a:srgbClr val="1E1F20"/>
          </a:solidFill>
          <a:ln/>
        </p:spPr>
      </p:sp>
      <p:sp>
        <p:nvSpPr>
          <p:cNvPr id="6" name="Shape 4"/>
          <p:cNvSpPr/>
          <p:nvPr/>
        </p:nvSpPr>
        <p:spPr>
          <a:xfrm>
            <a:off x="3258741" y="2643307"/>
            <a:ext cx="3756660" cy="1645682"/>
          </a:xfrm>
          <a:prstGeom prst="roundRect">
            <a:avLst>
              <a:gd name="adj" fmla="val 1030"/>
            </a:avLst>
          </a:prstGeom>
          <a:solidFill>
            <a:srgbClr val="1E1F20"/>
          </a:solidFill>
          <a:ln/>
        </p:spPr>
      </p:sp>
      <p:sp>
        <p:nvSpPr>
          <p:cNvPr id="7" name="Text 5"/>
          <p:cNvSpPr/>
          <p:nvPr/>
        </p:nvSpPr>
        <p:spPr>
          <a:xfrm>
            <a:off x="3399949" y="2756297"/>
            <a:ext cx="3474244" cy="1419701"/>
          </a:xfrm>
          <a:prstGeom prst="rect">
            <a:avLst/>
          </a:prstGeom>
          <a:noFill/>
          <a:ln/>
        </p:spPr>
        <p:txBody>
          <a:bodyPr wrap="square" lIns="0" tIns="0" rIns="0" bIns="0" rtlCol="0" anchor="t"/>
          <a:lstStyle/>
          <a:p>
            <a:pPr marL="0" indent="0" algn="l">
              <a:lnSpc>
                <a:spcPts val="100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import json</a:t>
            </a:r>
            <a:endParaRPr lang="en-US" sz="850" dirty="0"/>
          </a:p>
          <a:p>
            <a:pPr marL="0" indent="0" algn="l">
              <a:lnSpc>
                <a:spcPts val="100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rows = session.sql(</a:t>
            </a:r>
            <a:endParaRPr lang="en-US" sz="850" dirty="0"/>
          </a:p>
          <a:p>
            <a:pPr marL="0" indent="0" algn="l">
              <a:lnSpc>
                <a:spcPts val="100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"SELECT transaction_date, net_amount..."</a:t>
            </a:r>
            <a:endParaRPr lang="en-US" sz="850" dirty="0"/>
          </a:p>
          <a:p>
            <a:pPr marL="0" indent="0" algn="l">
              <a:lnSpc>
                <a:spcPts val="100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).collect()</a:t>
            </a:r>
            <a:endParaRPr lang="en-US" sz="850" dirty="0"/>
          </a:p>
          <a:p>
            <a:pPr marL="0" indent="0" algn="l">
              <a:lnSpc>
                <a:spcPts val="100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data = [dict(row) for row in rows]</a:t>
            </a:r>
            <a:endParaRPr lang="en-US" sz="850" dirty="0"/>
          </a:p>
          <a:p>
            <a:pPr marL="0" indent="0" algn="l">
              <a:lnSpc>
                <a:spcPts val="100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json.dumps(data)  # CRASHES:</a:t>
            </a:r>
            <a:endParaRPr lang="en-US" sz="850" dirty="0"/>
          </a:p>
          <a:p>
            <a:pPr marL="0" indent="0" algn="l">
              <a:lnSpc>
                <a:spcPts val="1000"/>
              </a:lnSpc>
              <a:buNone/>
            </a:pPr>
            <a:endParaRPr lang="en-US" sz="850" dirty="0"/>
          </a:p>
          <a:p>
            <a:pPr marL="0" indent="0" algn="l">
              <a:lnSpc>
                <a:spcPts val="100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TypeError: Object of type date</a:t>
            </a:r>
            <a:endParaRPr lang="en-US" sz="850" dirty="0"/>
          </a:p>
          <a:p>
            <a:pPr marL="0" indent="0" algn="l">
              <a:lnSpc>
                <a:spcPts val="100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is not JSON serializable</a:t>
            </a:r>
            <a:endParaRPr lang="en-US" sz="850" dirty="0"/>
          </a:p>
          <a:p>
            <a:pPr marL="0" indent="0" algn="l">
              <a:lnSpc>
                <a:spcPts val="100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TypeError: Object of type Decimal</a:t>
            </a:r>
            <a:endParaRPr lang="en-US" sz="850" dirty="0"/>
          </a:p>
          <a:p>
            <a:pPr marL="0" indent="0" algn="l">
              <a:lnSpc>
                <a:spcPts val="100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is not JSON serializable</a:t>
            </a:r>
            <a:endParaRPr lang="en-US" sz="850" dirty="0"/>
          </a:p>
        </p:txBody>
      </p:sp>
      <p:sp>
        <p:nvSpPr>
          <p:cNvPr id="8" name="Text 6"/>
          <p:cNvSpPr/>
          <p:nvPr/>
        </p:nvSpPr>
        <p:spPr>
          <a:xfrm>
            <a:off x="3264337" y="4355425"/>
            <a:ext cx="2741533" cy="160496"/>
          </a:xfrm>
          <a:prstGeom prst="rect">
            <a:avLst/>
          </a:prstGeom>
          <a:noFill/>
          <a:ln/>
        </p:spPr>
        <p:txBody>
          <a:bodyPr wrap="none" lIns="0" tIns="0" rIns="0" bIns="0" rtlCol="0" anchor="t"/>
          <a:lstStyle/>
          <a:p>
            <a:pPr marL="0" indent="0" algn="l">
              <a:lnSpc>
                <a:spcPts val="1250"/>
              </a:lnSpc>
              <a:buNone/>
            </a:pPr>
            <a:r>
              <a:rPr lang="en-US" sz="1000" b="1" dirty="0">
                <a:solidFill>
                  <a:srgbClr val="FFFFFF"/>
                </a:solidFill>
                <a:latin typeface="Montserrat Bold" pitchFamily="34" charset="0"/>
                <a:ea typeface="Montserrat Bold" pitchFamily="34" charset="-122"/>
                <a:cs typeface="Montserrat Bold" pitchFamily="34" charset="-120"/>
              </a:rPr>
              <a:t>Three problematic types from Snowflake</a:t>
            </a:r>
            <a:endParaRPr lang="en-US" sz="1000" dirty="0"/>
          </a:p>
        </p:txBody>
      </p:sp>
      <p:sp>
        <p:nvSpPr>
          <p:cNvPr id="9" name="Shape 7"/>
          <p:cNvSpPr/>
          <p:nvPr/>
        </p:nvSpPr>
        <p:spPr>
          <a:xfrm>
            <a:off x="3264337" y="4582358"/>
            <a:ext cx="3745468" cy="921068"/>
          </a:xfrm>
          <a:prstGeom prst="roundRect">
            <a:avLst>
              <a:gd name="adj" fmla="val 1840"/>
            </a:avLst>
          </a:prstGeom>
          <a:noFill/>
          <a:ln w="7620">
            <a:solidFill>
              <a:srgbClr val="FFFFFF">
                <a:alpha val="24000"/>
              </a:srgbClr>
            </a:solidFill>
            <a:prstDash val="solid"/>
          </a:ln>
        </p:spPr>
      </p:sp>
      <p:sp>
        <p:nvSpPr>
          <p:cNvPr id="10" name="Text 8"/>
          <p:cNvSpPr/>
          <p:nvPr/>
        </p:nvSpPr>
        <p:spPr>
          <a:xfrm>
            <a:off x="3385661" y="4632960"/>
            <a:ext cx="1013222" cy="129064"/>
          </a:xfrm>
          <a:prstGeom prst="rect">
            <a:avLst/>
          </a:prstGeom>
          <a:noFill/>
          <a:ln/>
        </p:spPr>
        <p:txBody>
          <a:bodyPr wrap="none" lIns="0" tIns="0" rIns="0" bIns="0" rtlCol="0" anchor="t"/>
          <a:lstStyle/>
          <a:p>
            <a:pPr marL="0" indent="0" algn="l">
              <a:lnSpc>
                <a:spcPts val="1000"/>
              </a:lnSpc>
              <a:buNone/>
            </a:pPr>
            <a:r>
              <a:rPr lang="en-US" sz="850" b="1" dirty="0">
                <a:solidFill>
                  <a:srgbClr val="E2E6E9"/>
                </a:solidFill>
                <a:latin typeface="Source Sans 3" pitchFamily="34" charset="0"/>
                <a:ea typeface="Source Sans 3" pitchFamily="34" charset="-122"/>
                <a:cs typeface="Source Sans 3" pitchFamily="34" charset="-120"/>
              </a:rPr>
              <a:t>Type</a:t>
            </a:r>
            <a:endParaRPr lang="en-US" sz="850" dirty="0"/>
          </a:p>
        </p:txBody>
      </p:sp>
      <p:sp>
        <p:nvSpPr>
          <p:cNvPr id="11" name="Text 9"/>
          <p:cNvSpPr/>
          <p:nvPr/>
        </p:nvSpPr>
        <p:spPr>
          <a:xfrm>
            <a:off x="4632484" y="4632960"/>
            <a:ext cx="1009412" cy="129064"/>
          </a:xfrm>
          <a:prstGeom prst="rect">
            <a:avLst/>
          </a:prstGeom>
          <a:noFill/>
          <a:ln/>
        </p:spPr>
        <p:txBody>
          <a:bodyPr wrap="none" lIns="0" tIns="0" rIns="0" bIns="0" rtlCol="0" anchor="t"/>
          <a:lstStyle/>
          <a:p>
            <a:pPr marL="0" indent="0" algn="l">
              <a:lnSpc>
                <a:spcPts val="1000"/>
              </a:lnSpc>
              <a:buNone/>
            </a:pPr>
            <a:r>
              <a:rPr lang="en-US" sz="850" b="1" dirty="0">
                <a:solidFill>
                  <a:srgbClr val="E2E6E9"/>
                </a:solidFill>
                <a:latin typeface="Source Sans 3" pitchFamily="34" charset="0"/>
                <a:ea typeface="Source Sans 3" pitchFamily="34" charset="-122"/>
                <a:cs typeface="Source Sans 3" pitchFamily="34" charset="-120"/>
              </a:rPr>
              <a:t>Python maps to</a:t>
            </a:r>
            <a:endParaRPr lang="en-US" sz="850" dirty="0"/>
          </a:p>
        </p:txBody>
      </p:sp>
      <p:sp>
        <p:nvSpPr>
          <p:cNvPr id="12" name="Text 10"/>
          <p:cNvSpPr/>
          <p:nvPr/>
        </p:nvSpPr>
        <p:spPr>
          <a:xfrm>
            <a:off x="5875496" y="4632960"/>
            <a:ext cx="1013222" cy="129064"/>
          </a:xfrm>
          <a:prstGeom prst="rect">
            <a:avLst/>
          </a:prstGeom>
          <a:noFill/>
          <a:ln/>
        </p:spPr>
        <p:txBody>
          <a:bodyPr wrap="none" lIns="0" tIns="0" rIns="0" bIns="0" rtlCol="0" anchor="t"/>
          <a:lstStyle/>
          <a:p>
            <a:pPr marL="0" indent="0" algn="l">
              <a:lnSpc>
                <a:spcPts val="1000"/>
              </a:lnSpc>
              <a:buNone/>
            </a:pPr>
            <a:r>
              <a:rPr lang="en-US" sz="850" b="1" dirty="0">
                <a:solidFill>
                  <a:srgbClr val="E2E6E9"/>
                </a:solidFill>
                <a:latin typeface="Source Sans 3" pitchFamily="34" charset="0"/>
                <a:ea typeface="Source Sans 3" pitchFamily="34" charset="-122"/>
                <a:cs typeface="Source Sans 3" pitchFamily="34" charset="-120"/>
              </a:rPr>
              <a:t>JSON safe?</a:t>
            </a:r>
            <a:endParaRPr lang="en-US" sz="850" dirty="0"/>
          </a:p>
        </p:txBody>
      </p:sp>
      <p:sp>
        <p:nvSpPr>
          <p:cNvPr id="13" name="Text 11"/>
          <p:cNvSpPr/>
          <p:nvPr/>
        </p:nvSpPr>
        <p:spPr>
          <a:xfrm>
            <a:off x="3385661" y="4855607"/>
            <a:ext cx="1013222" cy="129064"/>
          </a:xfrm>
          <a:prstGeom prst="rect">
            <a:avLst/>
          </a:prstGeom>
          <a:noFill/>
          <a:ln/>
        </p:spPr>
        <p:txBody>
          <a:bodyPr wrap="none" lIns="0" tIns="0" rIns="0" bIns="0" rtlCol="0" anchor="t"/>
          <a:lstStyle/>
          <a:p>
            <a:pPr marL="0" indent="0" algn="l">
              <a:lnSpc>
                <a:spcPts val="1000"/>
              </a:lnSpc>
              <a:buNone/>
            </a:pPr>
            <a:r>
              <a:rPr lang="en-US" sz="850" dirty="0">
                <a:solidFill>
                  <a:srgbClr val="E2E6E9"/>
                </a:solidFill>
                <a:latin typeface="Source Sans 3" pitchFamily="34" charset="0"/>
                <a:ea typeface="Source Sans 3" pitchFamily="34" charset="-122"/>
                <a:cs typeface="Source Sans 3" pitchFamily="34" charset="-120"/>
              </a:rPr>
              <a:t>DATE/DATETIME</a:t>
            </a:r>
            <a:endParaRPr lang="en-US" sz="850" dirty="0"/>
          </a:p>
        </p:txBody>
      </p:sp>
      <p:sp>
        <p:nvSpPr>
          <p:cNvPr id="14" name="Text 12"/>
          <p:cNvSpPr/>
          <p:nvPr/>
        </p:nvSpPr>
        <p:spPr>
          <a:xfrm>
            <a:off x="4632484" y="4855607"/>
            <a:ext cx="1009412" cy="129064"/>
          </a:xfrm>
          <a:prstGeom prst="rect">
            <a:avLst/>
          </a:prstGeom>
          <a:noFill/>
          <a:ln/>
        </p:spPr>
        <p:txBody>
          <a:bodyPr wrap="none" lIns="0" tIns="0" rIns="0" bIns="0" rtlCol="0" anchor="t"/>
          <a:lstStyle/>
          <a:p>
            <a:pPr marL="0" indent="0" algn="l">
              <a:lnSpc>
                <a:spcPts val="1000"/>
              </a:lnSpc>
              <a:buNone/>
            </a:pPr>
            <a:r>
              <a:rPr lang="en-US" sz="850" dirty="0">
                <a:solidFill>
                  <a:srgbClr val="E2E6E9"/>
                </a:solidFill>
                <a:latin typeface="Source Sans 3" pitchFamily="34" charset="0"/>
                <a:ea typeface="Source Sans 3" pitchFamily="34" charset="-122"/>
                <a:cs typeface="Source Sans 3" pitchFamily="34" charset="-120"/>
              </a:rPr>
              <a:t>datetime object</a:t>
            </a:r>
            <a:endParaRPr lang="en-US" sz="850" dirty="0"/>
          </a:p>
        </p:txBody>
      </p:sp>
      <p:sp>
        <p:nvSpPr>
          <p:cNvPr id="15" name="Text 13"/>
          <p:cNvSpPr/>
          <p:nvPr/>
        </p:nvSpPr>
        <p:spPr>
          <a:xfrm>
            <a:off x="5875496" y="4855607"/>
            <a:ext cx="1013222" cy="136684"/>
          </a:xfrm>
          <a:prstGeom prst="rect">
            <a:avLst/>
          </a:prstGeom>
          <a:noFill/>
          <a:ln/>
        </p:spPr>
        <p:txBody>
          <a:bodyPr wrap="none" lIns="0" tIns="0" rIns="0" bIns="0" rtlCol="0" anchor="t"/>
          <a:lstStyle/>
          <a:p>
            <a:pPr marL="0" indent="0" algn="l">
              <a:lnSpc>
                <a:spcPts val="100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No</a:t>
            </a:r>
            <a:endParaRPr lang="en-US" sz="850" dirty="0"/>
          </a:p>
        </p:txBody>
      </p:sp>
      <p:sp>
        <p:nvSpPr>
          <p:cNvPr id="16" name="Text 14"/>
          <p:cNvSpPr/>
          <p:nvPr/>
        </p:nvSpPr>
        <p:spPr>
          <a:xfrm>
            <a:off x="3385661" y="5085874"/>
            <a:ext cx="1013222" cy="129064"/>
          </a:xfrm>
          <a:prstGeom prst="rect">
            <a:avLst/>
          </a:prstGeom>
          <a:noFill/>
          <a:ln/>
        </p:spPr>
        <p:txBody>
          <a:bodyPr wrap="none" lIns="0" tIns="0" rIns="0" bIns="0" rtlCol="0" anchor="t"/>
          <a:lstStyle/>
          <a:p>
            <a:pPr marL="0" indent="0" algn="l">
              <a:lnSpc>
                <a:spcPts val="1000"/>
              </a:lnSpc>
              <a:buNone/>
            </a:pPr>
            <a:r>
              <a:rPr lang="en-US" sz="850" dirty="0">
                <a:solidFill>
                  <a:srgbClr val="E2E6E9"/>
                </a:solidFill>
                <a:latin typeface="Source Sans 3" pitchFamily="34" charset="0"/>
                <a:ea typeface="Source Sans 3" pitchFamily="34" charset="-122"/>
                <a:cs typeface="Source Sans 3" pitchFamily="34" charset="-120"/>
              </a:rPr>
              <a:t>FLOAT/NUMERIC</a:t>
            </a:r>
            <a:endParaRPr lang="en-US" sz="850" dirty="0"/>
          </a:p>
        </p:txBody>
      </p:sp>
      <p:sp>
        <p:nvSpPr>
          <p:cNvPr id="17" name="Text 15"/>
          <p:cNvSpPr/>
          <p:nvPr/>
        </p:nvSpPr>
        <p:spPr>
          <a:xfrm>
            <a:off x="4632484" y="5085874"/>
            <a:ext cx="1009412" cy="129064"/>
          </a:xfrm>
          <a:prstGeom prst="rect">
            <a:avLst/>
          </a:prstGeom>
          <a:noFill/>
          <a:ln/>
        </p:spPr>
        <p:txBody>
          <a:bodyPr wrap="none" lIns="0" tIns="0" rIns="0" bIns="0" rtlCol="0" anchor="t"/>
          <a:lstStyle/>
          <a:p>
            <a:pPr marL="0" indent="0" algn="l">
              <a:lnSpc>
                <a:spcPts val="1000"/>
              </a:lnSpc>
              <a:buNone/>
            </a:pPr>
            <a:r>
              <a:rPr lang="en-US" sz="850" dirty="0">
                <a:solidFill>
                  <a:srgbClr val="E2E6E9"/>
                </a:solidFill>
                <a:latin typeface="Source Sans 3" pitchFamily="34" charset="0"/>
                <a:ea typeface="Source Sans 3" pitchFamily="34" charset="-122"/>
                <a:cs typeface="Source Sans 3" pitchFamily="34" charset="-120"/>
              </a:rPr>
              <a:t>Decimal</a:t>
            </a:r>
            <a:endParaRPr lang="en-US" sz="850" dirty="0"/>
          </a:p>
        </p:txBody>
      </p:sp>
      <p:sp>
        <p:nvSpPr>
          <p:cNvPr id="18" name="Text 16"/>
          <p:cNvSpPr/>
          <p:nvPr/>
        </p:nvSpPr>
        <p:spPr>
          <a:xfrm>
            <a:off x="5875496" y="5085874"/>
            <a:ext cx="1013222" cy="136684"/>
          </a:xfrm>
          <a:prstGeom prst="rect">
            <a:avLst/>
          </a:prstGeom>
          <a:noFill/>
          <a:ln/>
        </p:spPr>
        <p:txBody>
          <a:bodyPr wrap="none" lIns="0" tIns="0" rIns="0" bIns="0" rtlCol="0" anchor="t"/>
          <a:lstStyle/>
          <a:p>
            <a:pPr marL="0" indent="0" algn="l">
              <a:lnSpc>
                <a:spcPts val="100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No</a:t>
            </a:r>
            <a:endParaRPr lang="en-US" sz="850" dirty="0"/>
          </a:p>
        </p:txBody>
      </p:sp>
      <p:sp>
        <p:nvSpPr>
          <p:cNvPr id="19" name="Text 17"/>
          <p:cNvSpPr/>
          <p:nvPr/>
        </p:nvSpPr>
        <p:spPr>
          <a:xfrm>
            <a:off x="3385661" y="5316141"/>
            <a:ext cx="1013222" cy="129064"/>
          </a:xfrm>
          <a:prstGeom prst="rect">
            <a:avLst/>
          </a:prstGeom>
          <a:noFill/>
          <a:ln/>
        </p:spPr>
        <p:txBody>
          <a:bodyPr wrap="none" lIns="0" tIns="0" rIns="0" bIns="0" rtlCol="0" anchor="t"/>
          <a:lstStyle/>
          <a:p>
            <a:pPr marL="0" indent="0" algn="l">
              <a:lnSpc>
                <a:spcPts val="1000"/>
              </a:lnSpc>
              <a:buNone/>
            </a:pPr>
            <a:r>
              <a:rPr lang="en-US" sz="850" dirty="0">
                <a:solidFill>
                  <a:srgbClr val="E2E6E9"/>
                </a:solidFill>
                <a:latin typeface="Source Sans 3" pitchFamily="34" charset="0"/>
                <a:ea typeface="Source Sans 3" pitchFamily="34" charset="-122"/>
                <a:cs typeface="Source Sans 3" pitchFamily="34" charset="-120"/>
              </a:rPr>
              <a:t>NULL</a:t>
            </a:r>
            <a:endParaRPr lang="en-US" sz="850" dirty="0"/>
          </a:p>
        </p:txBody>
      </p:sp>
      <p:sp>
        <p:nvSpPr>
          <p:cNvPr id="20" name="Text 18"/>
          <p:cNvSpPr/>
          <p:nvPr/>
        </p:nvSpPr>
        <p:spPr>
          <a:xfrm>
            <a:off x="4632484" y="5316141"/>
            <a:ext cx="1009412" cy="129064"/>
          </a:xfrm>
          <a:prstGeom prst="rect">
            <a:avLst/>
          </a:prstGeom>
          <a:noFill/>
          <a:ln/>
        </p:spPr>
        <p:txBody>
          <a:bodyPr wrap="none" lIns="0" tIns="0" rIns="0" bIns="0" rtlCol="0" anchor="t"/>
          <a:lstStyle/>
          <a:p>
            <a:pPr marL="0" indent="0" algn="l">
              <a:lnSpc>
                <a:spcPts val="1000"/>
              </a:lnSpc>
              <a:buNone/>
            </a:pPr>
            <a:r>
              <a:rPr lang="en-US" sz="850" dirty="0">
                <a:solidFill>
                  <a:srgbClr val="E2E6E9"/>
                </a:solidFill>
                <a:latin typeface="Source Sans 3" pitchFamily="34" charset="0"/>
                <a:ea typeface="Source Sans 3" pitchFamily="34" charset="-122"/>
                <a:cs typeface="Source Sans 3" pitchFamily="34" charset="-120"/>
              </a:rPr>
              <a:t>None</a:t>
            </a:r>
            <a:endParaRPr lang="en-US" sz="850" dirty="0"/>
          </a:p>
        </p:txBody>
      </p:sp>
      <p:sp>
        <p:nvSpPr>
          <p:cNvPr id="21" name="Text 19"/>
          <p:cNvSpPr/>
          <p:nvPr/>
        </p:nvSpPr>
        <p:spPr>
          <a:xfrm>
            <a:off x="5875496" y="5316141"/>
            <a:ext cx="1013222" cy="136684"/>
          </a:xfrm>
          <a:prstGeom prst="rect">
            <a:avLst/>
          </a:prstGeom>
          <a:noFill/>
          <a:ln/>
        </p:spPr>
        <p:txBody>
          <a:bodyPr wrap="none" lIns="0" tIns="0" rIns="0" bIns="0" rtlCol="0" anchor="t"/>
          <a:lstStyle/>
          <a:p>
            <a:pPr marL="0" indent="0" algn="l">
              <a:lnSpc>
                <a:spcPts val="100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Yes</a:t>
            </a:r>
            <a:endParaRPr lang="en-US" sz="850" dirty="0"/>
          </a:p>
        </p:txBody>
      </p:sp>
      <p:sp>
        <p:nvSpPr>
          <p:cNvPr id="22" name="Shape 20"/>
          <p:cNvSpPr/>
          <p:nvPr/>
        </p:nvSpPr>
        <p:spPr>
          <a:xfrm>
            <a:off x="7211616" y="2357318"/>
            <a:ext cx="4243149" cy="4599742"/>
          </a:xfrm>
          <a:prstGeom prst="roundRect">
            <a:avLst>
              <a:gd name="adj" fmla="val 400"/>
            </a:avLst>
          </a:prstGeom>
          <a:solidFill>
            <a:srgbClr val="1D1F22"/>
          </a:solidFill>
          <a:ln/>
        </p:spPr>
      </p:sp>
      <p:sp>
        <p:nvSpPr>
          <p:cNvPr id="23" name="Text 21"/>
          <p:cNvSpPr/>
          <p:nvPr/>
        </p:nvSpPr>
        <p:spPr>
          <a:xfrm>
            <a:off x="7324606" y="2416373"/>
            <a:ext cx="3160633" cy="160496"/>
          </a:xfrm>
          <a:prstGeom prst="rect">
            <a:avLst/>
          </a:prstGeom>
          <a:noFill/>
          <a:ln/>
        </p:spPr>
        <p:txBody>
          <a:bodyPr wrap="none" lIns="0" tIns="0" rIns="0" bIns="0" rtlCol="0" anchor="t"/>
          <a:lstStyle/>
          <a:p>
            <a:pPr marL="0" indent="0" algn="l">
              <a:lnSpc>
                <a:spcPts val="1250"/>
              </a:lnSpc>
              <a:buNone/>
            </a:pPr>
            <a:r>
              <a:rPr lang="en-US" sz="1000" b="1" dirty="0">
                <a:solidFill>
                  <a:srgbClr val="E2E6E9"/>
                </a:solidFill>
                <a:latin typeface="Montserrat Bold" pitchFamily="34" charset="0"/>
                <a:ea typeface="Montserrat Bold" pitchFamily="34" charset="-122"/>
                <a:cs typeface="Montserrat Bold" pitchFamily="34" charset="-120"/>
              </a:rPr>
              <a:t>The solution — _safe_value() and _rows_to_list()</a:t>
            </a:r>
            <a:endParaRPr lang="en-US" sz="1000" dirty="0"/>
          </a:p>
        </p:txBody>
      </p:sp>
      <p:sp>
        <p:nvSpPr>
          <p:cNvPr id="24" name="Shape 22"/>
          <p:cNvSpPr/>
          <p:nvPr/>
        </p:nvSpPr>
        <p:spPr>
          <a:xfrm>
            <a:off x="7324606" y="2643307"/>
            <a:ext cx="4017169" cy="3452574"/>
          </a:xfrm>
          <a:prstGeom prst="roundRect">
            <a:avLst>
              <a:gd name="adj" fmla="val 491"/>
            </a:avLst>
          </a:prstGeom>
          <a:solidFill>
            <a:srgbClr val="2A2C2F"/>
          </a:solidFill>
          <a:ln/>
        </p:spPr>
      </p:sp>
      <p:sp>
        <p:nvSpPr>
          <p:cNvPr id="25" name="Shape 23"/>
          <p:cNvSpPr/>
          <p:nvPr/>
        </p:nvSpPr>
        <p:spPr>
          <a:xfrm>
            <a:off x="7319010" y="2643307"/>
            <a:ext cx="4028361" cy="3452574"/>
          </a:xfrm>
          <a:prstGeom prst="roundRect">
            <a:avLst>
              <a:gd name="adj" fmla="val 491"/>
            </a:avLst>
          </a:prstGeom>
          <a:solidFill>
            <a:srgbClr val="2A2C2F"/>
          </a:solidFill>
          <a:ln/>
        </p:spPr>
      </p:sp>
      <p:sp>
        <p:nvSpPr>
          <p:cNvPr id="26" name="Text 24"/>
          <p:cNvSpPr/>
          <p:nvPr/>
        </p:nvSpPr>
        <p:spPr>
          <a:xfrm>
            <a:off x="7460218" y="2756297"/>
            <a:ext cx="3745944" cy="3226594"/>
          </a:xfrm>
          <a:prstGeom prst="rect">
            <a:avLst/>
          </a:prstGeom>
          <a:noFill/>
          <a:ln/>
        </p:spPr>
        <p:txBody>
          <a:bodyPr wrap="square" lIns="0" tIns="0" rIns="0" bIns="0" rtlCol="0" anchor="t"/>
          <a:lstStyle/>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def _safe_value(v):</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if isinstance(v, (datetime, date)):</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return v.isoformat()   # "2025-01-15"</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if isinstance(v, Decimal):</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return float(v)        # 319.5</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if v is None:</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return None            # JSON null</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return v                   # unchanged</a:t>
            </a:r>
            <a:endParaRPr lang="en-US" sz="850" dirty="0"/>
          </a:p>
          <a:p>
            <a:pPr marL="0" indent="0" algn="l">
              <a:lnSpc>
                <a:spcPts val="1000"/>
              </a:lnSpc>
              <a:buNone/>
            </a:pP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def _rows_to_list(rows, max_rows=500):</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if not rows:</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return [], []</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columns = list(rows[0].as_dict().keys())</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data = [</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{k: _safe_value(v)</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for k, v in row.as_dict().items()}</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for row in rows[:max_rows]  # cap at 500</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return data, columns</a:t>
            </a:r>
            <a:endParaRPr lang="en-US" sz="850" dirty="0"/>
          </a:p>
          <a:p>
            <a:pPr marL="0" indent="0" algn="l">
              <a:lnSpc>
                <a:spcPts val="1000"/>
              </a:lnSpc>
              <a:buNone/>
            </a:pP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Result — Streamlit-ready:</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data = [{"city":"Bangalore",</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"revenue": 2300000.5,</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"date": "2025-01-15"}, ...]</a:t>
            </a:r>
            <a:endParaRPr lang="en-US" sz="850" dirty="0"/>
          </a:p>
          <a:p>
            <a:pPr marL="0" indent="0" algn="l">
              <a:lnSpc>
                <a:spcPts val="1000"/>
              </a:lnSpc>
              <a:buNone/>
            </a:pPr>
            <a:r>
              <a:rPr lang="en-US" sz="850" dirty="0">
                <a:solidFill>
                  <a:srgbClr val="E2E6E9"/>
                </a:solidFill>
                <a:latin typeface="Consolas" pitchFamily="34" charset="0"/>
                <a:ea typeface="Consolas" pitchFamily="34" charset="-122"/>
                <a:cs typeface="Consolas" pitchFamily="34" charset="-120"/>
              </a:rPr>
              <a:t># columns = ["city", "revenue", "date"]</a:t>
            </a:r>
            <a:endParaRPr lang="en-US" sz="850" dirty="0"/>
          </a:p>
        </p:txBody>
      </p:sp>
      <p:sp>
        <p:nvSpPr>
          <p:cNvPr id="27" name="Shape 25"/>
          <p:cNvSpPr/>
          <p:nvPr/>
        </p:nvSpPr>
        <p:spPr>
          <a:xfrm>
            <a:off x="7324606" y="6162318"/>
            <a:ext cx="4017169" cy="728305"/>
          </a:xfrm>
          <a:prstGeom prst="roundRect">
            <a:avLst>
              <a:gd name="adj" fmla="val 2328"/>
            </a:avLst>
          </a:prstGeom>
          <a:solidFill>
            <a:srgbClr val="262626"/>
          </a:solidFill>
          <a:ln/>
        </p:spPr>
      </p:sp>
      <p:pic>
        <p:nvPicPr>
          <p:cNvPr id="28" name="Image 0" descr="preencoded.png"/>
          <p:cNvPicPr>
            <a:picLocks noChangeAspect="1"/>
          </p:cNvPicPr>
          <p:nvPr/>
        </p:nvPicPr>
        <p:blipFill>
          <a:blip r:embed="rId3"/>
          <a:stretch>
            <a:fillRect/>
          </a:stretch>
        </p:blipFill>
        <p:spPr>
          <a:xfrm>
            <a:off x="7437596" y="6303526"/>
            <a:ext cx="141208" cy="112990"/>
          </a:xfrm>
          <a:prstGeom prst="rect">
            <a:avLst/>
          </a:prstGeom>
        </p:spPr>
      </p:pic>
      <p:sp>
        <p:nvSpPr>
          <p:cNvPr id="29" name="Text 26"/>
          <p:cNvSpPr/>
          <p:nvPr/>
        </p:nvSpPr>
        <p:spPr>
          <a:xfrm>
            <a:off x="7691795" y="6249591"/>
            <a:ext cx="3536990" cy="531495"/>
          </a:xfrm>
          <a:prstGeom prst="rect">
            <a:avLst/>
          </a:prstGeom>
          <a:noFill/>
          <a:ln/>
        </p:spPr>
        <p:txBody>
          <a:bodyPr wrap="square" lIns="0" tIns="0" rIns="0" bIns="0" rtlCol="0" anchor="t"/>
          <a:lstStyle/>
          <a:p>
            <a:pPr marL="0" indent="0" algn="l">
              <a:lnSpc>
                <a:spcPts val="1000"/>
              </a:lnSpc>
              <a:buNone/>
            </a:pPr>
            <a:r>
              <a:rPr lang="en-US" sz="850" dirty="0">
                <a:solidFill>
                  <a:srgbClr val="FFFFFF"/>
                </a:solidFill>
                <a:latin typeface="Source Sans 3" pitchFamily="34" charset="0"/>
                <a:ea typeface="Source Sans 3" pitchFamily="34" charset="-122"/>
                <a:cs typeface="Source Sans 3" pitchFamily="34" charset="-120"/>
              </a:rPr>
              <a:t>The </a:t>
            </a:r>
            <a:r>
              <a:rPr lang="en-US" sz="850" b="1" dirty="0">
                <a:solidFill>
                  <a:srgbClr val="FFFFFF"/>
                </a:solidFill>
                <a:latin typeface="Source Sans 3" pitchFamily="34" charset="0"/>
                <a:ea typeface="Source Sans 3" pitchFamily="34" charset="-122"/>
                <a:cs typeface="Source Sans 3" pitchFamily="34" charset="-120"/>
              </a:rPr>
              <a:t>500-row cap</a:t>
            </a:r>
            <a:r>
              <a:rPr lang="en-US" sz="850" dirty="0">
                <a:solidFill>
                  <a:srgbClr val="FFFFFF"/>
                </a:solidFill>
                <a:latin typeface="Source Sans 3" pitchFamily="34" charset="0"/>
                <a:ea typeface="Source Sans 3" pitchFamily="34" charset="-122"/>
                <a:cs typeface="Source Sans 3" pitchFamily="34" charset="-120"/>
              </a:rPr>
              <a:t> is deliberate. 158,000 rows would crash the browser tab, exceed Snowflake's VARIANT size limit (~16MB), and timeout the compute. The LLM is instructed to add LIMIT 500, but </a:t>
            </a:r>
            <a:r>
              <a:rPr lang="en-US" sz="850" dirty="0">
                <a:solidFill>
                  <a:srgbClr val="FFFFFF"/>
                </a:solidFill>
                <a:highlight>
                  <a:srgbClr val="2A2C2F"/>
                </a:highlight>
                <a:latin typeface="Consolas" pitchFamily="34" charset="0"/>
                <a:ea typeface="Consolas" pitchFamily="34" charset="-122"/>
                <a:cs typeface="Consolas" pitchFamily="34" charset="-120"/>
              </a:rPr>
              <a:t>_rows_to_list</a:t>
            </a:r>
            <a:r>
              <a:rPr lang="en-US" sz="850" dirty="0">
                <a:solidFill>
                  <a:srgbClr val="FFFFFF"/>
                </a:solidFill>
                <a:latin typeface="Source Sans 3" pitchFamily="34" charset="0"/>
                <a:ea typeface="Source Sans 3" pitchFamily="34" charset="-122"/>
                <a:cs typeface="Source Sans 3" pitchFamily="34" charset="-120"/>
              </a:rPr>
              <a:t> enforces it as a safety backstop.</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2974181" y="1215152"/>
            <a:ext cx="8682038" cy="688181"/>
          </a:xfrm>
          <a:prstGeom prst="rect">
            <a:avLst/>
          </a:prstGeom>
          <a:noFill/>
          <a:ln/>
        </p:spPr>
        <p:txBody>
          <a:bodyPr wrap="square" lIns="0" tIns="0" rIns="0" bIns="0" rtlCol="0" anchor="t"/>
          <a:lstStyle/>
          <a:p>
            <a:pPr marL="0" indent="0" algn="l">
              <a:lnSpc>
                <a:spcPts val="2700"/>
              </a:lnSpc>
              <a:buNone/>
            </a:pPr>
            <a:r>
              <a:rPr lang="en-US" sz="2150" b="1" dirty="0">
                <a:solidFill>
                  <a:srgbClr val="FFFFFF"/>
                </a:solidFill>
                <a:latin typeface="Montserrat Bold" pitchFamily="34" charset="0"/>
                <a:ea typeface="Montserrat Bold" pitchFamily="34" charset="-122"/>
                <a:cs typeface="Montserrat Bold" pitchFamily="34" charset="-120"/>
              </a:rPr>
              <a:t>_generate_narrative() — Turning a Table of Numbers into an Insight</a:t>
            </a:r>
            <a:endParaRPr lang="en-US" sz="2150" dirty="0"/>
          </a:p>
        </p:txBody>
      </p:sp>
      <p:sp>
        <p:nvSpPr>
          <p:cNvPr id="3" name="Text 1"/>
          <p:cNvSpPr/>
          <p:nvPr/>
        </p:nvSpPr>
        <p:spPr>
          <a:xfrm>
            <a:off x="2974181" y="2039064"/>
            <a:ext cx="8682038" cy="141684"/>
          </a:xfrm>
          <a:prstGeom prst="rect">
            <a:avLst/>
          </a:prstGeom>
          <a:noFill/>
          <a:ln/>
        </p:spPr>
        <p:txBody>
          <a:bodyPr wrap="none" lIns="0" tIns="0" rIns="0" bIns="0" rtlCol="0" anchor="t"/>
          <a:lstStyle/>
          <a:p>
            <a:pPr marL="0" indent="0" algn="l">
              <a:lnSpc>
                <a:spcPts val="1100"/>
              </a:lnSpc>
              <a:buNone/>
            </a:pPr>
            <a:r>
              <a:rPr lang="en-US" sz="950" dirty="0">
                <a:solidFill>
                  <a:srgbClr val="E2E6E9"/>
                </a:solidFill>
                <a:latin typeface="Source Sans 3" pitchFamily="34" charset="0"/>
                <a:ea typeface="Source Sans 3" pitchFamily="34" charset="-122"/>
                <a:cs typeface="Source Sans 3" pitchFamily="34" charset="-120"/>
              </a:rPr>
              <a:t>After SQL execution, a second LLM call converts the raw results into 2-3 plain English sentences with one actionable marketing recommendation. The data becomes a story.</a:t>
            </a:r>
            <a:endParaRPr lang="en-US" sz="950" dirty="0"/>
          </a:p>
        </p:txBody>
      </p:sp>
      <p:sp>
        <p:nvSpPr>
          <p:cNvPr id="4" name="Text 2"/>
          <p:cNvSpPr/>
          <p:nvPr/>
        </p:nvSpPr>
        <p:spPr>
          <a:xfrm>
            <a:off x="2974181" y="2324933"/>
            <a:ext cx="1532692" cy="172045"/>
          </a:xfrm>
          <a:prstGeom prst="rect">
            <a:avLst/>
          </a:prstGeom>
          <a:noFill/>
          <a:ln/>
        </p:spPr>
        <p:txBody>
          <a:bodyPr wrap="none" lIns="0" tIns="0" rIns="0" bIns="0" rtlCol="0" anchor="t"/>
          <a:lstStyle/>
          <a:p>
            <a:pPr marL="0" indent="0" algn="l">
              <a:lnSpc>
                <a:spcPts val="1350"/>
              </a:lnSpc>
              <a:buNone/>
            </a:pPr>
            <a:r>
              <a:rPr lang="en-US" sz="1050" b="1" dirty="0">
                <a:solidFill>
                  <a:srgbClr val="FFFFFF"/>
                </a:solidFill>
                <a:latin typeface="Montserrat Bold" pitchFamily="34" charset="0"/>
                <a:ea typeface="Montserrat Bold" pitchFamily="34" charset="-122"/>
                <a:cs typeface="Montserrat Bold" pitchFamily="34" charset="-120"/>
              </a:rPr>
              <a:t>The narrative prompt</a:t>
            </a:r>
            <a:endParaRPr lang="en-US" sz="1050" dirty="0"/>
          </a:p>
        </p:txBody>
      </p:sp>
      <p:sp>
        <p:nvSpPr>
          <p:cNvPr id="5" name="Shape 3"/>
          <p:cNvSpPr/>
          <p:nvPr/>
        </p:nvSpPr>
        <p:spPr>
          <a:xfrm>
            <a:off x="2974181" y="2573298"/>
            <a:ext cx="4193381" cy="3075861"/>
          </a:xfrm>
          <a:prstGeom prst="roundRect">
            <a:avLst>
              <a:gd name="adj" fmla="val 591"/>
            </a:avLst>
          </a:prstGeom>
          <a:solidFill>
            <a:srgbClr val="1E1F20"/>
          </a:solidFill>
          <a:ln/>
        </p:spPr>
      </p:sp>
      <p:sp>
        <p:nvSpPr>
          <p:cNvPr id="6" name="Shape 4"/>
          <p:cNvSpPr/>
          <p:nvPr/>
        </p:nvSpPr>
        <p:spPr>
          <a:xfrm>
            <a:off x="2968228" y="2573298"/>
            <a:ext cx="4205288" cy="3075861"/>
          </a:xfrm>
          <a:prstGeom prst="roundRect">
            <a:avLst>
              <a:gd name="adj" fmla="val 591"/>
            </a:avLst>
          </a:prstGeom>
          <a:solidFill>
            <a:srgbClr val="1E1F20"/>
          </a:solidFill>
          <a:ln/>
        </p:spPr>
      </p:sp>
      <p:sp>
        <p:nvSpPr>
          <p:cNvPr id="7" name="Text 5"/>
          <p:cNvSpPr/>
          <p:nvPr/>
        </p:nvSpPr>
        <p:spPr>
          <a:xfrm>
            <a:off x="3119557" y="2694384"/>
            <a:ext cx="3902631" cy="2833688"/>
          </a:xfrm>
          <a:prstGeom prst="rect">
            <a:avLst/>
          </a:prstGeom>
          <a:noFill/>
          <a:ln/>
        </p:spPr>
        <p:txBody>
          <a:bodyPr wrap="square" lIns="0" tIns="0" rIns="0" bIns="0" rtlCol="0" anchor="t"/>
          <a:lstStyle/>
          <a:p>
            <a:pPr marL="0" indent="0" algn="l">
              <a:lnSpc>
                <a:spcPts val="1100"/>
              </a:lnSpc>
              <a:buNone/>
            </a:pPr>
            <a:r>
              <a:rPr lang="en-US" sz="950" dirty="0">
                <a:solidFill>
                  <a:srgbClr val="E2E6E9"/>
                </a:solidFill>
                <a:latin typeface="Consolas" pitchFamily="34" charset="0"/>
                <a:ea typeface="Consolas" pitchFamily="34" charset="-122"/>
                <a:cs typeface="Consolas" pitchFamily="34" charset="-120"/>
              </a:rPr>
              <a:t>prompt = f"""</a:t>
            </a:r>
            <a:endParaRPr lang="en-US" sz="950" dirty="0"/>
          </a:p>
          <a:p>
            <a:pPr marL="0" indent="0" algn="l">
              <a:lnSpc>
                <a:spcPts val="1100"/>
              </a:lnSpc>
              <a:buNone/>
            </a:pPr>
            <a:r>
              <a:rPr lang="en-US" sz="950" dirty="0">
                <a:solidFill>
                  <a:srgbClr val="E2E6E9"/>
                </a:solidFill>
                <a:latin typeface="Consolas" pitchFamily="34" charset="0"/>
                <a:ea typeface="Consolas" pitchFamily="34" charset="-122"/>
                <a:cs typeface="Consolas" pitchFamily="34" charset="-120"/>
              </a:rPr>
              <a:t>You are a concise Swiggy data analyst.</a:t>
            </a:r>
            <a:endParaRPr lang="en-US" sz="950" dirty="0"/>
          </a:p>
          <a:p>
            <a:pPr marL="0" indent="0" algn="l">
              <a:lnSpc>
                <a:spcPts val="1100"/>
              </a:lnSpc>
              <a:buNone/>
            </a:pPr>
            <a:endParaRPr lang="en-US" sz="950" dirty="0"/>
          </a:p>
          <a:p>
            <a:pPr marL="0" indent="0" algn="l">
              <a:lnSpc>
                <a:spcPts val="1100"/>
              </a:lnSpc>
              <a:buNone/>
            </a:pPr>
            <a:r>
              <a:rPr lang="en-US" sz="950" dirty="0">
                <a:solidFill>
                  <a:srgbClr val="E2E6E9"/>
                </a:solidFill>
                <a:latin typeface="Consolas" pitchFamily="34" charset="0"/>
                <a:ea typeface="Consolas" pitchFamily="34" charset="-122"/>
                <a:cs typeface="Consolas" pitchFamily="34" charset="-120"/>
              </a:rPr>
              <a:t>Question asked: "{question}"</a:t>
            </a:r>
            <a:endParaRPr lang="en-US" sz="950" dirty="0"/>
          </a:p>
          <a:p>
            <a:pPr marL="0" indent="0" algn="l">
              <a:lnSpc>
                <a:spcPts val="1100"/>
              </a:lnSpc>
              <a:buNone/>
            </a:pPr>
            <a:endParaRPr lang="en-US" sz="950" dirty="0"/>
          </a:p>
          <a:p>
            <a:pPr marL="0" indent="0" algn="l">
              <a:lnSpc>
                <a:spcPts val="1100"/>
              </a:lnSpc>
              <a:buNone/>
            </a:pPr>
            <a:r>
              <a:rPr lang="en-US" sz="950" dirty="0">
                <a:solidFill>
                  <a:srgbClr val="E2E6E9"/>
                </a:solidFill>
                <a:latin typeface="Consolas" pitchFamily="34" charset="0"/>
                <a:ea typeface="Consolas" pitchFamily="34" charset="-122"/>
                <a:cs typeface="Consolas" pitchFamily="34" charset="-120"/>
              </a:rPr>
              <a:t>Query result (first {min(len(data),10)}</a:t>
            </a:r>
            <a:endParaRPr lang="en-US" sz="950" dirty="0"/>
          </a:p>
          <a:p>
            <a:pPr marL="0" indent="0" algn="l">
              <a:lnSpc>
                <a:spcPts val="1100"/>
              </a:lnSpc>
              <a:buNone/>
            </a:pPr>
            <a:r>
              <a:rPr lang="en-US" sz="950" dirty="0">
                <a:solidFill>
                  <a:srgbClr val="E2E6E9"/>
                </a:solidFill>
                <a:latin typeface="Consolas" pitchFamily="34" charset="0"/>
                <a:ea typeface="Consolas" pitchFamily="34" charset="-122"/>
                <a:cs typeface="Consolas" pitchFamily="34" charset="-120"/>
              </a:rPr>
              <a:t>of {len(data)} rows):</a:t>
            </a:r>
            <a:endParaRPr lang="en-US" sz="950" dirty="0"/>
          </a:p>
          <a:p>
            <a:pPr marL="0" indent="0" algn="l">
              <a:lnSpc>
                <a:spcPts val="1100"/>
              </a:lnSpc>
              <a:buNone/>
            </a:pPr>
            <a:r>
              <a:rPr lang="en-US" sz="950" dirty="0">
                <a:solidFill>
                  <a:srgbClr val="E2E6E9"/>
                </a:solidFill>
                <a:latin typeface="Consolas" pitchFamily="34" charset="0"/>
                <a:ea typeface="Consolas" pitchFamily="34" charset="-122"/>
                <a:cs typeface="Consolas" pitchFamily="34" charset="-120"/>
              </a:rPr>
              <a:t>{preview}   # json.dumps(data[:10])</a:t>
            </a:r>
            <a:endParaRPr lang="en-US" sz="950" dirty="0"/>
          </a:p>
          <a:p>
            <a:pPr marL="0" indent="0" algn="l">
              <a:lnSpc>
                <a:spcPts val="1100"/>
              </a:lnSpc>
              <a:buNone/>
            </a:pPr>
            <a:endParaRPr lang="en-US" sz="950" dirty="0"/>
          </a:p>
          <a:p>
            <a:pPr marL="0" indent="0" algn="l">
              <a:lnSpc>
                <a:spcPts val="1100"/>
              </a:lnSpc>
              <a:buNone/>
            </a:pPr>
            <a:r>
              <a:rPr lang="en-US" sz="950" dirty="0">
                <a:solidFill>
                  <a:srgbClr val="E2E6E9"/>
                </a:solidFill>
                <a:latin typeface="Consolas" pitchFamily="34" charset="0"/>
                <a:ea typeface="Consolas" pitchFamily="34" charset="-122"/>
                <a:cs typeface="Consolas" pitchFamily="34" charset="-120"/>
              </a:rPr>
              <a:t>Columns: {columns}</a:t>
            </a:r>
            <a:endParaRPr lang="en-US" sz="950" dirty="0"/>
          </a:p>
          <a:p>
            <a:pPr marL="0" indent="0" algn="l">
              <a:lnSpc>
                <a:spcPts val="1100"/>
              </a:lnSpc>
              <a:buNone/>
            </a:pPr>
            <a:endParaRPr lang="en-US" sz="950" dirty="0"/>
          </a:p>
          <a:p>
            <a:pPr marL="0" indent="0" algn="l">
              <a:lnSpc>
                <a:spcPts val="1100"/>
              </a:lnSpc>
              <a:buNone/>
            </a:pPr>
            <a:r>
              <a:rPr lang="en-US" sz="950" dirty="0">
                <a:solidFill>
                  <a:srgbClr val="E2E6E9"/>
                </a:solidFill>
                <a:latin typeface="Consolas" pitchFamily="34" charset="0"/>
                <a:ea typeface="Consolas" pitchFamily="34" charset="-122"/>
                <a:cs typeface="Consolas" pitchFamily="34" charset="-120"/>
              </a:rPr>
              <a:t>Write 2-3 plain-English sentences</a:t>
            </a:r>
            <a:endParaRPr lang="en-US" sz="950" dirty="0"/>
          </a:p>
          <a:p>
            <a:pPr marL="0" indent="0" algn="l">
              <a:lnSpc>
                <a:spcPts val="1100"/>
              </a:lnSpc>
              <a:buNone/>
            </a:pPr>
            <a:r>
              <a:rPr lang="en-US" sz="950" dirty="0">
                <a:solidFill>
                  <a:srgbClr val="E2E6E9"/>
                </a:solidFill>
                <a:latin typeface="Consolas" pitchFamily="34" charset="0"/>
                <a:ea typeface="Consolas" pitchFamily="34" charset="-122"/>
                <a:cs typeface="Consolas" pitchFamily="34" charset="-120"/>
              </a:rPr>
              <a:t>summarising the key finding.</a:t>
            </a:r>
            <a:endParaRPr lang="en-US" sz="950" dirty="0"/>
          </a:p>
          <a:p>
            <a:pPr marL="0" indent="0" algn="l">
              <a:lnSpc>
                <a:spcPts val="1100"/>
              </a:lnSpc>
              <a:buNone/>
            </a:pPr>
            <a:r>
              <a:rPr lang="en-US" sz="950" dirty="0">
                <a:solidFill>
                  <a:srgbClr val="E2E6E9"/>
                </a:solidFill>
                <a:latin typeface="Consolas" pitchFamily="34" charset="0"/>
                <a:ea typeface="Consolas" pitchFamily="34" charset="-122"/>
                <a:cs typeface="Consolas" pitchFamily="34" charset="-120"/>
              </a:rPr>
              <a:t>Highlight the most important number</a:t>
            </a:r>
            <a:endParaRPr lang="en-US" sz="950" dirty="0"/>
          </a:p>
          <a:p>
            <a:pPr marL="0" indent="0" algn="l">
              <a:lnSpc>
                <a:spcPts val="1100"/>
              </a:lnSpc>
              <a:buNone/>
            </a:pPr>
            <a:r>
              <a:rPr lang="en-US" sz="950" dirty="0">
                <a:solidFill>
                  <a:srgbClr val="E2E6E9"/>
                </a:solidFill>
                <a:latin typeface="Consolas" pitchFamily="34" charset="0"/>
                <a:ea typeface="Consolas" pitchFamily="34" charset="-122"/>
                <a:cs typeface="Consolas" pitchFamily="34" charset="-120"/>
              </a:rPr>
              <a:t>or trend.</a:t>
            </a:r>
            <a:endParaRPr lang="en-US" sz="950" dirty="0"/>
          </a:p>
          <a:p>
            <a:pPr marL="0" indent="0" algn="l">
              <a:lnSpc>
                <a:spcPts val="1100"/>
              </a:lnSpc>
              <a:buNone/>
            </a:pPr>
            <a:r>
              <a:rPr lang="en-US" sz="950" dirty="0">
                <a:solidFill>
                  <a:srgbClr val="E2E6E9"/>
                </a:solidFill>
                <a:latin typeface="Consolas" pitchFamily="34" charset="0"/>
                <a:ea typeface="Consolas" pitchFamily="34" charset="-122"/>
                <a:cs typeface="Consolas" pitchFamily="34" charset="-120"/>
              </a:rPr>
              <a:t>End with one actionable marketing</a:t>
            </a:r>
            <a:endParaRPr lang="en-US" sz="950" dirty="0"/>
          </a:p>
          <a:p>
            <a:pPr marL="0" indent="0" algn="l">
              <a:lnSpc>
                <a:spcPts val="1100"/>
              </a:lnSpc>
              <a:buNone/>
            </a:pPr>
            <a:r>
              <a:rPr lang="en-US" sz="950" dirty="0">
                <a:solidFill>
                  <a:srgbClr val="E2E6E9"/>
                </a:solidFill>
                <a:latin typeface="Consolas" pitchFamily="34" charset="0"/>
                <a:ea typeface="Consolas" pitchFamily="34" charset="-122"/>
                <a:cs typeface="Consolas" pitchFamily="34" charset="-120"/>
              </a:rPr>
              <a:t>recommendation if warranted.</a:t>
            </a:r>
            <a:endParaRPr lang="en-US" sz="950" dirty="0"/>
          </a:p>
          <a:p>
            <a:pPr marL="0" indent="0" algn="l">
              <a:lnSpc>
                <a:spcPts val="1100"/>
              </a:lnSpc>
              <a:buNone/>
            </a:pPr>
            <a:r>
              <a:rPr lang="en-US" sz="950" dirty="0">
                <a:solidFill>
                  <a:srgbClr val="E2E6E9"/>
                </a:solidFill>
                <a:latin typeface="Consolas" pitchFamily="34" charset="0"/>
                <a:ea typeface="Consolas" pitchFamily="34" charset="-122"/>
                <a:cs typeface="Consolas" pitchFamily="34" charset="-120"/>
              </a:rPr>
              <a:t>No bullet points, no markdown —</a:t>
            </a:r>
            <a:endParaRPr lang="en-US" sz="950" dirty="0"/>
          </a:p>
          <a:p>
            <a:pPr marL="0" indent="0" algn="l">
              <a:lnSpc>
                <a:spcPts val="1100"/>
              </a:lnSpc>
              <a:buNone/>
            </a:pPr>
            <a:r>
              <a:rPr lang="en-US" sz="950" dirty="0">
                <a:solidFill>
                  <a:srgbClr val="E2E6E9"/>
                </a:solidFill>
                <a:latin typeface="Consolas" pitchFamily="34" charset="0"/>
                <a:ea typeface="Consolas" pitchFamily="34" charset="-122"/>
                <a:cs typeface="Consolas" pitchFamily="34" charset="-120"/>
              </a:rPr>
              <a:t>just clear prose.</a:t>
            </a:r>
            <a:endParaRPr lang="en-US" sz="950" dirty="0"/>
          </a:p>
          <a:p>
            <a:pPr marL="0" indent="0" algn="l">
              <a:lnSpc>
                <a:spcPts val="1100"/>
              </a:lnSpc>
              <a:buNone/>
            </a:pPr>
            <a:r>
              <a:rPr lang="en-US" sz="950" dirty="0">
                <a:solidFill>
                  <a:srgbClr val="E2E6E9"/>
                </a:solidFill>
                <a:latin typeface="Consolas" pitchFamily="34" charset="0"/>
                <a:ea typeface="Consolas" pitchFamily="34" charset="-122"/>
                <a:cs typeface="Consolas" pitchFamily="34" charset="-120"/>
              </a:rPr>
              <a:t>"""</a:t>
            </a:r>
            <a:endParaRPr lang="en-US" sz="950" dirty="0"/>
          </a:p>
        </p:txBody>
      </p:sp>
      <p:sp>
        <p:nvSpPr>
          <p:cNvPr id="8" name="Shape 6"/>
          <p:cNvSpPr/>
          <p:nvPr/>
        </p:nvSpPr>
        <p:spPr>
          <a:xfrm>
            <a:off x="2958941" y="5710238"/>
            <a:ext cx="30480" cy="725805"/>
          </a:xfrm>
          <a:prstGeom prst="rect">
            <a:avLst/>
          </a:prstGeom>
          <a:solidFill>
            <a:srgbClr val="FFFFFF"/>
          </a:solidFill>
          <a:ln/>
        </p:spPr>
      </p:sp>
      <p:sp>
        <p:nvSpPr>
          <p:cNvPr id="9" name="Text 7"/>
          <p:cNvSpPr/>
          <p:nvPr/>
        </p:nvSpPr>
        <p:spPr>
          <a:xfrm>
            <a:off x="3125748" y="5725477"/>
            <a:ext cx="1376124" cy="172045"/>
          </a:xfrm>
          <a:prstGeom prst="rect">
            <a:avLst/>
          </a:prstGeom>
          <a:noFill/>
          <a:ln/>
        </p:spPr>
        <p:txBody>
          <a:bodyPr wrap="none" lIns="0" tIns="0" rIns="0" bIns="0" rtlCol="0" anchor="t"/>
          <a:lstStyle/>
          <a:p>
            <a:pPr marL="0" indent="0" algn="l">
              <a:lnSpc>
                <a:spcPts val="1350"/>
              </a:lnSpc>
              <a:buNone/>
            </a:pPr>
            <a:r>
              <a:rPr lang="en-US" sz="1050" b="1" dirty="0">
                <a:solidFill>
                  <a:srgbClr val="E2E6E9"/>
                </a:solidFill>
                <a:latin typeface="Montserrat Bold" pitchFamily="34" charset="0"/>
                <a:ea typeface="Montserrat Bold" pitchFamily="34" charset="-122"/>
                <a:cs typeface="Montserrat Bold" pitchFamily="34" charset="-120"/>
              </a:rPr>
              <a:t>"first 10 rows only"</a:t>
            </a:r>
            <a:endParaRPr lang="en-US" sz="1050" dirty="0"/>
          </a:p>
        </p:txBody>
      </p:sp>
      <p:sp>
        <p:nvSpPr>
          <p:cNvPr id="10" name="Text 8"/>
          <p:cNvSpPr/>
          <p:nvPr/>
        </p:nvSpPr>
        <p:spPr>
          <a:xfrm>
            <a:off x="3125748" y="5965388"/>
            <a:ext cx="1902738" cy="425053"/>
          </a:xfrm>
          <a:prstGeom prst="rect">
            <a:avLst/>
          </a:prstGeom>
          <a:noFill/>
          <a:ln/>
        </p:spPr>
        <p:txBody>
          <a:bodyPr wrap="square" lIns="0" tIns="0" rIns="0" bIns="0" rtlCol="0" anchor="t"/>
          <a:lstStyle/>
          <a:p>
            <a:pPr marL="0" indent="0" algn="l">
              <a:lnSpc>
                <a:spcPts val="1100"/>
              </a:lnSpc>
              <a:buNone/>
            </a:pPr>
            <a:r>
              <a:rPr lang="en-US" sz="950" dirty="0">
                <a:solidFill>
                  <a:srgbClr val="E2E6E9"/>
                </a:solidFill>
                <a:latin typeface="Source Sans 3" pitchFamily="34" charset="0"/>
                <a:ea typeface="Source Sans 3" pitchFamily="34" charset="-122"/>
                <a:cs typeface="Source Sans 3" pitchFamily="34" charset="-120"/>
              </a:rPr>
              <a:t>Not all 500 — keeps prompt under token limit while capturing the key pattern.</a:t>
            </a:r>
            <a:endParaRPr lang="en-US" sz="950" dirty="0"/>
          </a:p>
        </p:txBody>
      </p:sp>
      <p:sp>
        <p:nvSpPr>
          <p:cNvPr id="11" name="Shape 9"/>
          <p:cNvSpPr/>
          <p:nvPr/>
        </p:nvSpPr>
        <p:spPr>
          <a:xfrm>
            <a:off x="5098018" y="5710238"/>
            <a:ext cx="30480" cy="725805"/>
          </a:xfrm>
          <a:prstGeom prst="rect">
            <a:avLst/>
          </a:prstGeom>
          <a:solidFill>
            <a:srgbClr val="FFFFFF"/>
          </a:solidFill>
          <a:ln/>
        </p:spPr>
      </p:sp>
      <p:sp>
        <p:nvSpPr>
          <p:cNvPr id="12" name="Text 10"/>
          <p:cNvSpPr/>
          <p:nvPr/>
        </p:nvSpPr>
        <p:spPr>
          <a:xfrm>
            <a:off x="5264825" y="5725477"/>
            <a:ext cx="1902738" cy="344091"/>
          </a:xfrm>
          <a:prstGeom prst="rect">
            <a:avLst/>
          </a:prstGeom>
          <a:noFill/>
          <a:ln/>
        </p:spPr>
        <p:txBody>
          <a:bodyPr wrap="square" lIns="0" tIns="0" rIns="0" bIns="0" rtlCol="0" anchor="t"/>
          <a:lstStyle/>
          <a:p>
            <a:pPr marL="0" indent="0" algn="l">
              <a:lnSpc>
                <a:spcPts val="1350"/>
              </a:lnSpc>
              <a:buNone/>
            </a:pPr>
            <a:r>
              <a:rPr lang="en-US" sz="1050" b="1" dirty="0">
                <a:solidFill>
                  <a:srgbClr val="E2E6E9"/>
                </a:solidFill>
                <a:latin typeface="Montserrat Bold" pitchFamily="34" charset="0"/>
                <a:ea typeface="Montserrat Bold" pitchFamily="34" charset="-122"/>
                <a:cs typeface="Montserrat Bold" pitchFamily="34" charset="-120"/>
              </a:rPr>
              <a:t>"No bullet points, no markdown"</a:t>
            </a:r>
            <a:endParaRPr lang="en-US" sz="1050" dirty="0"/>
          </a:p>
        </p:txBody>
      </p:sp>
      <p:sp>
        <p:nvSpPr>
          <p:cNvPr id="13" name="Text 11"/>
          <p:cNvSpPr/>
          <p:nvPr/>
        </p:nvSpPr>
        <p:spPr>
          <a:xfrm>
            <a:off x="5264825" y="6137434"/>
            <a:ext cx="1902738" cy="283369"/>
          </a:xfrm>
          <a:prstGeom prst="rect">
            <a:avLst/>
          </a:prstGeom>
          <a:noFill/>
          <a:ln/>
        </p:spPr>
        <p:txBody>
          <a:bodyPr wrap="square" lIns="0" tIns="0" rIns="0" bIns="0" rtlCol="0" anchor="t"/>
          <a:lstStyle/>
          <a:p>
            <a:pPr marL="0" indent="0" algn="l">
              <a:lnSpc>
                <a:spcPts val="1100"/>
              </a:lnSpc>
              <a:buNone/>
            </a:pPr>
            <a:r>
              <a:rPr lang="en-US" sz="950" dirty="0">
                <a:solidFill>
                  <a:srgbClr val="E2E6E9"/>
                </a:solidFill>
                <a:latin typeface="Source Sans 3" pitchFamily="34" charset="0"/>
                <a:ea typeface="Source Sans 3" pitchFamily="34" charset="-122"/>
                <a:cs typeface="Source Sans 3" pitchFamily="34" charset="-120"/>
              </a:rPr>
              <a:t>Forces prose that Streamlit renders cleanly as plain text.</a:t>
            </a:r>
            <a:endParaRPr lang="en-US" sz="950" dirty="0"/>
          </a:p>
        </p:txBody>
      </p:sp>
      <p:sp>
        <p:nvSpPr>
          <p:cNvPr id="14" name="Shape 12"/>
          <p:cNvSpPr/>
          <p:nvPr/>
        </p:nvSpPr>
        <p:spPr>
          <a:xfrm>
            <a:off x="2958941" y="6541294"/>
            <a:ext cx="30480" cy="412075"/>
          </a:xfrm>
          <a:prstGeom prst="rect">
            <a:avLst/>
          </a:prstGeom>
          <a:solidFill>
            <a:srgbClr val="FFFFFF"/>
          </a:solidFill>
          <a:ln/>
        </p:spPr>
      </p:sp>
      <p:sp>
        <p:nvSpPr>
          <p:cNvPr id="15" name="Text 13"/>
          <p:cNvSpPr/>
          <p:nvPr/>
        </p:nvSpPr>
        <p:spPr>
          <a:xfrm>
            <a:off x="3125748" y="6556534"/>
            <a:ext cx="2483287" cy="172045"/>
          </a:xfrm>
          <a:prstGeom prst="rect">
            <a:avLst/>
          </a:prstGeom>
          <a:noFill/>
          <a:ln/>
        </p:spPr>
        <p:txBody>
          <a:bodyPr wrap="none" lIns="0" tIns="0" rIns="0" bIns="0" rtlCol="0" anchor="t"/>
          <a:lstStyle/>
          <a:p>
            <a:pPr marL="0" indent="0" algn="l">
              <a:lnSpc>
                <a:spcPts val="1350"/>
              </a:lnSpc>
              <a:buNone/>
            </a:pPr>
            <a:r>
              <a:rPr lang="en-US" sz="1050" b="1" dirty="0">
                <a:solidFill>
                  <a:srgbClr val="E2E6E9"/>
                </a:solidFill>
                <a:latin typeface="Montserrat Bold" pitchFamily="34" charset="0"/>
                <a:ea typeface="Montserrat Bold" pitchFamily="34" charset="-122"/>
                <a:cs typeface="Montserrat Bold" pitchFamily="34" charset="-120"/>
              </a:rPr>
              <a:t>"one actionable recommendation"</a:t>
            </a:r>
            <a:endParaRPr lang="en-US" sz="1050" dirty="0"/>
          </a:p>
        </p:txBody>
      </p:sp>
      <p:sp>
        <p:nvSpPr>
          <p:cNvPr id="16" name="Text 14"/>
          <p:cNvSpPr/>
          <p:nvPr/>
        </p:nvSpPr>
        <p:spPr>
          <a:xfrm>
            <a:off x="3125748" y="6796445"/>
            <a:ext cx="4041815" cy="141684"/>
          </a:xfrm>
          <a:prstGeom prst="rect">
            <a:avLst/>
          </a:prstGeom>
          <a:noFill/>
          <a:ln/>
        </p:spPr>
        <p:txBody>
          <a:bodyPr wrap="none" lIns="0" tIns="0" rIns="0" bIns="0" rtlCol="0" anchor="t"/>
          <a:lstStyle/>
          <a:p>
            <a:pPr marL="0" indent="0" algn="l">
              <a:lnSpc>
                <a:spcPts val="1100"/>
              </a:lnSpc>
              <a:buNone/>
            </a:pPr>
            <a:r>
              <a:rPr lang="en-US" sz="950" dirty="0">
                <a:solidFill>
                  <a:srgbClr val="E2E6E9"/>
                </a:solidFill>
                <a:latin typeface="Source Sans 3" pitchFamily="34" charset="0"/>
                <a:ea typeface="Source Sans 3" pitchFamily="34" charset="-122"/>
                <a:cs typeface="Source Sans 3" pitchFamily="34" charset="-120"/>
              </a:rPr>
              <a:t>Ensures business value — not just data description.</a:t>
            </a:r>
            <a:endParaRPr lang="en-US" sz="950" dirty="0"/>
          </a:p>
        </p:txBody>
      </p:sp>
      <p:sp>
        <p:nvSpPr>
          <p:cNvPr id="17" name="Shape 15"/>
          <p:cNvSpPr/>
          <p:nvPr/>
        </p:nvSpPr>
        <p:spPr>
          <a:xfrm>
            <a:off x="7383304" y="2257068"/>
            <a:ext cx="4367689" cy="4757380"/>
          </a:xfrm>
          <a:prstGeom prst="roundRect">
            <a:avLst>
              <a:gd name="adj" fmla="val 416"/>
            </a:avLst>
          </a:prstGeom>
          <a:solidFill>
            <a:srgbClr val="1D1F22"/>
          </a:solidFill>
          <a:ln/>
        </p:spPr>
      </p:sp>
      <p:sp>
        <p:nvSpPr>
          <p:cNvPr id="18" name="Text 16"/>
          <p:cNvSpPr/>
          <p:nvPr/>
        </p:nvSpPr>
        <p:spPr>
          <a:xfrm>
            <a:off x="7504390" y="2324933"/>
            <a:ext cx="1738432" cy="172045"/>
          </a:xfrm>
          <a:prstGeom prst="rect">
            <a:avLst/>
          </a:prstGeom>
          <a:noFill/>
          <a:ln/>
        </p:spPr>
        <p:txBody>
          <a:bodyPr wrap="none" lIns="0" tIns="0" rIns="0" bIns="0" rtlCol="0" anchor="t"/>
          <a:lstStyle/>
          <a:p>
            <a:pPr marL="0" indent="0" algn="l">
              <a:lnSpc>
                <a:spcPts val="1350"/>
              </a:lnSpc>
              <a:buNone/>
            </a:pPr>
            <a:r>
              <a:rPr lang="en-US" sz="1050" b="1" dirty="0">
                <a:solidFill>
                  <a:srgbClr val="FFFFFF"/>
                </a:solidFill>
                <a:latin typeface="Montserrat Bold" pitchFamily="34" charset="0"/>
                <a:ea typeface="Montserrat Bold" pitchFamily="34" charset="-122"/>
                <a:cs typeface="Montserrat Bold" pitchFamily="34" charset="-120"/>
              </a:rPr>
              <a:t>Example: input → output</a:t>
            </a:r>
            <a:endParaRPr lang="en-US" sz="1050" dirty="0"/>
          </a:p>
        </p:txBody>
      </p:sp>
      <p:sp>
        <p:nvSpPr>
          <p:cNvPr id="19" name="Text 17"/>
          <p:cNvSpPr/>
          <p:nvPr/>
        </p:nvSpPr>
        <p:spPr>
          <a:xfrm>
            <a:off x="7504390" y="2564844"/>
            <a:ext cx="4125516" cy="141684"/>
          </a:xfrm>
          <a:prstGeom prst="rect">
            <a:avLst/>
          </a:prstGeom>
          <a:noFill/>
          <a:ln/>
        </p:spPr>
        <p:txBody>
          <a:bodyPr wrap="none" lIns="0" tIns="0" rIns="0" bIns="0" rtlCol="0" anchor="t"/>
          <a:lstStyle/>
          <a:p>
            <a:pPr marL="0" indent="0" algn="l">
              <a:lnSpc>
                <a:spcPts val="1100"/>
              </a:lnSpc>
              <a:buNone/>
            </a:pPr>
            <a:r>
              <a:rPr lang="en-US" sz="950" b="1" dirty="0">
                <a:solidFill>
                  <a:srgbClr val="E2E6E9"/>
                </a:solidFill>
                <a:latin typeface="Source Sans 3" pitchFamily="34" charset="0"/>
                <a:ea typeface="Source Sans 3" pitchFamily="34" charset="-122"/>
                <a:cs typeface="Source Sans 3" pitchFamily="34" charset="-120"/>
              </a:rPr>
              <a:t>Question:</a:t>
            </a:r>
            <a:r>
              <a:rPr lang="en-US" sz="950" dirty="0">
                <a:solidFill>
                  <a:srgbClr val="E2E6E9"/>
                </a:solidFill>
                <a:latin typeface="Source Sans 3" pitchFamily="34" charset="0"/>
                <a:ea typeface="Source Sans 3" pitchFamily="34" charset="-122"/>
                <a:cs typeface="Source Sans 3" pitchFamily="34" charset="-120"/>
              </a:rPr>
              <a:t> "Top 5 restaurants by orders in Bangalore"</a:t>
            </a:r>
            <a:endParaRPr lang="en-US" sz="950" dirty="0"/>
          </a:p>
        </p:txBody>
      </p:sp>
      <p:sp>
        <p:nvSpPr>
          <p:cNvPr id="20" name="Text 18"/>
          <p:cNvSpPr/>
          <p:nvPr/>
        </p:nvSpPr>
        <p:spPr>
          <a:xfrm>
            <a:off x="7504390" y="2767608"/>
            <a:ext cx="4125516" cy="141684"/>
          </a:xfrm>
          <a:prstGeom prst="rect">
            <a:avLst/>
          </a:prstGeom>
          <a:noFill/>
          <a:ln/>
        </p:spPr>
        <p:txBody>
          <a:bodyPr wrap="none" lIns="0" tIns="0" rIns="0" bIns="0" rtlCol="0" anchor="t"/>
          <a:lstStyle/>
          <a:p>
            <a:pPr marL="0" indent="0" algn="l">
              <a:lnSpc>
                <a:spcPts val="1100"/>
              </a:lnSpc>
              <a:buNone/>
            </a:pPr>
            <a:r>
              <a:rPr lang="en-US" sz="950" b="1" dirty="0">
                <a:solidFill>
                  <a:srgbClr val="E2E6E9"/>
                </a:solidFill>
                <a:latin typeface="Source Sans 3" pitchFamily="34" charset="0"/>
                <a:ea typeface="Source Sans 3" pitchFamily="34" charset="-122"/>
                <a:cs typeface="Source Sans 3" pitchFamily="34" charset="-120"/>
              </a:rPr>
              <a:t>Data (3 of 5 rows):</a:t>
            </a:r>
            <a:endParaRPr lang="en-US" sz="950" dirty="0"/>
          </a:p>
        </p:txBody>
      </p:sp>
      <p:sp>
        <p:nvSpPr>
          <p:cNvPr id="21" name="Shape 19"/>
          <p:cNvSpPr/>
          <p:nvPr/>
        </p:nvSpPr>
        <p:spPr>
          <a:xfrm>
            <a:off x="7504390" y="2985611"/>
            <a:ext cx="4125516" cy="1233964"/>
          </a:xfrm>
          <a:prstGeom prst="roundRect">
            <a:avLst>
              <a:gd name="adj" fmla="val 1472"/>
            </a:avLst>
          </a:prstGeom>
          <a:solidFill>
            <a:srgbClr val="2A2C2F"/>
          </a:solidFill>
          <a:ln/>
        </p:spPr>
      </p:sp>
      <p:sp>
        <p:nvSpPr>
          <p:cNvPr id="22" name="Shape 20"/>
          <p:cNvSpPr/>
          <p:nvPr/>
        </p:nvSpPr>
        <p:spPr>
          <a:xfrm>
            <a:off x="7498437" y="2985611"/>
            <a:ext cx="4137422" cy="1233964"/>
          </a:xfrm>
          <a:prstGeom prst="roundRect">
            <a:avLst>
              <a:gd name="adj" fmla="val 1472"/>
            </a:avLst>
          </a:prstGeom>
          <a:solidFill>
            <a:srgbClr val="2A2C2F"/>
          </a:solidFill>
          <a:ln/>
        </p:spPr>
      </p:sp>
      <p:sp>
        <p:nvSpPr>
          <p:cNvPr id="23" name="Text 21"/>
          <p:cNvSpPr/>
          <p:nvPr/>
        </p:nvSpPr>
        <p:spPr>
          <a:xfrm>
            <a:off x="7649766" y="3106698"/>
            <a:ext cx="3834765" cy="991791"/>
          </a:xfrm>
          <a:prstGeom prst="rect">
            <a:avLst/>
          </a:prstGeom>
          <a:noFill/>
          <a:ln/>
        </p:spPr>
        <p:txBody>
          <a:bodyPr wrap="square" lIns="0" tIns="0" rIns="0" bIns="0" rtlCol="0" anchor="t"/>
          <a:lstStyle/>
          <a:p>
            <a:pPr marL="0" indent="0" algn="l">
              <a:lnSpc>
                <a:spcPts val="1100"/>
              </a:lnSpc>
              <a:buNone/>
            </a:pPr>
            <a:r>
              <a:rPr lang="en-US" sz="950" dirty="0">
                <a:solidFill>
                  <a:srgbClr val="79C0FF"/>
                </a:solidFill>
                <a:highlight>
                  <a:srgbClr val="2A2C2F"/>
                </a:highlight>
                <a:latin typeface="Consolas" pitchFamily="34" charset="0"/>
                <a:ea typeface="Consolas" pitchFamily="34" charset="-122"/>
                <a:cs typeface="Consolas" pitchFamily="34" charset="-120"/>
              </a:rPr>
              <a:t>[{"restaurant_name": "Paradise",</a:t>
            </a:r>
            <a:endParaRPr lang="en-US" sz="950" dirty="0"/>
          </a:p>
          <a:p>
            <a:pPr marL="0" indent="0" algn="l">
              <a:lnSpc>
                <a:spcPts val="1100"/>
              </a:lnSpc>
              <a:buNone/>
            </a:pPr>
            <a:r>
              <a:rPr lang="en-US" sz="950" dirty="0">
                <a:solidFill>
                  <a:srgbClr val="79C0FF"/>
                </a:solidFill>
                <a:highlight>
                  <a:srgbClr val="2A2C2F"/>
                </a:highlight>
                <a:latin typeface="Consolas" pitchFamily="34" charset="0"/>
                <a:ea typeface="Consolas" pitchFamily="34" charset="-122"/>
                <a:cs typeface="Consolas" pitchFamily="34" charset="-120"/>
              </a:rPr>
              <a:t>   "orders": 3420,</a:t>
            </a:r>
            <a:endParaRPr lang="en-US" sz="950" dirty="0"/>
          </a:p>
          <a:p>
            <a:pPr marL="0" indent="0" algn="l">
              <a:lnSpc>
                <a:spcPts val="1100"/>
              </a:lnSpc>
              <a:buNone/>
            </a:pPr>
            <a:r>
              <a:rPr lang="en-US" sz="950" dirty="0">
                <a:solidFill>
                  <a:srgbClr val="79C0FF"/>
                </a:solidFill>
                <a:highlight>
                  <a:srgbClr val="2A2C2F"/>
                </a:highlight>
                <a:latin typeface="Consolas" pitchFamily="34" charset="0"/>
                <a:ea typeface="Consolas" pitchFamily="34" charset="-122"/>
                <a:cs typeface="Consolas" pitchFamily="34" charset="-120"/>
              </a:rPr>
              <a:t>   "revenue": 1089540.50},</a:t>
            </a:r>
            <a:endParaRPr lang="en-US" sz="950" dirty="0"/>
          </a:p>
          <a:p>
            <a:pPr marL="0" indent="0" algn="l">
              <a:lnSpc>
                <a:spcPts val="1100"/>
              </a:lnSpc>
              <a:buNone/>
            </a:pPr>
            <a:r>
              <a:rPr lang="en-US" sz="950" dirty="0">
                <a:solidFill>
                  <a:srgbClr val="79C0FF"/>
                </a:solidFill>
                <a:highlight>
                  <a:srgbClr val="2A2C2F"/>
                </a:highlight>
                <a:latin typeface="Consolas" pitchFamily="34" charset="0"/>
                <a:ea typeface="Consolas" pitchFamily="34" charset="-122"/>
                <a:cs typeface="Consolas" pitchFamily="34" charset="-120"/>
              </a:rPr>
              <a:t> {"restaurant_name": "Meghana Foods",</a:t>
            </a:r>
            <a:endParaRPr lang="en-US" sz="950" dirty="0"/>
          </a:p>
          <a:p>
            <a:pPr marL="0" indent="0" algn="l">
              <a:lnSpc>
                <a:spcPts val="1100"/>
              </a:lnSpc>
              <a:buNone/>
            </a:pPr>
            <a:r>
              <a:rPr lang="en-US" sz="950" dirty="0">
                <a:solidFill>
                  <a:srgbClr val="79C0FF"/>
                </a:solidFill>
                <a:highlight>
                  <a:srgbClr val="2A2C2F"/>
                </a:highlight>
                <a:latin typeface="Consolas" pitchFamily="34" charset="0"/>
                <a:ea typeface="Consolas" pitchFamily="34" charset="-122"/>
                <a:cs typeface="Consolas" pitchFamily="34" charset="-120"/>
              </a:rPr>
              <a:t>   "orders": 2891, ...},</a:t>
            </a:r>
            <a:endParaRPr lang="en-US" sz="950" dirty="0"/>
          </a:p>
          <a:p>
            <a:pPr marL="0" indent="0" algn="l">
              <a:lnSpc>
                <a:spcPts val="1100"/>
              </a:lnSpc>
              <a:buNone/>
            </a:pPr>
            <a:r>
              <a:rPr lang="en-US" sz="950" dirty="0">
                <a:solidFill>
                  <a:srgbClr val="79C0FF"/>
                </a:solidFill>
                <a:highlight>
                  <a:srgbClr val="2A2C2F"/>
                </a:highlight>
                <a:latin typeface="Consolas" pitchFamily="34" charset="0"/>
                <a:ea typeface="Consolas" pitchFamily="34" charset="-122"/>
                <a:cs typeface="Consolas" pitchFamily="34" charset="-120"/>
              </a:rPr>
              <a:t> {"restaurant_name": "Truffles",</a:t>
            </a:r>
            <a:endParaRPr lang="en-US" sz="950" dirty="0"/>
          </a:p>
          <a:p>
            <a:pPr marL="0" indent="0" algn="l">
              <a:lnSpc>
                <a:spcPts val="1100"/>
              </a:lnSpc>
              <a:buNone/>
            </a:pPr>
            <a:r>
              <a:rPr lang="en-US" sz="950" dirty="0">
                <a:solidFill>
                  <a:srgbClr val="79C0FF"/>
                </a:solidFill>
                <a:highlight>
                  <a:srgbClr val="2A2C2F"/>
                </a:highlight>
                <a:latin typeface="Consolas" pitchFamily="34" charset="0"/>
                <a:ea typeface="Consolas" pitchFamily="34" charset="-122"/>
                <a:cs typeface="Consolas" pitchFamily="34" charset="-120"/>
              </a:rPr>
              <a:t>   "orders": 2103, ...}]</a:t>
            </a:r>
            <a:endParaRPr lang="en-US" sz="950" dirty="0"/>
          </a:p>
        </p:txBody>
      </p:sp>
      <p:sp>
        <p:nvSpPr>
          <p:cNvPr id="24" name="Text 22"/>
          <p:cNvSpPr/>
          <p:nvPr/>
        </p:nvSpPr>
        <p:spPr>
          <a:xfrm>
            <a:off x="7504390" y="4295894"/>
            <a:ext cx="4125516" cy="141684"/>
          </a:xfrm>
          <a:prstGeom prst="rect">
            <a:avLst/>
          </a:prstGeom>
          <a:noFill/>
          <a:ln/>
        </p:spPr>
        <p:txBody>
          <a:bodyPr wrap="none" lIns="0" tIns="0" rIns="0" bIns="0" rtlCol="0" anchor="t"/>
          <a:lstStyle/>
          <a:p>
            <a:pPr marL="0" indent="0" algn="l">
              <a:lnSpc>
                <a:spcPts val="1100"/>
              </a:lnSpc>
              <a:buNone/>
            </a:pPr>
            <a:r>
              <a:rPr lang="en-US" sz="950" b="1" dirty="0">
                <a:solidFill>
                  <a:srgbClr val="E2E6E9"/>
                </a:solidFill>
                <a:latin typeface="Source Sans 3" pitchFamily="34" charset="0"/>
                <a:ea typeface="Source Sans 3" pitchFamily="34" charset="-122"/>
                <a:cs typeface="Source Sans 3" pitchFamily="34" charset="-120"/>
              </a:rPr>
              <a:t>Narrative output:</a:t>
            </a:r>
            <a:endParaRPr lang="en-US" sz="950" dirty="0"/>
          </a:p>
        </p:txBody>
      </p:sp>
      <p:sp>
        <p:nvSpPr>
          <p:cNvPr id="25" name="Text 23"/>
          <p:cNvSpPr/>
          <p:nvPr/>
        </p:nvSpPr>
        <p:spPr>
          <a:xfrm>
            <a:off x="7685961" y="4513898"/>
            <a:ext cx="3943945" cy="708422"/>
          </a:xfrm>
          <a:prstGeom prst="rect">
            <a:avLst/>
          </a:prstGeom>
          <a:noFill/>
          <a:ln/>
        </p:spPr>
        <p:txBody>
          <a:bodyPr wrap="square" lIns="0" tIns="0" rIns="0" bIns="0" rtlCol="0" anchor="t"/>
          <a:lstStyle/>
          <a:p>
            <a:pPr marL="0" indent="0" algn="l">
              <a:lnSpc>
                <a:spcPts val="1100"/>
              </a:lnSpc>
              <a:buNone/>
            </a:pPr>
            <a:r>
              <a:rPr lang="en-US" sz="950" dirty="0">
                <a:solidFill>
                  <a:srgbClr val="E2E6E9"/>
                </a:solidFill>
                <a:latin typeface="Source Sans 3" pitchFamily="34" charset="0"/>
                <a:ea typeface="Source Sans 3" pitchFamily="34" charset="-122"/>
                <a:cs typeface="Source Sans 3" pitchFamily="34" charset="-120"/>
              </a:rPr>
              <a:t>"Paradise leads Bangalore with 3,420 orders — 18% more than second-ranked Meghana Foods (2,891 orders). The top 5 restaurants collectively account for 61% of total Bangalore order volume. Consider running PUSH_101 during lunch hours to drive orders at lower-ranked restaurants where there is headroom to grow."</a:t>
            </a:r>
            <a:endParaRPr lang="en-US" sz="950" dirty="0"/>
          </a:p>
        </p:txBody>
      </p:sp>
      <p:sp>
        <p:nvSpPr>
          <p:cNvPr id="26" name="Shape 24"/>
          <p:cNvSpPr/>
          <p:nvPr/>
        </p:nvSpPr>
        <p:spPr>
          <a:xfrm>
            <a:off x="7504390" y="4513898"/>
            <a:ext cx="15240" cy="708422"/>
          </a:xfrm>
          <a:prstGeom prst="rect">
            <a:avLst/>
          </a:prstGeom>
          <a:solidFill>
            <a:srgbClr val="FFFFFF"/>
          </a:solidFill>
          <a:ln/>
        </p:spPr>
      </p:sp>
      <p:sp>
        <p:nvSpPr>
          <p:cNvPr id="27" name="Shape 25"/>
          <p:cNvSpPr/>
          <p:nvPr/>
        </p:nvSpPr>
        <p:spPr>
          <a:xfrm>
            <a:off x="7504390" y="5298638"/>
            <a:ext cx="4125516" cy="745569"/>
          </a:xfrm>
          <a:prstGeom prst="roundRect">
            <a:avLst>
              <a:gd name="adj" fmla="val 2437"/>
            </a:avLst>
          </a:prstGeom>
          <a:noFill/>
          <a:ln w="7620">
            <a:solidFill>
              <a:srgbClr val="FFFFFF">
                <a:alpha val="24000"/>
              </a:srgbClr>
            </a:solidFill>
            <a:prstDash val="solid"/>
          </a:ln>
        </p:spPr>
      </p:sp>
      <p:sp>
        <p:nvSpPr>
          <p:cNvPr id="28" name="Text 26"/>
          <p:cNvSpPr/>
          <p:nvPr/>
        </p:nvSpPr>
        <p:spPr>
          <a:xfrm>
            <a:off x="7633811" y="5354598"/>
            <a:ext cx="1127522" cy="141684"/>
          </a:xfrm>
          <a:prstGeom prst="rect">
            <a:avLst/>
          </a:prstGeom>
          <a:noFill/>
          <a:ln/>
        </p:spPr>
        <p:txBody>
          <a:bodyPr wrap="none" lIns="0" tIns="0" rIns="0" bIns="0" rtlCol="0" anchor="t"/>
          <a:lstStyle/>
          <a:p>
            <a:pPr marL="0" indent="0" algn="l">
              <a:lnSpc>
                <a:spcPts val="1100"/>
              </a:lnSpc>
              <a:buNone/>
            </a:pPr>
            <a:r>
              <a:rPr lang="en-US" sz="950" b="1" dirty="0">
                <a:solidFill>
                  <a:srgbClr val="E2E6E9"/>
                </a:solidFill>
                <a:latin typeface="Source Sans 3" pitchFamily="34" charset="0"/>
                <a:ea typeface="Source Sans 3" pitchFamily="34" charset="-122"/>
                <a:cs typeface="Source Sans 3" pitchFamily="34" charset="-120"/>
              </a:rPr>
              <a:t>Task</a:t>
            </a:r>
            <a:endParaRPr lang="en-US" sz="950" dirty="0"/>
          </a:p>
        </p:txBody>
      </p:sp>
      <p:sp>
        <p:nvSpPr>
          <p:cNvPr id="29" name="Text 27"/>
          <p:cNvSpPr/>
          <p:nvPr/>
        </p:nvSpPr>
        <p:spPr>
          <a:xfrm>
            <a:off x="9003506" y="5354598"/>
            <a:ext cx="1127522" cy="141684"/>
          </a:xfrm>
          <a:prstGeom prst="rect">
            <a:avLst/>
          </a:prstGeom>
          <a:noFill/>
          <a:ln/>
        </p:spPr>
        <p:txBody>
          <a:bodyPr wrap="none" lIns="0" tIns="0" rIns="0" bIns="0" rtlCol="0" anchor="t"/>
          <a:lstStyle/>
          <a:p>
            <a:pPr marL="0" indent="0" algn="l">
              <a:lnSpc>
                <a:spcPts val="1100"/>
              </a:lnSpc>
              <a:buNone/>
            </a:pPr>
            <a:r>
              <a:rPr lang="en-US" sz="950" b="1" dirty="0">
                <a:solidFill>
                  <a:srgbClr val="E2E6E9"/>
                </a:solidFill>
                <a:latin typeface="Source Sans 3" pitchFamily="34" charset="0"/>
                <a:ea typeface="Source Sans 3" pitchFamily="34" charset="-122"/>
                <a:cs typeface="Source Sans 3" pitchFamily="34" charset="-120"/>
              </a:rPr>
              <a:t>Model</a:t>
            </a:r>
            <a:endParaRPr lang="en-US" sz="950" dirty="0"/>
          </a:p>
        </p:txBody>
      </p:sp>
      <p:sp>
        <p:nvSpPr>
          <p:cNvPr id="30" name="Text 28"/>
          <p:cNvSpPr/>
          <p:nvPr/>
        </p:nvSpPr>
        <p:spPr>
          <a:xfrm>
            <a:off x="10373201" y="5354598"/>
            <a:ext cx="1127522" cy="141684"/>
          </a:xfrm>
          <a:prstGeom prst="rect">
            <a:avLst/>
          </a:prstGeom>
          <a:noFill/>
          <a:ln/>
        </p:spPr>
        <p:txBody>
          <a:bodyPr wrap="none" lIns="0" tIns="0" rIns="0" bIns="0" rtlCol="0" anchor="t"/>
          <a:lstStyle/>
          <a:p>
            <a:pPr marL="0" indent="0" algn="l">
              <a:lnSpc>
                <a:spcPts val="1100"/>
              </a:lnSpc>
              <a:buNone/>
            </a:pPr>
            <a:r>
              <a:rPr lang="en-US" sz="950" b="1" dirty="0">
                <a:solidFill>
                  <a:srgbClr val="E2E6E9"/>
                </a:solidFill>
                <a:latin typeface="Source Sans 3" pitchFamily="34" charset="0"/>
                <a:ea typeface="Source Sans 3" pitchFamily="34" charset="-122"/>
                <a:cs typeface="Source Sans 3" pitchFamily="34" charset="-120"/>
              </a:rPr>
              <a:t>Cost tier</a:t>
            </a:r>
            <a:endParaRPr lang="en-US" sz="950" dirty="0"/>
          </a:p>
        </p:txBody>
      </p:sp>
      <p:sp>
        <p:nvSpPr>
          <p:cNvPr id="31" name="Text 29"/>
          <p:cNvSpPr/>
          <p:nvPr/>
        </p:nvSpPr>
        <p:spPr>
          <a:xfrm>
            <a:off x="7633811" y="5600581"/>
            <a:ext cx="1127522" cy="141684"/>
          </a:xfrm>
          <a:prstGeom prst="rect">
            <a:avLst/>
          </a:prstGeom>
          <a:noFill/>
          <a:ln/>
        </p:spPr>
        <p:txBody>
          <a:bodyPr wrap="none" lIns="0" tIns="0" rIns="0" bIns="0" rtlCol="0" anchor="t"/>
          <a:lstStyle/>
          <a:p>
            <a:pPr marL="0" indent="0" algn="l">
              <a:lnSpc>
                <a:spcPts val="1100"/>
              </a:lnSpc>
              <a:buNone/>
            </a:pPr>
            <a:r>
              <a:rPr lang="en-US" sz="950" dirty="0">
                <a:solidFill>
                  <a:srgbClr val="E2E6E9"/>
                </a:solidFill>
                <a:latin typeface="Source Sans 3" pitchFamily="34" charset="0"/>
                <a:ea typeface="Source Sans 3" pitchFamily="34" charset="-122"/>
                <a:cs typeface="Source Sans 3" pitchFamily="34" charset="-120"/>
              </a:rPr>
              <a:t>SQL generation</a:t>
            </a:r>
            <a:endParaRPr lang="en-US" sz="950" dirty="0"/>
          </a:p>
        </p:txBody>
      </p:sp>
      <p:sp>
        <p:nvSpPr>
          <p:cNvPr id="32" name="Text 30"/>
          <p:cNvSpPr/>
          <p:nvPr/>
        </p:nvSpPr>
        <p:spPr>
          <a:xfrm>
            <a:off x="9003506" y="5600581"/>
            <a:ext cx="1127522" cy="141684"/>
          </a:xfrm>
          <a:prstGeom prst="rect">
            <a:avLst/>
          </a:prstGeom>
          <a:noFill/>
          <a:ln/>
        </p:spPr>
        <p:txBody>
          <a:bodyPr wrap="none" lIns="0" tIns="0" rIns="0" bIns="0" rtlCol="0" anchor="t"/>
          <a:lstStyle/>
          <a:p>
            <a:pPr marL="0" indent="0" algn="l">
              <a:lnSpc>
                <a:spcPts val="1100"/>
              </a:lnSpc>
              <a:buNone/>
            </a:pPr>
            <a:r>
              <a:rPr lang="en-US" sz="950" dirty="0">
                <a:solidFill>
                  <a:srgbClr val="E2E6E9"/>
                </a:solidFill>
                <a:latin typeface="Source Sans 3" pitchFamily="34" charset="0"/>
                <a:ea typeface="Source Sans 3" pitchFamily="34" charset="-122"/>
                <a:cs typeface="Source Sans 3" pitchFamily="34" charset="-120"/>
              </a:rPr>
              <a:t>llama3.1-70b</a:t>
            </a:r>
            <a:endParaRPr lang="en-US" sz="950" dirty="0"/>
          </a:p>
        </p:txBody>
      </p:sp>
      <p:sp>
        <p:nvSpPr>
          <p:cNvPr id="33" name="Text 31"/>
          <p:cNvSpPr/>
          <p:nvPr/>
        </p:nvSpPr>
        <p:spPr>
          <a:xfrm>
            <a:off x="10373201" y="5600581"/>
            <a:ext cx="1127522" cy="141684"/>
          </a:xfrm>
          <a:prstGeom prst="rect">
            <a:avLst/>
          </a:prstGeom>
          <a:noFill/>
          <a:ln/>
        </p:spPr>
        <p:txBody>
          <a:bodyPr wrap="none" lIns="0" tIns="0" rIns="0" bIns="0" rtlCol="0" anchor="t"/>
          <a:lstStyle/>
          <a:p>
            <a:pPr marL="0" indent="0" algn="l">
              <a:lnSpc>
                <a:spcPts val="1100"/>
              </a:lnSpc>
              <a:buNone/>
            </a:pPr>
            <a:r>
              <a:rPr lang="en-US" sz="950" dirty="0">
                <a:solidFill>
                  <a:srgbClr val="E2E6E9"/>
                </a:solidFill>
                <a:latin typeface="Source Sans 3" pitchFamily="34" charset="0"/>
                <a:ea typeface="Source Sans 3" pitchFamily="34" charset="-122"/>
                <a:cs typeface="Source Sans 3" pitchFamily="34" charset="-120"/>
              </a:rPr>
              <a:t>Higher</a:t>
            </a:r>
            <a:endParaRPr lang="en-US" sz="950" dirty="0"/>
          </a:p>
        </p:txBody>
      </p:sp>
      <p:sp>
        <p:nvSpPr>
          <p:cNvPr id="34" name="Text 32"/>
          <p:cNvSpPr/>
          <p:nvPr/>
        </p:nvSpPr>
        <p:spPr>
          <a:xfrm>
            <a:off x="7633811" y="5846564"/>
            <a:ext cx="1127522" cy="141684"/>
          </a:xfrm>
          <a:prstGeom prst="rect">
            <a:avLst/>
          </a:prstGeom>
          <a:noFill/>
          <a:ln/>
        </p:spPr>
        <p:txBody>
          <a:bodyPr wrap="none" lIns="0" tIns="0" rIns="0" bIns="0" rtlCol="0" anchor="t"/>
          <a:lstStyle/>
          <a:p>
            <a:pPr marL="0" indent="0" algn="l">
              <a:lnSpc>
                <a:spcPts val="1100"/>
              </a:lnSpc>
              <a:buNone/>
            </a:pPr>
            <a:r>
              <a:rPr lang="en-US" sz="950" dirty="0">
                <a:solidFill>
                  <a:srgbClr val="E2E6E9"/>
                </a:solidFill>
                <a:latin typeface="Source Sans 3" pitchFamily="34" charset="0"/>
                <a:ea typeface="Source Sans 3" pitchFamily="34" charset="-122"/>
                <a:cs typeface="Source Sans 3" pitchFamily="34" charset="-120"/>
              </a:rPr>
              <a:t>Narrative generation</a:t>
            </a:r>
            <a:endParaRPr lang="en-US" sz="950" dirty="0"/>
          </a:p>
        </p:txBody>
      </p:sp>
      <p:sp>
        <p:nvSpPr>
          <p:cNvPr id="35" name="Text 33"/>
          <p:cNvSpPr/>
          <p:nvPr/>
        </p:nvSpPr>
        <p:spPr>
          <a:xfrm>
            <a:off x="9003506" y="5846564"/>
            <a:ext cx="1127522" cy="141684"/>
          </a:xfrm>
          <a:prstGeom prst="rect">
            <a:avLst/>
          </a:prstGeom>
          <a:noFill/>
          <a:ln/>
        </p:spPr>
        <p:txBody>
          <a:bodyPr wrap="none" lIns="0" tIns="0" rIns="0" bIns="0" rtlCol="0" anchor="t"/>
          <a:lstStyle/>
          <a:p>
            <a:pPr marL="0" indent="0" algn="l">
              <a:lnSpc>
                <a:spcPts val="1100"/>
              </a:lnSpc>
              <a:buNone/>
            </a:pPr>
            <a:r>
              <a:rPr lang="en-US" sz="950" dirty="0">
                <a:solidFill>
                  <a:srgbClr val="E2E6E9"/>
                </a:solidFill>
                <a:latin typeface="Source Sans 3" pitchFamily="34" charset="0"/>
                <a:ea typeface="Source Sans 3" pitchFamily="34" charset="-122"/>
                <a:cs typeface="Source Sans 3" pitchFamily="34" charset="-120"/>
              </a:rPr>
              <a:t>llama3.1-8b</a:t>
            </a:r>
            <a:endParaRPr lang="en-US" sz="950" dirty="0"/>
          </a:p>
        </p:txBody>
      </p:sp>
      <p:sp>
        <p:nvSpPr>
          <p:cNvPr id="36" name="Text 34"/>
          <p:cNvSpPr/>
          <p:nvPr/>
        </p:nvSpPr>
        <p:spPr>
          <a:xfrm>
            <a:off x="10373201" y="5846564"/>
            <a:ext cx="1127522" cy="141684"/>
          </a:xfrm>
          <a:prstGeom prst="rect">
            <a:avLst/>
          </a:prstGeom>
          <a:noFill/>
          <a:ln/>
        </p:spPr>
        <p:txBody>
          <a:bodyPr wrap="none" lIns="0" tIns="0" rIns="0" bIns="0" rtlCol="0" anchor="t"/>
          <a:lstStyle/>
          <a:p>
            <a:pPr marL="0" indent="0" algn="l">
              <a:lnSpc>
                <a:spcPts val="1100"/>
              </a:lnSpc>
              <a:buNone/>
            </a:pPr>
            <a:r>
              <a:rPr lang="en-US" sz="950" dirty="0">
                <a:solidFill>
                  <a:srgbClr val="E2E6E9"/>
                </a:solidFill>
                <a:latin typeface="Source Sans 3" pitchFamily="34" charset="0"/>
                <a:ea typeface="Source Sans 3" pitchFamily="34" charset="-122"/>
                <a:cs typeface="Source Sans 3" pitchFamily="34" charset="-120"/>
              </a:rPr>
              <a:t>Lower</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3190399" y="1734145"/>
            <a:ext cx="8249483" cy="653891"/>
          </a:xfrm>
          <a:prstGeom prst="rect">
            <a:avLst/>
          </a:prstGeom>
          <a:noFill/>
          <a:ln/>
        </p:spPr>
        <p:txBody>
          <a:bodyPr wrap="square" lIns="0" tIns="0" rIns="0" bIns="0" rtlCol="0" anchor="t"/>
          <a:lstStyle/>
          <a:p>
            <a:pPr marL="0" indent="0" algn="l">
              <a:lnSpc>
                <a:spcPts val="2550"/>
              </a:lnSpc>
              <a:buNone/>
            </a:pPr>
            <a:r>
              <a:rPr lang="en-US" sz="2050" b="1" dirty="0">
                <a:solidFill>
                  <a:srgbClr val="FFFFFF"/>
                </a:solidFill>
                <a:latin typeface="Montserrat Bold" pitchFamily="34" charset="0"/>
                <a:ea typeface="Montserrat Bold" pitchFamily="34" charset="-122"/>
                <a:cs typeface="Montserrat Bold" pitchFamily="34" charset="-120"/>
              </a:rPr>
              <a:t>The RETURNS VARIANT — The Structured Response That Streamlit Renders</a:t>
            </a:r>
            <a:endParaRPr lang="en-US" sz="2050" dirty="0"/>
          </a:p>
        </p:txBody>
      </p:sp>
      <p:sp>
        <p:nvSpPr>
          <p:cNvPr id="3" name="Text 1"/>
          <p:cNvSpPr/>
          <p:nvPr/>
        </p:nvSpPr>
        <p:spPr>
          <a:xfrm>
            <a:off x="3190399" y="2510552"/>
            <a:ext cx="8249483" cy="264557"/>
          </a:xfrm>
          <a:prstGeom prst="rect">
            <a:avLst/>
          </a:prstGeom>
          <a:noFill/>
          <a:ln/>
        </p:spPr>
        <p:txBody>
          <a:bodyPr wrap="squar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Every Python SP returns VARIANT — Snowflake's semi-structured JSON type. SP_SQL_ANALYST returns 7 keys. SP_GATEWAY adds an 8th (_gateway). Streamlit receives all 8 and uses each one for a different UI element.</a:t>
            </a:r>
            <a:endParaRPr lang="en-US" sz="900" dirty="0"/>
          </a:p>
        </p:txBody>
      </p:sp>
      <p:sp>
        <p:nvSpPr>
          <p:cNvPr id="4" name="Text 2"/>
          <p:cNvSpPr/>
          <p:nvPr/>
        </p:nvSpPr>
        <p:spPr>
          <a:xfrm>
            <a:off x="3190399" y="2905244"/>
            <a:ext cx="1709023" cy="163354"/>
          </a:xfrm>
          <a:prstGeom prst="rect">
            <a:avLst/>
          </a:prstGeom>
          <a:noFill/>
          <a:ln/>
        </p:spPr>
        <p:txBody>
          <a:bodyPr wrap="none" lIns="0" tIns="0" rIns="0" bIns="0" rtlCol="0" anchor="t"/>
          <a:lstStyle/>
          <a:p>
            <a:pPr marL="0" indent="0" algn="l">
              <a:lnSpc>
                <a:spcPts val="1250"/>
              </a:lnSpc>
              <a:buNone/>
            </a:pPr>
            <a:r>
              <a:rPr lang="en-US" sz="1000" b="1" dirty="0">
                <a:solidFill>
                  <a:srgbClr val="FFFFFF"/>
                </a:solidFill>
                <a:latin typeface="Montserrat Bold" pitchFamily="34" charset="0"/>
                <a:ea typeface="Montserrat Bold" pitchFamily="34" charset="-122"/>
                <a:cs typeface="Montserrat Bold" pitchFamily="34" charset="-120"/>
              </a:rPr>
              <a:t>The complete return dict</a:t>
            </a:r>
            <a:endParaRPr lang="en-US" sz="1000" dirty="0"/>
          </a:p>
        </p:txBody>
      </p:sp>
      <p:sp>
        <p:nvSpPr>
          <p:cNvPr id="5" name="Shape 3"/>
          <p:cNvSpPr/>
          <p:nvPr/>
        </p:nvSpPr>
        <p:spPr>
          <a:xfrm>
            <a:off x="3190399" y="3137535"/>
            <a:ext cx="4410789" cy="3140154"/>
          </a:xfrm>
          <a:prstGeom prst="roundRect">
            <a:avLst>
              <a:gd name="adj" fmla="val 550"/>
            </a:avLst>
          </a:prstGeom>
          <a:solidFill>
            <a:srgbClr val="1E1F20"/>
          </a:solidFill>
          <a:ln/>
        </p:spPr>
      </p:sp>
      <p:sp>
        <p:nvSpPr>
          <p:cNvPr id="6" name="Shape 4"/>
          <p:cNvSpPr/>
          <p:nvPr/>
        </p:nvSpPr>
        <p:spPr>
          <a:xfrm>
            <a:off x="3184684" y="3137535"/>
            <a:ext cx="4422219" cy="3140154"/>
          </a:xfrm>
          <a:prstGeom prst="roundRect">
            <a:avLst>
              <a:gd name="adj" fmla="val 550"/>
            </a:avLst>
          </a:prstGeom>
          <a:solidFill>
            <a:srgbClr val="1E1F20"/>
          </a:solidFill>
          <a:ln/>
        </p:spPr>
      </p:sp>
      <p:sp>
        <p:nvSpPr>
          <p:cNvPr id="7" name="Text 5"/>
          <p:cNvSpPr/>
          <p:nvPr/>
        </p:nvSpPr>
        <p:spPr>
          <a:xfrm>
            <a:off x="3328511" y="3252549"/>
            <a:ext cx="4134564" cy="2910126"/>
          </a:xfrm>
          <a:prstGeom prst="rect">
            <a:avLst/>
          </a:prstGeom>
          <a:noFill/>
          <a:ln/>
        </p:spPr>
        <p:txBody>
          <a:bodyPr wrap="square" lIns="0" tIns="0" rIns="0" bIns="0" rtlCol="0" anchor="t"/>
          <a:lstStyle/>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"status":    "success",       # or "error"</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"sql":       "SELECT ...",    # SQL expander</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"narrative": "Paradise leads...", # main text</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"results": [                  # → st.dataframe</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{"city": "Bangalore",</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"revenue": 2300000.5},</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{"city": "Hyderabad",</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"revenue": 1890000.2}, ...</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"columns":    ["city","revenue"], # headers</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"row_count":  42,             # caption</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"fallback_used": False,       # retry badge</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"error":      None,           # error message</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"_gateway": {  # ADDED BY SP_GATEWAY</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"classified_intent": "ANALYST",</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"confidence":        0.85,</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"method":            "llm",</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"cross_fallback_used": False,</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"session_id":        "uuid-here"</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  }</a:t>
            </a:r>
            <a:endParaRPr lang="en-US" sz="900" dirty="0"/>
          </a:p>
          <a:p>
            <a:pPr marL="0" indent="0" algn="l">
              <a:lnSpc>
                <a:spcPts val="1000"/>
              </a:lnSpc>
              <a:buNone/>
            </a:pPr>
            <a:r>
              <a:rPr lang="en-US" sz="900" dirty="0">
                <a:solidFill>
                  <a:srgbClr val="E2E6E9"/>
                </a:solidFill>
                <a:latin typeface="Consolas" pitchFamily="34" charset="0"/>
                <a:ea typeface="Consolas" pitchFamily="34" charset="-122"/>
                <a:cs typeface="Consolas" pitchFamily="34" charset="-120"/>
              </a:rPr>
              <a:t>}</a:t>
            </a:r>
            <a:endParaRPr lang="en-US" sz="900" dirty="0"/>
          </a:p>
        </p:txBody>
      </p:sp>
      <p:sp>
        <p:nvSpPr>
          <p:cNvPr id="8" name="Shape 6"/>
          <p:cNvSpPr/>
          <p:nvPr/>
        </p:nvSpPr>
        <p:spPr>
          <a:xfrm>
            <a:off x="7806690" y="2844046"/>
            <a:ext cx="3723561" cy="3651409"/>
          </a:xfrm>
          <a:prstGeom prst="roundRect">
            <a:avLst>
              <a:gd name="adj" fmla="val 473"/>
            </a:avLst>
          </a:prstGeom>
          <a:solidFill>
            <a:srgbClr val="1D1F22"/>
          </a:solidFill>
          <a:ln/>
        </p:spPr>
      </p:sp>
      <p:sp>
        <p:nvSpPr>
          <p:cNvPr id="9" name="Text 7"/>
          <p:cNvSpPr/>
          <p:nvPr/>
        </p:nvSpPr>
        <p:spPr>
          <a:xfrm>
            <a:off x="7921704" y="2905244"/>
            <a:ext cx="1972389" cy="163354"/>
          </a:xfrm>
          <a:prstGeom prst="rect">
            <a:avLst/>
          </a:prstGeom>
          <a:noFill/>
          <a:ln/>
        </p:spPr>
        <p:txBody>
          <a:bodyPr wrap="none" lIns="0" tIns="0" rIns="0" bIns="0" rtlCol="0" anchor="t"/>
          <a:lstStyle/>
          <a:p>
            <a:pPr marL="0" indent="0" algn="l">
              <a:lnSpc>
                <a:spcPts val="1250"/>
              </a:lnSpc>
              <a:buNone/>
            </a:pPr>
            <a:r>
              <a:rPr lang="en-US" sz="1000" b="1" dirty="0">
                <a:solidFill>
                  <a:srgbClr val="E2E6E9"/>
                </a:solidFill>
                <a:latin typeface="Montserrat Bold" pitchFamily="34" charset="0"/>
                <a:ea typeface="Montserrat Bold" pitchFamily="34" charset="-122"/>
                <a:cs typeface="Montserrat Bold" pitchFamily="34" charset="-120"/>
              </a:rPr>
              <a:t>How Streamlit uses each key</a:t>
            </a:r>
            <a:endParaRPr lang="en-US" sz="1000" dirty="0"/>
          </a:p>
        </p:txBody>
      </p:sp>
      <p:sp>
        <p:nvSpPr>
          <p:cNvPr id="10" name="Shape 8"/>
          <p:cNvSpPr/>
          <p:nvPr/>
        </p:nvSpPr>
        <p:spPr>
          <a:xfrm>
            <a:off x="7921704" y="3137535"/>
            <a:ext cx="3493532" cy="2488406"/>
          </a:xfrm>
          <a:prstGeom prst="roundRect">
            <a:avLst>
              <a:gd name="adj" fmla="val 694"/>
            </a:avLst>
          </a:prstGeom>
          <a:noFill/>
          <a:ln w="7620">
            <a:solidFill>
              <a:srgbClr val="FFFFFF">
                <a:alpha val="24000"/>
              </a:srgbClr>
            </a:solidFill>
            <a:prstDash val="solid"/>
          </a:ln>
        </p:spPr>
      </p:sp>
      <p:sp>
        <p:nvSpPr>
          <p:cNvPr id="11" name="Shape 9"/>
          <p:cNvSpPr/>
          <p:nvPr/>
        </p:nvSpPr>
        <p:spPr>
          <a:xfrm>
            <a:off x="7929324" y="3145155"/>
            <a:ext cx="3478292" cy="220861"/>
          </a:xfrm>
          <a:prstGeom prst="rect">
            <a:avLst/>
          </a:prstGeom>
          <a:solidFill>
            <a:srgbClr val="FFFFFF">
              <a:alpha val="4000"/>
            </a:srgbClr>
          </a:solidFill>
          <a:ln/>
        </p:spPr>
      </p:sp>
      <p:sp>
        <p:nvSpPr>
          <p:cNvPr id="12" name="Text 10"/>
          <p:cNvSpPr/>
          <p:nvPr/>
        </p:nvSpPr>
        <p:spPr>
          <a:xfrm>
            <a:off x="8044339" y="3189446"/>
            <a:ext cx="1505307" cy="132278"/>
          </a:xfrm>
          <a:prstGeom prst="rect">
            <a:avLst/>
          </a:prstGeom>
          <a:noFill/>
          <a:ln/>
        </p:spPr>
        <p:txBody>
          <a:bodyPr wrap="none" lIns="0" tIns="0" rIns="0" bIns="0" rtlCol="0" anchor="t"/>
          <a:lstStyle/>
          <a:p>
            <a:pPr marL="0" indent="0" algn="l">
              <a:lnSpc>
                <a:spcPts val="1000"/>
              </a:lnSpc>
              <a:buNone/>
            </a:pPr>
            <a:r>
              <a:rPr lang="en-US" sz="900" b="1" dirty="0">
                <a:solidFill>
                  <a:srgbClr val="E2E6E9"/>
                </a:solidFill>
                <a:latin typeface="Source Sans 3" pitchFamily="34" charset="0"/>
                <a:ea typeface="Source Sans 3" pitchFamily="34" charset="-122"/>
                <a:cs typeface="Source Sans 3" pitchFamily="34" charset="-120"/>
              </a:rPr>
              <a:t>Key</a:t>
            </a:r>
            <a:endParaRPr lang="en-US" sz="900" dirty="0"/>
          </a:p>
        </p:txBody>
      </p:sp>
      <p:sp>
        <p:nvSpPr>
          <p:cNvPr id="13" name="Text 11"/>
          <p:cNvSpPr/>
          <p:nvPr/>
        </p:nvSpPr>
        <p:spPr>
          <a:xfrm>
            <a:off x="9787295" y="3189446"/>
            <a:ext cx="1505307" cy="132278"/>
          </a:xfrm>
          <a:prstGeom prst="rect">
            <a:avLst/>
          </a:prstGeom>
          <a:noFill/>
          <a:ln/>
        </p:spPr>
        <p:txBody>
          <a:bodyPr wrap="none" lIns="0" tIns="0" rIns="0" bIns="0" rtlCol="0" anchor="t"/>
          <a:lstStyle/>
          <a:p>
            <a:pPr marL="0" indent="0" algn="l">
              <a:lnSpc>
                <a:spcPts val="1000"/>
              </a:lnSpc>
              <a:buNone/>
            </a:pPr>
            <a:r>
              <a:rPr lang="en-US" sz="900" b="1" dirty="0">
                <a:solidFill>
                  <a:srgbClr val="E2E6E9"/>
                </a:solidFill>
                <a:latin typeface="Source Sans 3" pitchFamily="34" charset="0"/>
                <a:ea typeface="Source Sans 3" pitchFamily="34" charset="-122"/>
                <a:cs typeface="Source Sans 3" pitchFamily="34" charset="-120"/>
              </a:rPr>
              <a:t>Streamlit usage</a:t>
            </a:r>
            <a:endParaRPr lang="en-US" sz="900" dirty="0"/>
          </a:p>
        </p:txBody>
      </p:sp>
      <p:sp>
        <p:nvSpPr>
          <p:cNvPr id="14" name="Shape 12"/>
          <p:cNvSpPr/>
          <p:nvPr/>
        </p:nvSpPr>
        <p:spPr>
          <a:xfrm>
            <a:off x="7929324" y="3366016"/>
            <a:ext cx="3478292" cy="220861"/>
          </a:xfrm>
          <a:prstGeom prst="rect">
            <a:avLst/>
          </a:prstGeom>
          <a:solidFill>
            <a:srgbClr val="000000">
              <a:alpha val="4000"/>
            </a:srgbClr>
          </a:solidFill>
          <a:ln/>
        </p:spPr>
      </p:sp>
      <p:sp>
        <p:nvSpPr>
          <p:cNvPr id="15" name="Text 13"/>
          <p:cNvSpPr/>
          <p:nvPr/>
        </p:nvSpPr>
        <p:spPr>
          <a:xfrm>
            <a:off x="8044339" y="3410307"/>
            <a:ext cx="1505307" cy="132278"/>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status</a:t>
            </a:r>
            <a:endParaRPr lang="en-US" sz="900" dirty="0"/>
          </a:p>
        </p:txBody>
      </p:sp>
      <p:sp>
        <p:nvSpPr>
          <p:cNvPr id="16" name="Text 14"/>
          <p:cNvSpPr/>
          <p:nvPr/>
        </p:nvSpPr>
        <p:spPr>
          <a:xfrm>
            <a:off x="9787295" y="3410307"/>
            <a:ext cx="1505307" cy="132278"/>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If "error" → show error message</a:t>
            </a:r>
            <a:endParaRPr lang="en-US" sz="900" dirty="0"/>
          </a:p>
        </p:txBody>
      </p:sp>
      <p:sp>
        <p:nvSpPr>
          <p:cNvPr id="17" name="Shape 15"/>
          <p:cNvSpPr/>
          <p:nvPr/>
        </p:nvSpPr>
        <p:spPr>
          <a:xfrm>
            <a:off x="7929324" y="3586877"/>
            <a:ext cx="3478292" cy="220861"/>
          </a:xfrm>
          <a:prstGeom prst="rect">
            <a:avLst/>
          </a:prstGeom>
          <a:solidFill>
            <a:srgbClr val="FFFFFF">
              <a:alpha val="4000"/>
            </a:srgbClr>
          </a:solidFill>
          <a:ln/>
        </p:spPr>
      </p:sp>
      <p:sp>
        <p:nvSpPr>
          <p:cNvPr id="18" name="Text 16"/>
          <p:cNvSpPr/>
          <p:nvPr/>
        </p:nvSpPr>
        <p:spPr>
          <a:xfrm>
            <a:off x="8044339" y="3631168"/>
            <a:ext cx="1505307" cy="132278"/>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narrative</a:t>
            </a:r>
            <a:endParaRPr lang="en-US" sz="900" dirty="0"/>
          </a:p>
        </p:txBody>
      </p:sp>
      <p:sp>
        <p:nvSpPr>
          <p:cNvPr id="19" name="Text 17"/>
          <p:cNvSpPr/>
          <p:nvPr/>
        </p:nvSpPr>
        <p:spPr>
          <a:xfrm>
            <a:off x="9787295" y="3631168"/>
            <a:ext cx="1505307" cy="132278"/>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st.markdown(narrative)</a:t>
            </a:r>
            <a:endParaRPr lang="en-US" sz="900" dirty="0"/>
          </a:p>
        </p:txBody>
      </p:sp>
      <p:sp>
        <p:nvSpPr>
          <p:cNvPr id="20" name="Shape 18"/>
          <p:cNvSpPr/>
          <p:nvPr/>
        </p:nvSpPr>
        <p:spPr>
          <a:xfrm>
            <a:off x="7929324" y="3807738"/>
            <a:ext cx="3478292" cy="220861"/>
          </a:xfrm>
          <a:prstGeom prst="rect">
            <a:avLst/>
          </a:prstGeom>
          <a:solidFill>
            <a:srgbClr val="000000">
              <a:alpha val="4000"/>
            </a:srgbClr>
          </a:solidFill>
          <a:ln/>
        </p:spPr>
      </p:sp>
      <p:sp>
        <p:nvSpPr>
          <p:cNvPr id="21" name="Text 19"/>
          <p:cNvSpPr/>
          <p:nvPr/>
        </p:nvSpPr>
        <p:spPr>
          <a:xfrm>
            <a:off x="8044339" y="3852029"/>
            <a:ext cx="1505307" cy="132278"/>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results</a:t>
            </a:r>
            <a:endParaRPr lang="en-US" sz="900" dirty="0"/>
          </a:p>
        </p:txBody>
      </p:sp>
      <p:sp>
        <p:nvSpPr>
          <p:cNvPr id="22" name="Text 20"/>
          <p:cNvSpPr/>
          <p:nvPr/>
        </p:nvSpPr>
        <p:spPr>
          <a:xfrm>
            <a:off x="9787295" y="3852029"/>
            <a:ext cx="1505307" cy="132278"/>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pd.DataFrame → st.dataframe()</a:t>
            </a:r>
            <a:endParaRPr lang="en-US" sz="900" dirty="0"/>
          </a:p>
        </p:txBody>
      </p:sp>
      <p:sp>
        <p:nvSpPr>
          <p:cNvPr id="23" name="Shape 21"/>
          <p:cNvSpPr/>
          <p:nvPr/>
        </p:nvSpPr>
        <p:spPr>
          <a:xfrm>
            <a:off x="7929324" y="4028599"/>
            <a:ext cx="3478292" cy="220861"/>
          </a:xfrm>
          <a:prstGeom prst="rect">
            <a:avLst/>
          </a:prstGeom>
          <a:solidFill>
            <a:srgbClr val="FFFFFF">
              <a:alpha val="4000"/>
            </a:srgbClr>
          </a:solidFill>
          <a:ln/>
        </p:spPr>
      </p:sp>
      <p:sp>
        <p:nvSpPr>
          <p:cNvPr id="24" name="Text 22"/>
          <p:cNvSpPr/>
          <p:nvPr/>
        </p:nvSpPr>
        <p:spPr>
          <a:xfrm>
            <a:off x="8044339" y="4072890"/>
            <a:ext cx="1505307" cy="132278"/>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sql</a:t>
            </a:r>
            <a:endParaRPr lang="en-US" sz="900" dirty="0"/>
          </a:p>
        </p:txBody>
      </p:sp>
      <p:sp>
        <p:nvSpPr>
          <p:cNvPr id="25" name="Text 23"/>
          <p:cNvSpPr/>
          <p:nvPr/>
        </p:nvSpPr>
        <p:spPr>
          <a:xfrm>
            <a:off x="9787295" y="4072890"/>
            <a:ext cx="1505307" cy="132278"/>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st.code() inside st.expander()</a:t>
            </a:r>
            <a:endParaRPr lang="en-US" sz="900" dirty="0"/>
          </a:p>
        </p:txBody>
      </p:sp>
      <p:sp>
        <p:nvSpPr>
          <p:cNvPr id="26" name="Shape 24"/>
          <p:cNvSpPr/>
          <p:nvPr/>
        </p:nvSpPr>
        <p:spPr>
          <a:xfrm>
            <a:off x="7929324" y="4249460"/>
            <a:ext cx="3478292" cy="220861"/>
          </a:xfrm>
          <a:prstGeom prst="rect">
            <a:avLst/>
          </a:prstGeom>
          <a:solidFill>
            <a:srgbClr val="000000">
              <a:alpha val="4000"/>
            </a:srgbClr>
          </a:solidFill>
          <a:ln/>
        </p:spPr>
      </p:sp>
      <p:sp>
        <p:nvSpPr>
          <p:cNvPr id="27" name="Text 25"/>
          <p:cNvSpPr/>
          <p:nvPr/>
        </p:nvSpPr>
        <p:spPr>
          <a:xfrm>
            <a:off x="8044339" y="4293751"/>
            <a:ext cx="1505307" cy="132278"/>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row_count</a:t>
            </a:r>
            <a:endParaRPr lang="en-US" sz="900" dirty="0"/>
          </a:p>
        </p:txBody>
      </p:sp>
      <p:sp>
        <p:nvSpPr>
          <p:cNvPr id="28" name="Text 26"/>
          <p:cNvSpPr/>
          <p:nvPr/>
        </p:nvSpPr>
        <p:spPr>
          <a:xfrm>
            <a:off x="9787295" y="4293751"/>
            <a:ext cx="1505307" cy="132278"/>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st.caption("{n} rows returned")</a:t>
            </a:r>
            <a:endParaRPr lang="en-US" sz="900" dirty="0"/>
          </a:p>
        </p:txBody>
      </p:sp>
      <p:sp>
        <p:nvSpPr>
          <p:cNvPr id="29" name="Shape 27"/>
          <p:cNvSpPr/>
          <p:nvPr/>
        </p:nvSpPr>
        <p:spPr>
          <a:xfrm>
            <a:off x="7929324" y="4470321"/>
            <a:ext cx="3478292" cy="353139"/>
          </a:xfrm>
          <a:prstGeom prst="rect">
            <a:avLst/>
          </a:prstGeom>
          <a:solidFill>
            <a:srgbClr val="FFFFFF">
              <a:alpha val="4000"/>
            </a:srgbClr>
          </a:solidFill>
          <a:ln/>
        </p:spPr>
      </p:sp>
      <p:sp>
        <p:nvSpPr>
          <p:cNvPr id="30" name="Text 28"/>
          <p:cNvSpPr/>
          <p:nvPr/>
        </p:nvSpPr>
        <p:spPr>
          <a:xfrm>
            <a:off x="8044339" y="4514612"/>
            <a:ext cx="1505307" cy="132278"/>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fallback_used</a:t>
            </a:r>
            <a:endParaRPr lang="en-US" sz="900" dirty="0"/>
          </a:p>
        </p:txBody>
      </p:sp>
      <p:sp>
        <p:nvSpPr>
          <p:cNvPr id="31" name="Text 29"/>
          <p:cNvSpPr/>
          <p:nvPr/>
        </p:nvSpPr>
        <p:spPr>
          <a:xfrm>
            <a:off x="9787295" y="4514612"/>
            <a:ext cx="1505307" cy="264557"/>
          </a:xfrm>
          <a:prstGeom prst="rect">
            <a:avLst/>
          </a:prstGeom>
          <a:noFill/>
          <a:ln/>
        </p:spPr>
        <p:txBody>
          <a:bodyPr wrap="squar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st.caption("SQL regenerated") if True</a:t>
            </a:r>
            <a:endParaRPr lang="en-US" sz="900" dirty="0"/>
          </a:p>
        </p:txBody>
      </p:sp>
      <p:sp>
        <p:nvSpPr>
          <p:cNvPr id="32" name="Shape 30"/>
          <p:cNvSpPr/>
          <p:nvPr/>
        </p:nvSpPr>
        <p:spPr>
          <a:xfrm>
            <a:off x="7929324" y="4823460"/>
            <a:ext cx="3478292" cy="353139"/>
          </a:xfrm>
          <a:prstGeom prst="rect">
            <a:avLst/>
          </a:prstGeom>
          <a:solidFill>
            <a:srgbClr val="000000">
              <a:alpha val="4000"/>
            </a:srgbClr>
          </a:solidFill>
          <a:ln/>
        </p:spPr>
      </p:sp>
      <p:sp>
        <p:nvSpPr>
          <p:cNvPr id="33" name="Text 31"/>
          <p:cNvSpPr/>
          <p:nvPr/>
        </p:nvSpPr>
        <p:spPr>
          <a:xfrm>
            <a:off x="8044339" y="4867751"/>
            <a:ext cx="1505307" cy="132278"/>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_gateway.classified_intent</a:t>
            </a:r>
            <a:endParaRPr lang="en-US" sz="900" dirty="0"/>
          </a:p>
        </p:txBody>
      </p:sp>
      <p:sp>
        <p:nvSpPr>
          <p:cNvPr id="34" name="Text 32"/>
          <p:cNvSpPr/>
          <p:nvPr/>
        </p:nvSpPr>
        <p:spPr>
          <a:xfrm>
            <a:off x="9787295" y="4867751"/>
            <a:ext cx="1505307" cy="264557"/>
          </a:xfrm>
          <a:prstGeom prst="rect">
            <a:avLst/>
          </a:prstGeom>
          <a:noFill/>
          <a:ln/>
        </p:spPr>
        <p:txBody>
          <a:bodyPr wrap="squar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Colour-coded badge: </a:t>
            </a:r>
            <a:r>
              <a:rPr lang="en-US" sz="900" dirty="0">
                <a:solidFill>
                  <a:srgbClr val="000000"/>
                </a:solidFill>
                <a:latin typeface="Source Sans 3" pitchFamily="34" charset="0"/>
                <a:ea typeface="Source Sans 3" pitchFamily="34" charset="-122"/>
                <a:cs typeface="Source Sans 3" pitchFamily="34" charset="-120"/>
              </a:rPr>
              <a:t>📊</a:t>
            </a:r>
            <a:r>
              <a:rPr lang="en-US" sz="900" dirty="0">
                <a:solidFill>
                  <a:srgbClr val="E2E6E9"/>
                </a:solidFill>
                <a:latin typeface="Source Sans 3" pitchFamily="34" charset="0"/>
                <a:ea typeface="Source Sans 3" pitchFamily="34" charset="-122"/>
                <a:cs typeface="Source Sans 3" pitchFamily="34" charset="-120"/>
              </a:rPr>
              <a:t> ANALYST</a:t>
            </a:r>
            <a:endParaRPr lang="en-US" sz="900" dirty="0"/>
          </a:p>
        </p:txBody>
      </p:sp>
      <p:sp>
        <p:nvSpPr>
          <p:cNvPr id="35" name="Shape 33"/>
          <p:cNvSpPr/>
          <p:nvPr/>
        </p:nvSpPr>
        <p:spPr>
          <a:xfrm>
            <a:off x="7929324" y="5176599"/>
            <a:ext cx="3478292" cy="220861"/>
          </a:xfrm>
          <a:prstGeom prst="rect">
            <a:avLst/>
          </a:prstGeom>
          <a:solidFill>
            <a:srgbClr val="FFFFFF">
              <a:alpha val="4000"/>
            </a:srgbClr>
          </a:solidFill>
          <a:ln/>
        </p:spPr>
      </p:sp>
      <p:sp>
        <p:nvSpPr>
          <p:cNvPr id="36" name="Text 34"/>
          <p:cNvSpPr/>
          <p:nvPr/>
        </p:nvSpPr>
        <p:spPr>
          <a:xfrm>
            <a:off x="8044339" y="5220891"/>
            <a:ext cx="1505307" cy="132278"/>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_gateway.confidence</a:t>
            </a:r>
            <a:endParaRPr lang="en-US" sz="900" dirty="0"/>
          </a:p>
        </p:txBody>
      </p:sp>
      <p:sp>
        <p:nvSpPr>
          <p:cNvPr id="37" name="Text 35"/>
          <p:cNvSpPr/>
          <p:nvPr/>
        </p:nvSpPr>
        <p:spPr>
          <a:xfrm>
            <a:off x="9787295" y="5220891"/>
            <a:ext cx="1505307" cy="132278"/>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Confidence % in badge</a:t>
            </a:r>
            <a:endParaRPr lang="en-US" sz="900" dirty="0"/>
          </a:p>
        </p:txBody>
      </p:sp>
      <p:sp>
        <p:nvSpPr>
          <p:cNvPr id="38" name="Shape 36"/>
          <p:cNvSpPr/>
          <p:nvPr/>
        </p:nvSpPr>
        <p:spPr>
          <a:xfrm>
            <a:off x="7929324" y="5397460"/>
            <a:ext cx="3478292" cy="220861"/>
          </a:xfrm>
          <a:prstGeom prst="rect">
            <a:avLst/>
          </a:prstGeom>
          <a:solidFill>
            <a:srgbClr val="000000">
              <a:alpha val="4000"/>
            </a:srgbClr>
          </a:solidFill>
          <a:ln/>
        </p:spPr>
      </p:sp>
      <p:sp>
        <p:nvSpPr>
          <p:cNvPr id="39" name="Text 37"/>
          <p:cNvSpPr/>
          <p:nvPr/>
        </p:nvSpPr>
        <p:spPr>
          <a:xfrm>
            <a:off x="8044339" y="5441752"/>
            <a:ext cx="1505307" cy="132278"/>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_gateway.cross_fallback_used</a:t>
            </a:r>
            <a:endParaRPr lang="en-US" sz="900" dirty="0"/>
          </a:p>
        </p:txBody>
      </p:sp>
      <p:sp>
        <p:nvSpPr>
          <p:cNvPr id="40" name="Text 38"/>
          <p:cNvSpPr/>
          <p:nvPr/>
        </p:nvSpPr>
        <p:spPr>
          <a:xfrm>
            <a:off x="9787295" y="5441752"/>
            <a:ext cx="1505307" cy="132278"/>
          </a:xfrm>
          <a:prstGeom prst="rect">
            <a:avLst/>
          </a:prstGeom>
          <a:noFill/>
          <a:ln/>
        </p:spPr>
        <p:txBody>
          <a:bodyPr wrap="none" lIns="0" tIns="0" rIns="0" bIns="0" rtlCol="0" anchor="t"/>
          <a:lstStyle/>
          <a:p>
            <a:pPr marL="0" indent="0" algn="l">
              <a:lnSpc>
                <a:spcPts val="1000"/>
              </a:lnSpc>
              <a:buNone/>
            </a:pPr>
            <a:r>
              <a:rPr lang="en-US" sz="900" dirty="0">
                <a:solidFill>
                  <a:srgbClr val="E2E6E9"/>
                </a:solidFill>
                <a:latin typeface="Source Sans 3" pitchFamily="34" charset="0"/>
                <a:ea typeface="Source Sans 3" pitchFamily="34" charset="-122"/>
                <a:cs typeface="Source Sans 3" pitchFamily="34" charset="-120"/>
              </a:rPr>
              <a:t>Yellow warning banner if True</a:t>
            </a:r>
            <a:endParaRPr lang="en-US" sz="900" dirty="0"/>
          </a:p>
        </p:txBody>
      </p:sp>
      <p:sp>
        <p:nvSpPr>
          <p:cNvPr id="41" name="Shape 39"/>
          <p:cNvSpPr/>
          <p:nvPr/>
        </p:nvSpPr>
        <p:spPr>
          <a:xfrm>
            <a:off x="7921704" y="5694878"/>
            <a:ext cx="3493532" cy="731639"/>
          </a:xfrm>
          <a:prstGeom prst="roundRect">
            <a:avLst>
              <a:gd name="adj" fmla="val 2359"/>
            </a:avLst>
          </a:prstGeom>
          <a:solidFill>
            <a:srgbClr val="262626"/>
          </a:solidFill>
          <a:ln/>
        </p:spPr>
      </p:sp>
      <p:pic>
        <p:nvPicPr>
          <p:cNvPr id="42" name="Image 0" descr="preencoded.png"/>
          <p:cNvPicPr>
            <a:picLocks noChangeAspect="1"/>
          </p:cNvPicPr>
          <p:nvPr/>
        </p:nvPicPr>
        <p:blipFill>
          <a:blip r:embed="rId3"/>
          <a:stretch>
            <a:fillRect/>
          </a:stretch>
        </p:blipFill>
        <p:spPr>
          <a:xfrm>
            <a:off x="8036719" y="5838587"/>
            <a:ext cx="143828" cy="115014"/>
          </a:xfrm>
          <a:prstGeom prst="rect">
            <a:avLst/>
          </a:prstGeom>
        </p:spPr>
      </p:pic>
      <p:sp>
        <p:nvSpPr>
          <p:cNvPr id="43" name="Text 40"/>
          <p:cNvSpPr/>
          <p:nvPr/>
        </p:nvSpPr>
        <p:spPr>
          <a:xfrm>
            <a:off x="8295561" y="5784771"/>
            <a:ext cx="3004661" cy="529114"/>
          </a:xfrm>
          <a:prstGeom prst="rect">
            <a:avLst/>
          </a:prstGeom>
          <a:noFill/>
          <a:ln/>
        </p:spPr>
        <p:txBody>
          <a:bodyPr wrap="square" lIns="0" tIns="0" rIns="0" bIns="0" rtlCol="0" anchor="t"/>
          <a:lstStyle/>
          <a:p>
            <a:pPr marL="0" indent="0" algn="l">
              <a:lnSpc>
                <a:spcPts val="1000"/>
              </a:lnSpc>
              <a:buNone/>
            </a:pPr>
            <a:r>
              <a:rPr lang="en-US" sz="900" dirty="0">
                <a:solidFill>
                  <a:srgbClr val="FFFFFF"/>
                </a:solidFill>
                <a:latin typeface="Source Sans 3" pitchFamily="34" charset="0"/>
                <a:ea typeface="Source Sans 3" pitchFamily="34" charset="-122"/>
                <a:cs typeface="Source Sans 3" pitchFamily="34" charset="-120"/>
              </a:rPr>
              <a:t>The VARIANT dict is exactly like a JSON response body from a REST API. </a:t>
            </a:r>
            <a:r>
              <a:rPr lang="en-US" sz="900" b="1" dirty="0">
                <a:solidFill>
                  <a:srgbClr val="FFFFFF"/>
                </a:solidFill>
                <a:latin typeface="Source Sans 3" pitchFamily="34" charset="0"/>
                <a:ea typeface="Source Sans 3" pitchFamily="34" charset="-122"/>
                <a:cs typeface="Source Sans 3" pitchFamily="34" charset="-120"/>
              </a:rPr>
              <a:t>One procedure call returns EVERYTHING</a:t>
            </a:r>
            <a:r>
              <a:rPr lang="en-US" sz="900" dirty="0">
                <a:solidFill>
                  <a:srgbClr val="FFFFFF"/>
                </a:solidFill>
                <a:latin typeface="Source Sans 3" pitchFamily="34" charset="0"/>
                <a:ea typeface="Source Sans 3" pitchFamily="34" charset="-122"/>
                <a:cs typeface="Source Sans 3" pitchFamily="34" charset="-120"/>
              </a:rPr>
              <a:t> Streamlit needs: data, explanation, SQL, metadata, and routing information. No second API call required.</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3444478" y="766405"/>
            <a:ext cx="7741444" cy="613410"/>
          </a:xfrm>
          <a:prstGeom prst="rect">
            <a:avLst/>
          </a:prstGeom>
          <a:noFill/>
          <a:ln/>
        </p:spPr>
        <p:txBody>
          <a:bodyPr wrap="square" lIns="0" tIns="0" rIns="0" bIns="0" rtlCol="0" anchor="t"/>
          <a:lstStyle/>
          <a:p>
            <a:pPr marL="0" indent="0" algn="l">
              <a:lnSpc>
                <a:spcPts val="2400"/>
              </a:lnSpc>
              <a:buNone/>
            </a:pPr>
            <a:r>
              <a:rPr lang="en-US" sz="1900" b="1" dirty="0">
                <a:solidFill>
                  <a:srgbClr val="FFFFFF"/>
                </a:solidFill>
                <a:latin typeface="Montserrat Bold" pitchFamily="34" charset="0"/>
                <a:ea typeface="Montserrat Bold" pitchFamily="34" charset="-122"/>
                <a:cs typeface="Montserrat Bold" pitchFamily="34" charset="-120"/>
              </a:rPr>
              <a:t>Multi-Turn Conversations — How "Break That Down" Resolves Correctly</a:t>
            </a:r>
            <a:endParaRPr lang="en-US" sz="1900" dirty="0"/>
          </a:p>
        </p:txBody>
      </p:sp>
      <p:sp>
        <p:nvSpPr>
          <p:cNvPr id="3" name="Text 1"/>
          <p:cNvSpPr/>
          <p:nvPr/>
        </p:nvSpPr>
        <p:spPr>
          <a:xfrm>
            <a:off x="3444478" y="1487686"/>
            <a:ext cx="7741444" cy="242888"/>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A conversation across multiple turns is stored in the history JSON string. Each SP receives the full history and uses it to resolve follow-up questions — making pronouns like "that" and "them" meaningful.</a:t>
            </a:r>
            <a:endParaRPr lang="en-US" sz="850" dirty="0"/>
          </a:p>
        </p:txBody>
      </p:sp>
      <p:sp>
        <p:nvSpPr>
          <p:cNvPr id="4" name="Shape 2"/>
          <p:cNvSpPr/>
          <p:nvPr/>
        </p:nvSpPr>
        <p:spPr>
          <a:xfrm>
            <a:off x="7307580" y="1791295"/>
            <a:ext cx="15240" cy="2953583"/>
          </a:xfrm>
          <a:prstGeom prst="roundRect">
            <a:avLst>
              <a:gd name="adj" fmla="val 106288"/>
            </a:avLst>
          </a:prstGeom>
          <a:solidFill>
            <a:srgbClr val="494A4B"/>
          </a:solidFill>
          <a:ln/>
        </p:spPr>
      </p:sp>
      <p:sp>
        <p:nvSpPr>
          <p:cNvPr id="5" name="Shape 3"/>
          <p:cNvSpPr/>
          <p:nvPr/>
        </p:nvSpPr>
        <p:spPr>
          <a:xfrm>
            <a:off x="7114580" y="1905119"/>
            <a:ext cx="215860" cy="15240"/>
          </a:xfrm>
          <a:prstGeom prst="roundRect">
            <a:avLst>
              <a:gd name="adj" fmla="val 106288"/>
            </a:avLst>
          </a:prstGeom>
          <a:solidFill>
            <a:srgbClr val="494A4B"/>
          </a:solidFill>
          <a:ln/>
        </p:spPr>
      </p:sp>
      <p:sp>
        <p:nvSpPr>
          <p:cNvPr id="6" name="Shape 4"/>
          <p:cNvSpPr/>
          <p:nvPr/>
        </p:nvSpPr>
        <p:spPr>
          <a:xfrm>
            <a:off x="7274719" y="1872258"/>
            <a:ext cx="80962" cy="80963"/>
          </a:xfrm>
          <a:prstGeom prst="roundRect">
            <a:avLst>
              <a:gd name="adj" fmla="val 564709"/>
            </a:avLst>
          </a:prstGeom>
          <a:solidFill>
            <a:srgbClr val="FFFFFF"/>
          </a:solidFill>
          <a:ln/>
        </p:spPr>
      </p:sp>
      <p:sp>
        <p:nvSpPr>
          <p:cNvPr id="7" name="Text 5"/>
          <p:cNvSpPr/>
          <p:nvPr/>
        </p:nvSpPr>
        <p:spPr>
          <a:xfrm>
            <a:off x="5656302" y="1828324"/>
            <a:ext cx="1227058" cy="153352"/>
          </a:xfrm>
          <a:prstGeom prst="rect">
            <a:avLst/>
          </a:prstGeom>
          <a:noFill/>
          <a:ln/>
        </p:spPr>
        <p:txBody>
          <a:bodyPr wrap="none" lIns="0" tIns="0" rIns="0" bIns="0" rtlCol="0" anchor="t"/>
          <a:lstStyle/>
          <a:p>
            <a:pPr marL="0" indent="0" algn="r">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Turn 1 — User</a:t>
            </a:r>
            <a:endParaRPr lang="en-US" sz="950" dirty="0"/>
          </a:p>
        </p:txBody>
      </p:sp>
      <p:sp>
        <p:nvSpPr>
          <p:cNvPr id="8" name="Text 6"/>
          <p:cNvSpPr/>
          <p:nvPr/>
        </p:nvSpPr>
        <p:spPr>
          <a:xfrm>
            <a:off x="3444478" y="2014061"/>
            <a:ext cx="3438882" cy="121444"/>
          </a:xfrm>
          <a:prstGeom prst="rect">
            <a:avLst/>
          </a:prstGeom>
          <a:noFill/>
          <a:ln/>
        </p:spPr>
        <p:txBody>
          <a:bodyPr wrap="none" lIns="0" tIns="0" rIns="0" bIns="0" rtlCol="0" anchor="t"/>
          <a:lstStyle/>
          <a:p>
            <a:pPr marL="0" indent="0" algn="r">
              <a:lnSpc>
                <a:spcPts val="950"/>
              </a:lnSpc>
              <a:buNone/>
            </a:pPr>
            <a:r>
              <a:rPr lang="en-US" sz="850" dirty="0">
                <a:solidFill>
                  <a:srgbClr val="E2E6E9"/>
                </a:solidFill>
                <a:latin typeface="Source Sans 3" pitchFamily="34" charset="0"/>
                <a:ea typeface="Source Sans 3" pitchFamily="34" charset="-122"/>
                <a:cs typeface="Source Sans 3" pitchFamily="34" charset="-120"/>
              </a:rPr>
              <a:t>"Top 5 restaurants by orders in Bangalore"</a:t>
            </a:r>
            <a:endParaRPr lang="en-US" sz="850" dirty="0"/>
          </a:p>
        </p:txBody>
      </p:sp>
      <p:sp>
        <p:nvSpPr>
          <p:cNvPr id="9" name="Shape 7"/>
          <p:cNvSpPr/>
          <p:nvPr/>
        </p:nvSpPr>
        <p:spPr>
          <a:xfrm>
            <a:off x="7299960" y="2444829"/>
            <a:ext cx="215860" cy="15240"/>
          </a:xfrm>
          <a:prstGeom prst="roundRect">
            <a:avLst>
              <a:gd name="adj" fmla="val 106288"/>
            </a:avLst>
          </a:prstGeom>
          <a:solidFill>
            <a:srgbClr val="494A4B"/>
          </a:solidFill>
          <a:ln/>
        </p:spPr>
      </p:sp>
      <p:sp>
        <p:nvSpPr>
          <p:cNvPr id="10" name="Shape 8"/>
          <p:cNvSpPr/>
          <p:nvPr/>
        </p:nvSpPr>
        <p:spPr>
          <a:xfrm>
            <a:off x="7274719" y="2411968"/>
            <a:ext cx="80962" cy="80963"/>
          </a:xfrm>
          <a:prstGeom prst="roundRect">
            <a:avLst>
              <a:gd name="adj" fmla="val 564709"/>
            </a:avLst>
          </a:prstGeom>
          <a:solidFill>
            <a:srgbClr val="FFFFFF"/>
          </a:solidFill>
          <a:ln/>
        </p:spPr>
      </p:sp>
      <p:sp>
        <p:nvSpPr>
          <p:cNvPr id="11" name="Text 9"/>
          <p:cNvSpPr/>
          <p:nvPr/>
        </p:nvSpPr>
        <p:spPr>
          <a:xfrm>
            <a:off x="7747040" y="2368034"/>
            <a:ext cx="1227058" cy="153352"/>
          </a:xfrm>
          <a:prstGeom prst="rect">
            <a:avLst/>
          </a:prstGeom>
          <a:noFill/>
          <a:ln/>
        </p:spPr>
        <p:txBody>
          <a:bodyPr wrap="none" lIns="0" tIns="0" rIns="0" bIns="0" rtlCol="0" anchor="t"/>
          <a:lstStyle/>
          <a:p>
            <a:pPr marL="0" indent="0" algn="l">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Turn 1 — Assistant</a:t>
            </a:r>
            <a:endParaRPr lang="en-US" sz="950" dirty="0"/>
          </a:p>
        </p:txBody>
      </p:sp>
      <p:sp>
        <p:nvSpPr>
          <p:cNvPr id="12" name="Text 10"/>
          <p:cNvSpPr/>
          <p:nvPr/>
        </p:nvSpPr>
        <p:spPr>
          <a:xfrm>
            <a:off x="7747040" y="2553772"/>
            <a:ext cx="3438882" cy="250508"/>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SQL: </a:t>
            </a:r>
            <a:r>
              <a:rPr lang="en-US" sz="850" dirty="0">
                <a:solidFill>
                  <a:srgbClr val="E2E6E9"/>
                </a:solidFill>
                <a:highlight>
                  <a:srgbClr val="1E1F20"/>
                </a:highlight>
                <a:latin typeface="Consolas" pitchFamily="34" charset="0"/>
                <a:ea typeface="Consolas" pitchFamily="34" charset="-122"/>
                <a:cs typeface="Consolas" pitchFamily="34" charset="-120"/>
              </a:rPr>
              <a:t>SELECT ... WHERE city='Bangalore' LIMIT 5</a:t>
            </a:r>
            <a:r>
              <a:rPr lang="en-US" sz="850" dirty="0">
                <a:solidFill>
                  <a:srgbClr val="E2E6E9"/>
                </a:solidFill>
                <a:latin typeface="Source Sans 3" pitchFamily="34" charset="0"/>
                <a:ea typeface="Source Sans 3" pitchFamily="34" charset="-122"/>
                <a:cs typeface="Source Sans 3" pitchFamily="34" charset="-120"/>
              </a:rPr>
              <a:t> · Summary: "Paradise leads with 3,420 orders"</a:t>
            </a:r>
            <a:endParaRPr lang="en-US" sz="850" dirty="0"/>
          </a:p>
        </p:txBody>
      </p:sp>
      <p:sp>
        <p:nvSpPr>
          <p:cNvPr id="13" name="Shape 11"/>
          <p:cNvSpPr/>
          <p:nvPr/>
        </p:nvSpPr>
        <p:spPr>
          <a:xfrm>
            <a:off x="7114580" y="2949178"/>
            <a:ext cx="215860" cy="15240"/>
          </a:xfrm>
          <a:prstGeom prst="roundRect">
            <a:avLst>
              <a:gd name="adj" fmla="val 106288"/>
            </a:avLst>
          </a:prstGeom>
          <a:solidFill>
            <a:srgbClr val="494A4B"/>
          </a:solidFill>
          <a:ln/>
        </p:spPr>
      </p:sp>
      <p:sp>
        <p:nvSpPr>
          <p:cNvPr id="14" name="Shape 12"/>
          <p:cNvSpPr/>
          <p:nvPr/>
        </p:nvSpPr>
        <p:spPr>
          <a:xfrm>
            <a:off x="7274719" y="2916317"/>
            <a:ext cx="80962" cy="80963"/>
          </a:xfrm>
          <a:prstGeom prst="roundRect">
            <a:avLst>
              <a:gd name="adj" fmla="val 564709"/>
            </a:avLst>
          </a:prstGeom>
          <a:solidFill>
            <a:srgbClr val="FFFFFF"/>
          </a:solidFill>
          <a:ln/>
        </p:spPr>
      </p:sp>
      <p:sp>
        <p:nvSpPr>
          <p:cNvPr id="15" name="Text 13"/>
          <p:cNvSpPr/>
          <p:nvPr/>
        </p:nvSpPr>
        <p:spPr>
          <a:xfrm>
            <a:off x="5656302" y="2872383"/>
            <a:ext cx="1227058" cy="153352"/>
          </a:xfrm>
          <a:prstGeom prst="rect">
            <a:avLst/>
          </a:prstGeom>
          <a:noFill/>
          <a:ln/>
        </p:spPr>
        <p:txBody>
          <a:bodyPr wrap="none" lIns="0" tIns="0" rIns="0" bIns="0" rtlCol="0" anchor="t"/>
          <a:lstStyle/>
          <a:p>
            <a:pPr marL="0" indent="0" algn="r">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Turn 2 — User</a:t>
            </a:r>
            <a:endParaRPr lang="en-US" sz="950" dirty="0"/>
          </a:p>
        </p:txBody>
      </p:sp>
      <p:sp>
        <p:nvSpPr>
          <p:cNvPr id="16" name="Text 14"/>
          <p:cNvSpPr/>
          <p:nvPr/>
        </p:nvSpPr>
        <p:spPr>
          <a:xfrm>
            <a:off x="3444478" y="3058120"/>
            <a:ext cx="3438882" cy="121444"/>
          </a:xfrm>
          <a:prstGeom prst="rect">
            <a:avLst/>
          </a:prstGeom>
          <a:noFill/>
          <a:ln/>
        </p:spPr>
        <p:txBody>
          <a:bodyPr wrap="none" lIns="0" tIns="0" rIns="0" bIns="0" rtlCol="0" anchor="t"/>
          <a:lstStyle/>
          <a:p>
            <a:pPr marL="0" indent="0" algn="r">
              <a:lnSpc>
                <a:spcPts val="950"/>
              </a:lnSpc>
              <a:buNone/>
            </a:pPr>
            <a:r>
              <a:rPr lang="en-US" sz="850" dirty="0">
                <a:solidFill>
                  <a:srgbClr val="E2E6E9"/>
                </a:solidFill>
                <a:latin typeface="Source Sans 3" pitchFamily="34" charset="0"/>
                <a:ea typeface="Source Sans 3" pitchFamily="34" charset="-122"/>
                <a:cs typeface="Source Sans 3" pitchFamily="34" charset="-120"/>
              </a:rPr>
              <a:t>"Now break that down by cuisine type"</a:t>
            </a:r>
            <a:endParaRPr lang="en-US" sz="850" dirty="0"/>
          </a:p>
        </p:txBody>
      </p:sp>
      <p:sp>
        <p:nvSpPr>
          <p:cNvPr id="17" name="Shape 15"/>
          <p:cNvSpPr/>
          <p:nvPr/>
        </p:nvSpPr>
        <p:spPr>
          <a:xfrm>
            <a:off x="7299960" y="3453527"/>
            <a:ext cx="215860" cy="15240"/>
          </a:xfrm>
          <a:prstGeom prst="roundRect">
            <a:avLst>
              <a:gd name="adj" fmla="val 106288"/>
            </a:avLst>
          </a:prstGeom>
          <a:solidFill>
            <a:srgbClr val="494A4B"/>
          </a:solidFill>
          <a:ln/>
        </p:spPr>
      </p:sp>
      <p:sp>
        <p:nvSpPr>
          <p:cNvPr id="18" name="Shape 16"/>
          <p:cNvSpPr/>
          <p:nvPr/>
        </p:nvSpPr>
        <p:spPr>
          <a:xfrm>
            <a:off x="7274719" y="3420666"/>
            <a:ext cx="80962" cy="80963"/>
          </a:xfrm>
          <a:prstGeom prst="roundRect">
            <a:avLst>
              <a:gd name="adj" fmla="val 564709"/>
            </a:avLst>
          </a:prstGeom>
          <a:solidFill>
            <a:srgbClr val="FFFFFF"/>
          </a:solidFill>
          <a:ln/>
        </p:spPr>
      </p:sp>
      <p:sp>
        <p:nvSpPr>
          <p:cNvPr id="19" name="Text 17"/>
          <p:cNvSpPr/>
          <p:nvPr/>
        </p:nvSpPr>
        <p:spPr>
          <a:xfrm>
            <a:off x="7747040" y="3376732"/>
            <a:ext cx="2120146" cy="153352"/>
          </a:xfrm>
          <a:prstGeom prst="rect">
            <a:avLst/>
          </a:prstGeom>
          <a:noFill/>
          <a:ln/>
        </p:spPr>
        <p:txBody>
          <a:bodyPr wrap="none" lIns="0" tIns="0" rIns="0" bIns="0" rtlCol="0" anchor="t"/>
          <a:lstStyle/>
          <a:p>
            <a:pPr marL="0" indent="0" algn="l">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Turn 2 — LLM resolves via history</a:t>
            </a:r>
            <a:endParaRPr lang="en-US" sz="950" dirty="0"/>
          </a:p>
        </p:txBody>
      </p:sp>
      <p:sp>
        <p:nvSpPr>
          <p:cNvPr id="20" name="Text 18"/>
          <p:cNvSpPr/>
          <p:nvPr/>
        </p:nvSpPr>
        <p:spPr>
          <a:xfrm>
            <a:off x="7747040" y="3562469"/>
            <a:ext cx="3438882" cy="258128"/>
          </a:xfrm>
          <a:prstGeom prst="rect">
            <a:avLst/>
          </a:prstGeom>
          <a:noFill/>
          <a:ln/>
        </p:spPr>
        <p:txBody>
          <a:bodyPr wrap="square" lIns="0" tIns="0" rIns="0" bIns="0" rtlCol="0" anchor="t"/>
          <a:lstStyle/>
          <a:p>
            <a:pPr marL="0" indent="0" algn="l">
              <a:lnSpc>
                <a:spcPts val="950"/>
              </a:lnSpc>
              <a:buNone/>
            </a:pPr>
            <a:r>
              <a:rPr lang="en-US" sz="850" dirty="0">
                <a:solidFill>
                  <a:srgbClr val="E2E6E9"/>
                </a:solidFill>
                <a:latin typeface="Source Sans 3" pitchFamily="34" charset="0"/>
                <a:ea typeface="Source Sans 3" pitchFamily="34" charset="-122"/>
                <a:cs typeface="Source Sans 3" pitchFamily="34" charset="-120"/>
              </a:rPr>
              <a:t>Sees Turn 1 SQL → resolves "that" = Bangalore restaurants → writes </a:t>
            </a:r>
            <a:r>
              <a:rPr lang="en-US" sz="850" dirty="0">
                <a:solidFill>
                  <a:srgbClr val="E2E6E9"/>
                </a:solidFill>
                <a:highlight>
                  <a:srgbClr val="1E1F20"/>
                </a:highlight>
                <a:latin typeface="Consolas" pitchFamily="34" charset="0"/>
                <a:ea typeface="Consolas" pitchFamily="34" charset="-122"/>
                <a:cs typeface="Consolas" pitchFamily="34" charset="-120"/>
              </a:rPr>
              <a:t>WHERE city='Bangalore' GROUP BY cuisine_tag</a:t>
            </a:r>
            <a:endParaRPr lang="en-US" sz="850" dirty="0"/>
          </a:p>
        </p:txBody>
      </p:sp>
      <p:sp>
        <p:nvSpPr>
          <p:cNvPr id="21" name="Shape 19"/>
          <p:cNvSpPr/>
          <p:nvPr/>
        </p:nvSpPr>
        <p:spPr>
          <a:xfrm>
            <a:off x="7114580" y="3957876"/>
            <a:ext cx="215860" cy="15240"/>
          </a:xfrm>
          <a:prstGeom prst="roundRect">
            <a:avLst>
              <a:gd name="adj" fmla="val 106288"/>
            </a:avLst>
          </a:prstGeom>
          <a:solidFill>
            <a:srgbClr val="494A4B"/>
          </a:solidFill>
          <a:ln/>
        </p:spPr>
      </p:sp>
      <p:sp>
        <p:nvSpPr>
          <p:cNvPr id="22" name="Shape 20"/>
          <p:cNvSpPr/>
          <p:nvPr/>
        </p:nvSpPr>
        <p:spPr>
          <a:xfrm>
            <a:off x="7274719" y="3925014"/>
            <a:ext cx="80962" cy="80963"/>
          </a:xfrm>
          <a:prstGeom prst="roundRect">
            <a:avLst>
              <a:gd name="adj" fmla="val 564709"/>
            </a:avLst>
          </a:prstGeom>
          <a:solidFill>
            <a:srgbClr val="FFFFFF"/>
          </a:solidFill>
          <a:ln/>
        </p:spPr>
      </p:sp>
      <p:sp>
        <p:nvSpPr>
          <p:cNvPr id="23" name="Text 21"/>
          <p:cNvSpPr/>
          <p:nvPr/>
        </p:nvSpPr>
        <p:spPr>
          <a:xfrm>
            <a:off x="5656302" y="3881080"/>
            <a:ext cx="1227058" cy="153352"/>
          </a:xfrm>
          <a:prstGeom prst="rect">
            <a:avLst/>
          </a:prstGeom>
          <a:noFill/>
          <a:ln/>
        </p:spPr>
        <p:txBody>
          <a:bodyPr wrap="none" lIns="0" tIns="0" rIns="0" bIns="0" rtlCol="0" anchor="t"/>
          <a:lstStyle/>
          <a:p>
            <a:pPr marL="0" indent="0" algn="r">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Turn 3 — User</a:t>
            </a:r>
            <a:endParaRPr lang="en-US" sz="950" dirty="0"/>
          </a:p>
        </p:txBody>
      </p:sp>
      <p:sp>
        <p:nvSpPr>
          <p:cNvPr id="24" name="Text 22"/>
          <p:cNvSpPr/>
          <p:nvPr/>
        </p:nvSpPr>
        <p:spPr>
          <a:xfrm>
            <a:off x="3444478" y="4066818"/>
            <a:ext cx="3438882" cy="242888"/>
          </a:xfrm>
          <a:prstGeom prst="rect">
            <a:avLst/>
          </a:prstGeom>
          <a:noFill/>
          <a:ln/>
        </p:spPr>
        <p:txBody>
          <a:bodyPr wrap="square" lIns="0" tIns="0" rIns="0" bIns="0" rtlCol="0" anchor="t"/>
          <a:lstStyle/>
          <a:p>
            <a:pPr marL="0" indent="0" algn="r">
              <a:lnSpc>
                <a:spcPts val="950"/>
              </a:lnSpc>
              <a:buNone/>
            </a:pPr>
            <a:r>
              <a:rPr lang="en-US" sz="850" dirty="0">
                <a:solidFill>
                  <a:srgbClr val="E2E6E9"/>
                </a:solidFill>
                <a:latin typeface="Source Sans 3" pitchFamily="34" charset="0"/>
                <a:ea typeface="Source Sans 3" pitchFamily="34" charset="-122"/>
                <a:cs typeface="Source Sans 3" pitchFamily="34" charset="-120"/>
              </a:rPr>
              <a:t>"Which campaign should I run for the top cuisine?" → PLAYBOOK intent — Gateway routes to SP_PLAYBOOK_RAG</a:t>
            </a:r>
            <a:endParaRPr lang="en-US" sz="850" dirty="0"/>
          </a:p>
        </p:txBody>
      </p:sp>
      <p:sp>
        <p:nvSpPr>
          <p:cNvPr id="25" name="Text 23"/>
          <p:cNvSpPr/>
          <p:nvPr/>
        </p:nvSpPr>
        <p:spPr>
          <a:xfrm>
            <a:off x="3444478" y="4825841"/>
            <a:ext cx="2924175" cy="153352"/>
          </a:xfrm>
          <a:prstGeom prst="rect">
            <a:avLst/>
          </a:prstGeom>
          <a:noFill/>
          <a:ln/>
        </p:spPr>
        <p:txBody>
          <a:bodyPr wrap="none" lIns="0" tIns="0" rIns="0" bIns="0" rtlCol="0" anchor="t"/>
          <a:lstStyle/>
          <a:p>
            <a:pPr marL="0" indent="0" algn="l">
              <a:lnSpc>
                <a:spcPts val="1200"/>
              </a:lnSpc>
              <a:buNone/>
            </a:pPr>
            <a:r>
              <a:rPr lang="en-US" sz="950" b="1" dirty="0">
                <a:solidFill>
                  <a:srgbClr val="FFFFFF"/>
                </a:solidFill>
                <a:latin typeface="Montserrat Bold" pitchFamily="34" charset="0"/>
                <a:ea typeface="Montserrat Bold" pitchFamily="34" charset="-122"/>
                <a:cs typeface="Montserrat Bold" pitchFamily="34" charset="-120"/>
              </a:rPr>
              <a:t>_build_history_context() — what gets injected</a:t>
            </a:r>
            <a:endParaRPr lang="en-US" sz="950" dirty="0"/>
          </a:p>
        </p:txBody>
      </p:sp>
      <p:sp>
        <p:nvSpPr>
          <p:cNvPr id="26" name="Shape 24"/>
          <p:cNvSpPr/>
          <p:nvPr/>
        </p:nvSpPr>
        <p:spPr>
          <a:xfrm>
            <a:off x="3444478" y="5060156"/>
            <a:ext cx="7741444" cy="1915954"/>
          </a:xfrm>
          <a:prstGeom prst="roundRect">
            <a:avLst>
              <a:gd name="adj" fmla="val 845"/>
            </a:avLst>
          </a:prstGeom>
          <a:solidFill>
            <a:srgbClr val="1E1F20"/>
          </a:solidFill>
          <a:ln/>
        </p:spPr>
      </p:sp>
      <p:sp>
        <p:nvSpPr>
          <p:cNvPr id="27" name="Shape 25"/>
          <p:cNvSpPr/>
          <p:nvPr/>
        </p:nvSpPr>
        <p:spPr>
          <a:xfrm>
            <a:off x="3439120" y="5060156"/>
            <a:ext cx="7752159" cy="1915954"/>
          </a:xfrm>
          <a:prstGeom prst="roundRect">
            <a:avLst>
              <a:gd name="adj" fmla="val 845"/>
            </a:avLst>
          </a:prstGeom>
          <a:solidFill>
            <a:srgbClr val="1E1F20"/>
          </a:solidFill>
          <a:ln/>
        </p:spPr>
      </p:sp>
      <p:sp>
        <p:nvSpPr>
          <p:cNvPr id="28" name="Text 26"/>
          <p:cNvSpPr/>
          <p:nvPr/>
        </p:nvSpPr>
        <p:spPr>
          <a:xfrm>
            <a:off x="3574018" y="5168027"/>
            <a:ext cx="7482364" cy="1700213"/>
          </a:xfrm>
          <a:prstGeom prst="rect">
            <a:avLst/>
          </a:prstGeom>
          <a:noFill/>
          <a:ln/>
        </p:spPr>
        <p:txBody>
          <a:bodyPr wrap="square" lIns="0" tIns="0" rIns="0" bIns="0" rtlCol="0" anchor="t"/>
          <a:lstStyle/>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def _build_history_context(history_json):</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hist = json.loads(history_json)</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lines = []</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for h in hist[-3:]:            # last 3 turns only</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if h.get("role") == "user":</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lines.append(f"USER: {h['message']}")</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elif h.get("intent") == "ANALYST": # ANALYST turns only</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if h.get("sql"):</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lines.append(</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f"ASSISTANT_SQL: {h['sql'][:600]}")</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if h.get("summary"):</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lines.append(</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f"ASSISTANT_RESULT: {h['summary'][:300]}")</a:t>
            </a:r>
            <a:endParaRPr lang="en-US" sz="850" dirty="0"/>
          </a:p>
          <a:p>
            <a:pPr marL="0" indent="0" algn="l">
              <a:lnSpc>
                <a:spcPts val="950"/>
              </a:lnSpc>
              <a:buNone/>
            </a:pPr>
            <a:r>
              <a:rPr lang="en-US" sz="850" dirty="0">
                <a:solidFill>
                  <a:srgbClr val="FF7B72"/>
                </a:solidFill>
                <a:highlight>
                  <a:srgbClr val="1E1F20"/>
                </a:highlight>
                <a:latin typeface="Consolas" pitchFamily="34" charset="0"/>
                <a:ea typeface="Consolas" pitchFamily="34" charset="-122"/>
                <a:cs typeface="Consolas" pitchFamily="34" charset="-120"/>
              </a:rPr>
              <a:t>    return "\n".join(lines)</a:t>
            </a:r>
            <a:endParaRPr lang="en-US" sz="850" dirty="0"/>
          </a:p>
        </p:txBody>
      </p:sp>
      <p:sp>
        <p:nvSpPr>
          <p:cNvPr id="29" name="Shape 27"/>
          <p:cNvSpPr/>
          <p:nvPr/>
        </p:nvSpPr>
        <p:spPr>
          <a:xfrm>
            <a:off x="3444478" y="7036832"/>
            <a:ext cx="7741444" cy="426244"/>
          </a:xfrm>
          <a:prstGeom prst="roundRect">
            <a:avLst>
              <a:gd name="adj" fmla="val 3800"/>
            </a:avLst>
          </a:prstGeom>
          <a:solidFill>
            <a:srgbClr val="262626"/>
          </a:solidFill>
          <a:ln/>
        </p:spPr>
      </p:sp>
      <p:pic>
        <p:nvPicPr>
          <p:cNvPr id="30" name="Image 0" descr="preencoded.png"/>
          <p:cNvPicPr>
            <a:picLocks noChangeAspect="1"/>
          </p:cNvPicPr>
          <p:nvPr/>
        </p:nvPicPr>
        <p:blipFill>
          <a:blip r:embed="rId3"/>
          <a:stretch>
            <a:fillRect/>
          </a:stretch>
        </p:blipFill>
        <p:spPr>
          <a:xfrm>
            <a:off x="3552349" y="7171611"/>
            <a:ext cx="134898" cy="107871"/>
          </a:xfrm>
          <a:prstGeom prst="rect">
            <a:avLst/>
          </a:prstGeom>
        </p:spPr>
      </p:pic>
      <p:sp>
        <p:nvSpPr>
          <p:cNvPr id="31" name="Text 28"/>
          <p:cNvSpPr/>
          <p:nvPr/>
        </p:nvSpPr>
        <p:spPr>
          <a:xfrm>
            <a:off x="3795117" y="7117675"/>
            <a:ext cx="7282934" cy="242888"/>
          </a:xfrm>
          <a:prstGeom prst="rect">
            <a:avLst/>
          </a:prstGeom>
          <a:noFill/>
          <a:ln/>
        </p:spPr>
        <p:txBody>
          <a:bodyPr wrap="square" lIns="0" tIns="0" rIns="0" bIns="0" rtlCol="0" anchor="t"/>
          <a:lstStyle/>
          <a:p>
            <a:pPr marL="0" indent="0" algn="l">
              <a:lnSpc>
                <a:spcPts val="950"/>
              </a:lnSpc>
              <a:buNone/>
            </a:pPr>
            <a:r>
              <a:rPr lang="en-US" sz="850" b="1" dirty="0">
                <a:solidFill>
                  <a:srgbClr val="FFFFFF"/>
                </a:solidFill>
                <a:latin typeface="Source Sans 3" pitchFamily="34" charset="0"/>
                <a:ea typeface="Source Sans 3" pitchFamily="34" charset="-122"/>
                <a:cs typeface="Source Sans 3" pitchFamily="34" charset="-120"/>
              </a:rPr>
              <a:t>Only ANALYST turns are included in SQL history context.</a:t>
            </a:r>
            <a:r>
              <a:rPr lang="en-US" sz="850" dirty="0">
                <a:solidFill>
                  <a:srgbClr val="FFFFFF"/>
                </a:solidFill>
                <a:latin typeface="Source Sans 3" pitchFamily="34" charset="0"/>
                <a:ea typeface="Source Sans 3" pitchFamily="34" charset="-122"/>
                <a:cs typeface="Source Sans 3" pitchFamily="34" charset="-120"/>
              </a:rPr>
              <a:t> PLAYBOOK turns are excluded — they add noise, not signal, to SQL generation. SP_PLAYBOOK_RAG has its own history filtering that includes only PLAYBOOK turns. Without this context, "break that down" has no referent and the LLM writes a generic query.</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2201466" y="1400651"/>
            <a:ext cx="9217581" cy="405170"/>
          </a:xfrm>
          <a:prstGeom prst="rect">
            <a:avLst/>
          </a:prstGeom>
          <a:noFill/>
          <a:ln/>
        </p:spPr>
        <p:txBody>
          <a:bodyPr wrap="none" lIns="0" tIns="0" rIns="0" bIns="0" rtlCol="0" anchor="t"/>
          <a:lstStyle/>
          <a:p>
            <a:pPr marL="0" indent="0" algn="l">
              <a:lnSpc>
                <a:spcPts val="3150"/>
              </a:lnSpc>
              <a:buNone/>
            </a:pPr>
            <a:r>
              <a:rPr lang="en-US" sz="2550" b="1" dirty="0">
                <a:solidFill>
                  <a:srgbClr val="FFFFFF"/>
                </a:solidFill>
                <a:latin typeface="Montserrat Bold" pitchFamily="34" charset="0"/>
                <a:ea typeface="Montserrat Bold" pitchFamily="34" charset="-122"/>
                <a:cs typeface="Montserrat Bold" pitchFamily="34" charset="-120"/>
              </a:rPr>
              <a:t>Frequently Asked Questions — SP_GATEWAY (Step 05)</a:t>
            </a:r>
            <a:endParaRPr lang="en-US" sz="2550" dirty="0"/>
          </a:p>
        </p:txBody>
      </p:sp>
      <p:sp>
        <p:nvSpPr>
          <p:cNvPr id="3" name="Text 1"/>
          <p:cNvSpPr/>
          <p:nvPr/>
        </p:nvSpPr>
        <p:spPr>
          <a:xfrm>
            <a:off x="2201466" y="1994178"/>
            <a:ext cx="10227350" cy="177641"/>
          </a:xfrm>
          <a:prstGeom prst="rect">
            <a:avLst/>
          </a:prstGeom>
          <a:noFill/>
          <a:ln/>
        </p:spPr>
        <p:txBody>
          <a:bodyPr wrap="none" lIns="0" tIns="0" rIns="0" bIns="0" rtlCol="0" anchor="t"/>
          <a:lstStyle/>
          <a:p>
            <a:pPr marL="0" indent="0" algn="l">
              <a:lnSpc>
                <a:spcPts val="1350"/>
              </a:lnSpc>
              <a:buNone/>
            </a:pPr>
            <a:r>
              <a:rPr lang="en-US" sz="1100" dirty="0">
                <a:solidFill>
                  <a:srgbClr val="E2E6E9"/>
                </a:solidFill>
                <a:latin typeface="Source Sans 3" pitchFamily="34" charset="0"/>
                <a:ea typeface="Source Sans 3" pitchFamily="34" charset="-122"/>
                <a:cs typeface="Source Sans 3" pitchFamily="34" charset="-120"/>
              </a:rPr>
              <a:t>These are the questions students most reliably ask. Addressing them proactively signals that the design choices are intentional — every "why" has a thoughtful answer.</a:t>
            </a:r>
            <a:endParaRPr lang="en-US" sz="1100" dirty="0"/>
          </a:p>
        </p:txBody>
      </p:sp>
      <p:sp>
        <p:nvSpPr>
          <p:cNvPr id="4" name="Shape 2"/>
          <p:cNvSpPr/>
          <p:nvPr/>
        </p:nvSpPr>
        <p:spPr>
          <a:xfrm>
            <a:off x="2201466" y="2277785"/>
            <a:ext cx="5066586" cy="1325642"/>
          </a:xfrm>
          <a:prstGeom prst="roundRect">
            <a:avLst>
              <a:gd name="adj" fmla="val 1614"/>
            </a:avLst>
          </a:prstGeom>
          <a:solidFill>
            <a:srgbClr val="111213"/>
          </a:solidFill>
          <a:ln w="15240">
            <a:solidFill>
              <a:srgbClr val="494A4B"/>
            </a:solidFill>
            <a:prstDash val="solid"/>
          </a:ln>
        </p:spPr>
      </p:sp>
      <p:sp>
        <p:nvSpPr>
          <p:cNvPr id="5" name="Text 3"/>
          <p:cNvSpPr/>
          <p:nvPr/>
        </p:nvSpPr>
        <p:spPr>
          <a:xfrm>
            <a:off x="2359343" y="2435662"/>
            <a:ext cx="4750832" cy="405289"/>
          </a:xfrm>
          <a:prstGeom prst="rect">
            <a:avLst/>
          </a:prstGeom>
          <a:noFill/>
          <a:ln/>
        </p:spPr>
        <p:txBody>
          <a:bodyPr wrap="square" lIns="0" tIns="0" rIns="0" bIns="0" rtlCol="0" anchor="t"/>
          <a:lstStyle/>
          <a:p>
            <a:pPr marL="0" indent="0" algn="l">
              <a:lnSpc>
                <a:spcPts val="1550"/>
              </a:lnSpc>
              <a:buNone/>
            </a:pPr>
            <a:r>
              <a:rPr lang="en-US" sz="1250" b="1" dirty="0">
                <a:solidFill>
                  <a:srgbClr val="E2E6E9"/>
                </a:solidFill>
                <a:latin typeface="Montserrat Bold" pitchFamily="34" charset="0"/>
                <a:ea typeface="Montserrat Bold" pitchFamily="34" charset="-122"/>
                <a:cs typeface="Montserrat Bold" pitchFamily="34" charset="-120"/>
              </a:rPr>
              <a:t>Why does Streamlit only call SP_GATEWAY, not SP_SQL_ANALYST directly?</a:t>
            </a:r>
            <a:endParaRPr lang="en-US" sz="1250" dirty="0"/>
          </a:p>
        </p:txBody>
      </p:sp>
      <p:sp>
        <p:nvSpPr>
          <p:cNvPr id="6" name="Text 4"/>
          <p:cNvSpPr/>
          <p:nvPr/>
        </p:nvSpPr>
        <p:spPr>
          <a:xfrm>
            <a:off x="2359343" y="2897386"/>
            <a:ext cx="4750832" cy="532924"/>
          </a:xfrm>
          <a:prstGeom prst="rect">
            <a:avLst/>
          </a:prstGeom>
          <a:noFill/>
          <a:ln/>
        </p:spPr>
        <p:txBody>
          <a:bodyPr wrap="square" lIns="0" tIns="0" rIns="0" bIns="0" rtlCol="0" anchor="t"/>
          <a:lstStyle/>
          <a:p>
            <a:pPr marL="0" indent="0" algn="l">
              <a:lnSpc>
                <a:spcPts val="1350"/>
              </a:lnSpc>
              <a:buNone/>
            </a:pPr>
            <a:r>
              <a:rPr lang="en-US" sz="1100" dirty="0">
                <a:solidFill>
                  <a:srgbClr val="E2E6E9"/>
                </a:solidFill>
                <a:latin typeface="Source Sans 3" pitchFamily="34" charset="0"/>
                <a:ea typeface="Source Sans 3" pitchFamily="34" charset="-122"/>
                <a:cs typeface="Source Sans 3" pitchFamily="34" charset="-120"/>
              </a:rPr>
              <a:t>Single responsibility and clean architecture. Streamlit should not know about intent classification or fallback logic. Those decisions belong in the backend. If requirements change, only SP_GATEWAY changes — Streamlit stays the same.</a:t>
            </a:r>
            <a:endParaRPr lang="en-US" sz="1100" dirty="0"/>
          </a:p>
        </p:txBody>
      </p:sp>
      <p:sp>
        <p:nvSpPr>
          <p:cNvPr id="7" name="Shape 5"/>
          <p:cNvSpPr/>
          <p:nvPr/>
        </p:nvSpPr>
        <p:spPr>
          <a:xfrm>
            <a:off x="7362230" y="2277785"/>
            <a:ext cx="5066586" cy="1325642"/>
          </a:xfrm>
          <a:prstGeom prst="roundRect">
            <a:avLst>
              <a:gd name="adj" fmla="val 1614"/>
            </a:avLst>
          </a:prstGeom>
          <a:solidFill>
            <a:srgbClr val="111213"/>
          </a:solidFill>
          <a:ln w="15240">
            <a:solidFill>
              <a:srgbClr val="494A4B"/>
            </a:solidFill>
            <a:prstDash val="solid"/>
          </a:ln>
        </p:spPr>
      </p:sp>
      <p:sp>
        <p:nvSpPr>
          <p:cNvPr id="8" name="Text 6"/>
          <p:cNvSpPr/>
          <p:nvPr/>
        </p:nvSpPr>
        <p:spPr>
          <a:xfrm>
            <a:off x="7520107" y="2435662"/>
            <a:ext cx="4750832" cy="405289"/>
          </a:xfrm>
          <a:prstGeom prst="rect">
            <a:avLst/>
          </a:prstGeom>
          <a:noFill/>
          <a:ln/>
        </p:spPr>
        <p:txBody>
          <a:bodyPr wrap="square" lIns="0" tIns="0" rIns="0" bIns="0" rtlCol="0" anchor="t"/>
          <a:lstStyle/>
          <a:p>
            <a:pPr marL="0" indent="0" algn="l">
              <a:lnSpc>
                <a:spcPts val="1550"/>
              </a:lnSpc>
              <a:buNone/>
            </a:pPr>
            <a:r>
              <a:rPr lang="en-US" sz="1250" b="1" dirty="0">
                <a:solidFill>
                  <a:srgbClr val="E2E6E9"/>
                </a:solidFill>
                <a:latin typeface="Montserrat Bold" pitchFamily="34" charset="0"/>
                <a:ea typeface="Montserrat Bold" pitchFamily="34" charset="-122"/>
                <a:cs typeface="Montserrat Bold" pitchFamily="34" charset="-120"/>
              </a:rPr>
              <a:t>What happens if the LLM returns something other than "ANALYST" or "PLAYBOOK"?</a:t>
            </a:r>
            <a:endParaRPr lang="en-US" sz="1250" dirty="0"/>
          </a:p>
        </p:txBody>
      </p:sp>
      <p:sp>
        <p:nvSpPr>
          <p:cNvPr id="9" name="Text 7"/>
          <p:cNvSpPr/>
          <p:nvPr/>
        </p:nvSpPr>
        <p:spPr>
          <a:xfrm>
            <a:off x="7520107" y="2897386"/>
            <a:ext cx="4750832" cy="548164"/>
          </a:xfrm>
          <a:prstGeom prst="rect">
            <a:avLst/>
          </a:prstGeom>
          <a:noFill/>
          <a:ln/>
        </p:spPr>
        <p:txBody>
          <a:bodyPr wrap="square" lIns="0" tIns="0" rIns="0" bIns="0" rtlCol="0" anchor="t"/>
          <a:lstStyle/>
          <a:p>
            <a:pPr marL="0" indent="0" algn="l">
              <a:lnSpc>
                <a:spcPts val="1350"/>
              </a:lnSpc>
              <a:buNone/>
            </a:pPr>
            <a:r>
              <a:rPr lang="en-US" sz="1100" dirty="0">
                <a:solidFill>
                  <a:srgbClr val="E2E6E9"/>
                </a:solidFill>
                <a:latin typeface="Source Sans 3" pitchFamily="34" charset="0"/>
                <a:ea typeface="Source Sans 3" pitchFamily="34" charset="-122"/>
                <a:cs typeface="Source Sans 3" pitchFamily="34" charset="-120"/>
              </a:rPr>
              <a:t>The code checks: </a:t>
            </a:r>
            <a:r>
              <a:rPr lang="en-US" sz="1100" dirty="0">
                <a:solidFill>
                  <a:srgbClr val="E2E6E9"/>
                </a:solidFill>
                <a:highlight>
                  <a:srgbClr val="1E1F20"/>
                </a:highlight>
                <a:latin typeface="Consolas" pitchFamily="34" charset="0"/>
                <a:ea typeface="Consolas" pitchFamily="34" charset="-122"/>
                <a:cs typeface="Consolas" pitchFamily="34" charset="-120"/>
              </a:rPr>
              <a:t>if "ANALYST" in raw → ANALYST</a:t>
            </a:r>
            <a:r>
              <a:rPr lang="en-US" sz="1100" dirty="0">
                <a:solidFill>
                  <a:srgbClr val="E2E6E9"/>
                </a:solidFill>
                <a:latin typeface="Source Sans 3" pitchFamily="34" charset="0"/>
                <a:ea typeface="Source Sans 3" pitchFamily="34" charset="-122"/>
                <a:cs typeface="Source Sans 3" pitchFamily="34" charset="-120"/>
              </a:rPr>
              <a:t>. If neither → default to ANALYST with confidence 0.50 and method "llm_unclear". ANALYST is the safe default — returning a data attempt is less harmful than silently failing.</a:t>
            </a:r>
            <a:endParaRPr lang="en-US" sz="1100" dirty="0"/>
          </a:p>
        </p:txBody>
      </p:sp>
      <p:sp>
        <p:nvSpPr>
          <p:cNvPr id="10" name="Shape 8"/>
          <p:cNvSpPr/>
          <p:nvPr/>
        </p:nvSpPr>
        <p:spPr>
          <a:xfrm>
            <a:off x="2201466" y="3697605"/>
            <a:ext cx="5066586" cy="1518523"/>
          </a:xfrm>
          <a:prstGeom prst="roundRect">
            <a:avLst>
              <a:gd name="adj" fmla="val 1409"/>
            </a:avLst>
          </a:prstGeom>
          <a:solidFill>
            <a:srgbClr val="111213"/>
          </a:solidFill>
          <a:ln w="15240">
            <a:solidFill>
              <a:srgbClr val="494A4B"/>
            </a:solidFill>
            <a:prstDash val="solid"/>
          </a:ln>
        </p:spPr>
      </p:sp>
      <p:sp>
        <p:nvSpPr>
          <p:cNvPr id="11" name="Text 9"/>
          <p:cNvSpPr/>
          <p:nvPr/>
        </p:nvSpPr>
        <p:spPr>
          <a:xfrm>
            <a:off x="2359343" y="3855482"/>
            <a:ext cx="4750832" cy="405289"/>
          </a:xfrm>
          <a:prstGeom prst="rect">
            <a:avLst/>
          </a:prstGeom>
          <a:noFill/>
          <a:ln/>
        </p:spPr>
        <p:txBody>
          <a:bodyPr wrap="square" lIns="0" tIns="0" rIns="0" bIns="0" rtlCol="0" anchor="t"/>
          <a:lstStyle/>
          <a:p>
            <a:pPr marL="0" indent="0" algn="l">
              <a:lnSpc>
                <a:spcPts val="1550"/>
              </a:lnSpc>
              <a:buNone/>
            </a:pPr>
            <a:r>
              <a:rPr lang="en-US" sz="1250" b="1" dirty="0">
                <a:solidFill>
                  <a:srgbClr val="E2E6E9"/>
                </a:solidFill>
                <a:latin typeface="Montserrat Bold" pitchFamily="34" charset="0"/>
                <a:ea typeface="Montserrat Bold" pitchFamily="34" charset="-122"/>
                <a:cs typeface="Montserrat Bold" pitchFamily="34" charset="-120"/>
              </a:rPr>
              <a:t>Why pass history as a JSON string instead of a Python list?</a:t>
            </a:r>
            <a:endParaRPr lang="en-US" sz="1250" dirty="0"/>
          </a:p>
        </p:txBody>
      </p:sp>
      <p:sp>
        <p:nvSpPr>
          <p:cNvPr id="12" name="Text 10"/>
          <p:cNvSpPr/>
          <p:nvPr/>
        </p:nvSpPr>
        <p:spPr>
          <a:xfrm>
            <a:off x="2359343" y="4317206"/>
            <a:ext cx="4750832" cy="741045"/>
          </a:xfrm>
          <a:prstGeom prst="rect">
            <a:avLst/>
          </a:prstGeom>
          <a:noFill/>
          <a:ln/>
        </p:spPr>
        <p:txBody>
          <a:bodyPr wrap="square" lIns="0" tIns="0" rIns="0" bIns="0" rtlCol="0" anchor="t"/>
          <a:lstStyle/>
          <a:p>
            <a:pPr marL="0" indent="0" algn="l">
              <a:lnSpc>
                <a:spcPts val="1350"/>
              </a:lnSpc>
              <a:buNone/>
            </a:pPr>
            <a:r>
              <a:rPr lang="en-US" sz="1100" dirty="0">
                <a:solidFill>
                  <a:srgbClr val="E2E6E9"/>
                </a:solidFill>
                <a:latin typeface="Source Sans 3" pitchFamily="34" charset="0"/>
                <a:ea typeface="Source Sans 3" pitchFamily="34" charset="-122"/>
                <a:cs typeface="Source Sans 3" pitchFamily="34" charset="-120"/>
              </a:rPr>
              <a:t>Snowflake SP parameters must be scalar types (VARCHAR, NUMBER). You cannot pass a Python list directly. </a:t>
            </a:r>
            <a:r>
              <a:rPr lang="en-US" sz="1100" dirty="0">
                <a:solidFill>
                  <a:srgbClr val="E2E6E9"/>
                </a:solidFill>
                <a:highlight>
                  <a:srgbClr val="1E1F20"/>
                </a:highlight>
                <a:latin typeface="Consolas" pitchFamily="34" charset="0"/>
                <a:ea typeface="Consolas" pitchFamily="34" charset="-122"/>
                <a:cs typeface="Consolas" pitchFamily="34" charset="-120"/>
              </a:rPr>
              <a:t>json.dumps()</a:t>
            </a:r>
            <a:r>
              <a:rPr lang="en-US" sz="1100" dirty="0">
                <a:solidFill>
                  <a:srgbClr val="E2E6E9"/>
                </a:solidFill>
                <a:latin typeface="Source Sans 3" pitchFamily="34" charset="0"/>
                <a:ea typeface="Source Sans 3" pitchFamily="34" charset="-122"/>
                <a:cs typeface="Source Sans 3" pitchFamily="34" charset="-120"/>
              </a:rPr>
              <a:t> converts the list to a string (VARCHAR), then </a:t>
            </a:r>
            <a:r>
              <a:rPr lang="en-US" sz="1100" dirty="0">
                <a:solidFill>
                  <a:srgbClr val="E2E6E9"/>
                </a:solidFill>
                <a:highlight>
                  <a:srgbClr val="1E1F20"/>
                </a:highlight>
                <a:latin typeface="Consolas" pitchFamily="34" charset="0"/>
                <a:ea typeface="Consolas" pitchFamily="34" charset="-122"/>
                <a:cs typeface="Consolas" pitchFamily="34" charset="-120"/>
              </a:rPr>
              <a:t>json.loads()</a:t>
            </a:r>
            <a:r>
              <a:rPr lang="en-US" sz="1100" dirty="0">
                <a:solidFill>
                  <a:srgbClr val="E2E6E9"/>
                </a:solidFill>
                <a:latin typeface="Source Sans 3" pitchFamily="34" charset="0"/>
                <a:ea typeface="Source Sans 3" pitchFamily="34" charset="-122"/>
                <a:cs typeface="Source Sans 3" pitchFamily="34" charset="-120"/>
              </a:rPr>
              <a:t> deserialises it inside the SP. This is the standard Snowflake SP pattern.</a:t>
            </a:r>
            <a:endParaRPr lang="en-US" sz="1100" dirty="0"/>
          </a:p>
        </p:txBody>
      </p:sp>
      <p:sp>
        <p:nvSpPr>
          <p:cNvPr id="13" name="Shape 11"/>
          <p:cNvSpPr/>
          <p:nvPr/>
        </p:nvSpPr>
        <p:spPr>
          <a:xfrm>
            <a:off x="7362230" y="3697605"/>
            <a:ext cx="5066586" cy="1518523"/>
          </a:xfrm>
          <a:prstGeom prst="roundRect">
            <a:avLst>
              <a:gd name="adj" fmla="val 1409"/>
            </a:avLst>
          </a:prstGeom>
          <a:solidFill>
            <a:srgbClr val="111213"/>
          </a:solidFill>
          <a:ln w="15240">
            <a:solidFill>
              <a:srgbClr val="494A4B"/>
            </a:solidFill>
            <a:prstDash val="solid"/>
          </a:ln>
        </p:spPr>
      </p:sp>
      <p:sp>
        <p:nvSpPr>
          <p:cNvPr id="14" name="Text 12"/>
          <p:cNvSpPr/>
          <p:nvPr/>
        </p:nvSpPr>
        <p:spPr>
          <a:xfrm>
            <a:off x="7520107" y="3855482"/>
            <a:ext cx="4750832" cy="405289"/>
          </a:xfrm>
          <a:prstGeom prst="rect">
            <a:avLst/>
          </a:prstGeom>
          <a:noFill/>
          <a:ln/>
        </p:spPr>
        <p:txBody>
          <a:bodyPr wrap="square" lIns="0" tIns="0" rIns="0" bIns="0" rtlCol="0" anchor="t"/>
          <a:lstStyle/>
          <a:p>
            <a:pPr marL="0" indent="0" algn="l">
              <a:lnSpc>
                <a:spcPts val="1550"/>
              </a:lnSpc>
              <a:buNone/>
            </a:pPr>
            <a:r>
              <a:rPr lang="en-US" sz="1250" b="1" dirty="0">
                <a:solidFill>
                  <a:srgbClr val="E2E6E9"/>
                </a:solidFill>
                <a:latin typeface="Montserrat Bold" pitchFamily="34" charset="0"/>
                <a:ea typeface="Montserrat Bold" pitchFamily="34" charset="-122"/>
                <a:cs typeface="Montserrat Bold" pitchFamily="34" charset="-120"/>
              </a:rPr>
              <a:t>What is the difference between session_id and turn_number?</a:t>
            </a:r>
            <a:endParaRPr lang="en-US" sz="1250" dirty="0"/>
          </a:p>
        </p:txBody>
      </p:sp>
      <p:sp>
        <p:nvSpPr>
          <p:cNvPr id="15" name="Text 13"/>
          <p:cNvSpPr/>
          <p:nvPr/>
        </p:nvSpPr>
        <p:spPr>
          <a:xfrm>
            <a:off x="7520107" y="4317206"/>
            <a:ext cx="4750832" cy="710565"/>
          </a:xfrm>
          <a:prstGeom prst="rect">
            <a:avLst/>
          </a:prstGeom>
          <a:noFill/>
          <a:ln/>
        </p:spPr>
        <p:txBody>
          <a:bodyPr wrap="square" lIns="0" tIns="0" rIns="0" bIns="0" rtlCol="0" anchor="t"/>
          <a:lstStyle/>
          <a:p>
            <a:pPr marL="0" indent="0" algn="l">
              <a:lnSpc>
                <a:spcPts val="1350"/>
              </a:lnSpc>
              <a:buNone/>
            </a:pPr>
            <a:r>
              <a:rPr lang="en-US" sz="1100" b="1" dirty="0">
                <a:solidFill>
                  <a:srgbClr val="E2E6E9"/>
                </a:solidFill>
                <a:latin typeface="Source Sans 3" pitchFamily="34" charset="0"/>
                <a:ea typeface="Source Sans 3" pitchFamily="34" charset="-122"/>
                <a:cs typeface="Source Sans 3" pitchFamily="34" charset="-120"/>
              </a:rPr>
              <a:t>session_id</a:t>
            </a:r>
            <a:r>
              <a:rPr lang="en-US" sz="1100" dirty="0">
                <a:solidFill>
                  <a:srgbClr val="E2E6E9"/>
                </a:solidFill>
                <a:latin typeface="Source Sans 3" pitchFamily="34" charset="0"/>
                <a:ea typeface="Source Sans 3" pitchFamily="34" charset="-122"/>
                <a:cs typeface="Source Sans 3" pitchFamily="34" charset="-120"/>
              </a:rPr>
              <a:t> identifies the conversation (one UUID per browser session). </a:t>
            </a:r>
            <a:r>
              <a:rPr lang="en-US" sz="1100" b="1" dirty="0">
                <a:solidFill>
                  <a:srgbClr val="E2E6E9"/>
                </a:solidFill>
                <a:latin typeface="Source Sans 3" pitchFamily="34" charset="0"/>
                <a:ea typeface="Source Sans 3" pitchFamily="34" charset="-122"/>
                <a:cs typeface="Source Sans 3" pitchFamily="34" charset="-120"/>
              </a:rPr>
              <a:t>turn_number</a:t>
            </a:r>
            <a:r>
              <a:rPr lang="en-US" sz="1100" dirty="0">
                <a:solidFill>
                  <a:srgbClr val="E2E6E9"/>
                </a:solidFill>
                <a:latin typeface="Source Sans 3" pitchFamily="34" charset="0"/>
                <a:ea typeface="Source Sans 3" pitchFamily="34" charset="-122"/>
                <a:cs typeface="Source Sans 3" pitchFamily="34" charset="-120"/>
              </a:rPr>
              <a:t> identifies the position within that conversation (1, 2, 3...). Together they form the composite key: (session_id, turn_number) uniquely identifies each message.</a:t>
            </a:r>
            <a:endParaRPr lang="en-US" sz="1100" dirty="0"/>
          </a:p>
        </p:txBody>
      </p:sp>
      <p:sp>
        <p:nvSpPr>
          <p:cNvPr id="16" name="Shape 14"/>
          <p:cNvSpPr/>
          <p:nvPr/>
        </p:nvSpPr>
        <p:spPr>
          <a:xfrm>
            <a:off x="2201466" y="5310307"/>
            <a:ext cx="5066586" cy="1518523"/>
          </a:xfrm>
          <a:prstGeom prst="roundRect">
            <a:avLst>
              <a:gd name="adj" fmla="val 1409"/>
            </a:avLst>
          </a:prstGeom>
          <a:solidFill>
            <a:srgbClr val="111213"/>
          </a:solidFill>
          <a:ln w="15240">
            <a:solidFill>
              <a:srgbClr val="494A4B"/>
            </a:solidFill>
            <a:prstDash val="solid"/>
          </a:ln>
        </p:spPr>
      </p:sp>
      <p:sp>
        <p:nvSpPr>
          <p:cNvPr id="17" name="Text 15"/>
          <p:cNvSpPr/>
          <p:nvPr/>
        </p:nvSpPr>
        <p:spPr>
          <a:xfrm>
            <a:off x="2359343" y="5468183"/>
            <a:ext cx="4750832" cy="405289"/>
          </a:xfrm>
          <a:prstGeom prst="rect">
            <a:avLst/>
          </a:prstGeom>
          <a:noFill/>
          <a:ln/>
        </p:spPr>
        <p:txBody>
          <a:bodyPr wrap="square" lIns="0" tIns="0" rIns="0" bIns="0" rtlCol="0" anchor="t"/>
          <a:lstStyle/>
          <a:p>
            <a:pPr marL="0" indent="0" algn="l">
              <a:lnSpc>
                <a:spcPts val="1550"/>
              </a:lnSpc>
              <a:buNone/>
            </a:pPr>
            <a:r>
              <a:rPr lang="en-US" sz="1250" b="1" dirty="0">
                <a:solidFill>
                  <a:srgbClr val="E2E6E9"/>
                </a:solidFill>
                <a:latin typeface="Montserrat Bold" pitchFamily="34" charset="0"/>
                <a:ea typeface="Montserrat Bold" pitchFamily="34" charset="-122"/>
                <a:cs typeface="Montserrat Bold" pitchFamily="34" charset="-120"/>
              </a:rPr>
              <a:t>Why use uuid.uuid4() for session_id instead of a sequential number?</a:t>
            </a:r>
            <a:endParaRPr lang="en-US" sz="1250" dirty="0"/>
          </a:p>
        </p:txBody>
      </p:sp>
      <p:sp>
        <p:nvSpPr>
          <p:cNvPr id="18" name="Text 16"/>
          <p:cNvSpPr/>
          <p:nvPr/>
        </p:nvSpPr>
        <p:spPr>
          <a:xfrm>
            <a:off x="2359343" y="5929908"/>
            <a:ext cx="4750832" cy="710565"/>
          </a:xfrm>
          <a:prstGeom prst="rect">
            <a:avLst/>
          </a:prstGeom>
          <a:noFill/>
          <a:ln/>
        </p:spPr>
        <p:txBody>
          <a:bodyPr wrap="square" lIns="0" tIns="0" rIns="0" bIns="0" rtlCol="0" anchor="t"/>
          <a:lstStyle/>
          <a:p>
            <a:pPr marL="0" indent="0" algn="l">
              <a:lnSpc>
                <a:spcPts val="1350"/>
              </a:lnSpc>
              <a:buNone/>
            </a:pPr>
            <a:r>
              <a:rPr lang="en-US" sz="1100" dirty="0">
                <a:solidFill>
                  <a:srgbClr val="E2E6E9"/>
                </a:solidFill>
                <a:latin typeface="Source Sans 3" pitchFamily="34" charset="0"/>
                <a:ea typeface="Source Sans 3" pitchFamily="34" charset="-122"/>
                <a:cs typeface="Source Sans 3" pitchFamily="34" charset="-120"/>
              </a:rPr>
              <a:t>Sequential numbers (1, 2, 3) are predictable — a user could guess another user's session_id and retrieve their history. UUID4 generates a random 128-bit number — effectively impossible to guess. Security by randomness is correct for user session identifiers.</a:t>
            </a:r>
            <a:endParaRPr lang="en-US" sz="1100" dirty="0"/>
          </a:p>
        </p:txBody>
      </p:sp>
      <p:sp>
        <p:nvSpPr>
          <p:cNvPr id="19" name="Shape 17"/>
          <p:cNvSpPr/>
          <p:nvPr/>
        </p:nvSpPr>
        <p:spPr>
          <a:xfrm>
            <a:off x="7362230" y="5310307"/>
            <a:ext cx="5066586" cy="1518523"/>
          </a:xfrm>
          <a:prstGeom prst="roundRect">
            <a:avLst>
              <a:gd name="adj" fmla="val 1409"/>
            </a:avLst>
          </a:prstGeom>
          <a:solidFill>
            <a:srgbClr val="111213"/>
          </a:solidFill>
          <a:ln w="15240">
            <a:solidFill>
              <a:srgbClr val="494A4B"/>
            </a:solidFill>
            <a:prstDash val="solid"/>
          </a:ln>
        </p:spPr>
      </p:sp>
      <p:sp>
        <p:nvSpPr>
          <p:cNvPr id="20" name="Text 18"/>
          <p:cNvSpPr/>
          <p:nvPr/>
        </p:nvSpPr>
        <p:spPr>
          <a:xfrm>
            <a:off x="7520107" y="5468183"/>
            <a:ext cx="4750832" cy="405289"/>
          </a:xfrm>
          <a:prstGeom prst="rect">
            <a:avLst/>
          </a:prstGeom>
          <a:noFill/>
          <a:ln/>
        </p:spPr>
        <p:txBody>
          <a:bodyPr wrap="square" lIns="0" tIns="0" rIns="0" bIns="0" rtlCol="0" anchor="t"/>
          <a:lstStyle/>
          <a:p>
            <a:pPr marL="0" indent="0" algn="l">
              <a:lnSpc>
                <a:spcPts val="1550"/>
              </a:lnSpc>
              <a:buNone/>
            </a:pPr>
            <a:r>
              <a:rPr lang="en-US" sz="1250" b="1" dirty="0">
                <a:solidFill>
                  <a:srgbClr val="E2E6E9"/>
                </a:solidFill>
                <a:latin typeface="Montserrat Bold" pitchFamily="34" charset="0"/>
                <a:ea typeface="Montserrat Bold" pitchFamily="34" charset="-122"/>
                <a:cs typeface="Montserrat Bold" pitchFamily="34" charset="-120"/>
              </a:rPr>
              <a:t>The try/except in _persist_user_turn has no logging. Is that OK?</a:t>
            </a:r>
            <a:endParaRPr lang="en-US" sz="1250" dirty="0"/>
          </a:p>
        </p:txBody>
      </p:sp>
      <p:sp>
        <p:nvSpPr>
          <p:cNvPr id="21" name="Text 19"/>
          <p:cNvSpPr/>
          <p:nvPr/>
        </p:nvSpPr>
        <p:spPr>
          <a:xfrm>
            <a:off x="7520107" y="5929908"/>
            <a:ext cx="4750832" cy="741045"/>
          </a:xfrm>
          <a:prstGeom prst="rect">
            <a:avLst/>
          </a:prstGeom>
          <a:noFill/>
          <a:ln/>
        </p:spPr>
        <p:txBody>
          <a:bodyPr wrap="square" lIns="0" tIns="0" rIns="0" bIns="0" rtlCol="0" anchor="t"/>
          <a:lstStyle/>
          <a:p>
            <a:pPr marL="0" indent="0" algn="l">
              <a:lnSpc>
                <a:spcPts val="1350"/>
              </a:lnSpc>
              <a:buNone/>
            </a:pPr>
            <a:r>
              <a:rPr lang="en-US" sz="1100" dirty="0">
                <a:solidFill>
                  <a:srgbClr val="E2E6E9"/>
                </a:solidFill>
                <a:latin typeface="Source Sans 3" pitchFamily="34" charset="0"/>
                <a:ea typeface="Source Sans 3" pitchFamily="34" charset="-122"/>
                <a:cs typeface="Source Sans 3" pitchFamily="34" charset="-120"/>
              </a:rPr>
              <a:t>For a learning project — acceptable. In production: </a:t>
            </a:r>
            <a:r>
              <a:rPr lang="en-US" sz="1100" dirty="0">
                <a:solidFill>
                  <a:srgbClr val="E2E6E9"/>
                </a:solidFill>
                <a:highlight>
                  <a:srgbClr val="1E1F20"/>
                </a:highlight>
                <a:latin typeface="Consolas" pitchFamily="34" charset="0"/>
                <a:ea typeface="Consolas" pitchFamily="34" charset="-122"/>
                <a:cs typeface="Consolas" pitchFamily="34" charset="-120"/>
              </a:rPr>
              <a:t>except Exception as e: logger.error(f"Persist failed: {e}")</a:t>
            </a:r>
            <a:r>
              <a:rPr lang="en-US" sz="1100" dirty="0">
                <a:solidFill>
                  <a:srgbClr val="E2E6E9"/>
                </a:solidFill>
                <a:latin typeface="Source Sans 3" pitchFamily="34" charset="0"/>
                <a:ea typeface="Source Sans 3" pitchFamily="34" charset="-122"/>
                <a:cs typeface="Source Sans 3" pitchFamily="34" charset="-120"/>
              </a:rPr>
              <a:t>. Silent failure is acceptable here because (a) the AI answer is the primary value, (b) Snowflake's query history provides a backup audit trail.</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2323624" y="1425297"/>
            <a:ext cx="9710976" cy="395526"/>
          </a:xfrm>
          <a:prstGeom prst="rect">
            <a:avLst/>
          </a:prstGeom>
          <a:noFill/>
          <a:ln/>
        </p:spPr>
        <p:txBody>
          <a:bodyPr wrap="none" lIns="0" tIns="0" rIns="0" bIns="0" rtlCol="0" anchor="t"/>
          <a:lstStyle/>
          <a:p>
            <a:pPr marL="0" indent="0" algn="l">
              <a:lnSpc>
                <a:spcPts val="3100"/>
              </a:lnSpc>
              <a:buNone/>
            </a:pPr>
            <a:r>
              <a:rPr lang="en-US" sz="2450" b="1" dirty="0">
                <a:solidFill>
                  <a:srgbClr val="FFFFFF"/>
                </a:solidFill>
                <a:latin typeface="Montserrat Bold" pitchFamily="34" charset="0"/>
                <a:ea typeface="Montserrat Bold" pitchFamily="34" charset="-122"/>
                <a:cs typeface="Montserrat Bold" pitchFamily="34" charset="-120"/>
              </a:rPr>
              <a:t>Frequently Asked Questions — SP_SQL_ANALYST (Step 06)</a:t>
            </a:r>
            <a:endParaRPr lang="en-US" sz="2450" dirty="0"/>
          </a:p>
        </p:txBody>
      </p:sp>
      <p:sp>
        <p:nvSpPr>
          <p:cNvPr id="3" name="Text 1"/>
          <p:cNvSpPr/>
          <p:nvPr/>
        </p:nvSpPr>
        <p:spPr>
          <a:xfrm>
            <a:off x="2323624" y="2000369"/>
            <a:ext cx="9983033" cy="171807"/>
          </a:xfrm>
          <a:prstGeom prst="rect">
            <a:avLst/>
          </a:prstGeom>
          <a:noFill/>
          <a:ln/>
        </p:spPr>
        <p:txBody>
          <a:bodyPr wrap="none" lIns="0" tIns="0" rIns="0" bIns="0" rtlCol="0" anchor="t"/>
          <a:lstStyle/>
          <a:p>
            <a:pPr marL="0" indent="0" algn="l">
              <a:lnSpc>
                <a:spcPts val="1350"/>
              </a:lnSpc>
              <a:buNone/>
            </a:pPr>
            <a:r>
              <a:rPr lang="en-US" sz="1050" dirty="0">
                <a:solidFill>
                  <a:srgbClr val="E2E6E9"/>
                </a:solidFill>
                <a:latin typeface="Source Sans 3" pitchFamily="34" charset="0"/>
                <a:ea typeface="Source Sans 3" pitchFamily="34" charset="-122"/>
                <a:cs typeface="Source Sans 3" pitchFamily="34" charset="-120"/>
              </a:rPr>
              <a:t>These six questions cover the most common points of confusion around the SQL analyst's design choices — from model selection to security to regex cleaning.</a:t>
            </a:r>
            <a:endParaRPr lang="en-US" sz="1050" dirty="0"/>
          </a:p>
        </p:txBody>
      </p:sp>
      <p:sp>
        <p:nvSpPr>
          <p:cNvPr id="4" name="Shape 2"/>
          <p:cNvSpPr/>
          <p:nvPr/>
        </p:nvSpPr>
        <p:spPr>
          <a:xfrm>
            <a:off x="2323624" y="2273141"/>
            <a:ext cx="4946571" cy="1445419"/>
          </a:xfrm>
          <a:prstGeom prst="roundRect">
            <a:avLst>
              <a:gd name="adj" fmla="val 1445"/>
            </a:avLst>
          </a:prstGeom>
          <a:solidFill>
            <a:srgbClr val="111213"/>
          </a:solidFill>
          <a:ln w="15240">
            <a:solidFill>
              <a:srgbClr val="494A4B"/>
            </a:solidFill>
            <a:prstDash val="solid"/>
          </a:ln>
        </p:spPr>
      </p:sp>
      <p:sp>
        <p:nvSpPr>
          <p:cNvPr id="5" name="Text 3"/>
          <p:cNvSpPr/>
          <p:nvPr/>
        </p:nvSpPr>
        <p:spPr>
          <a:xfrm>
            <a:off x="2478048" y="2427565"/>
            <a:ext cx="4637723" cy="395526"/>
          </a:xfrm>
          <a:prstGeom prst="rect">
            <a:avLst/>
          </a:prstGeom>
          <a:noFill/>
          <a:ln/>
        </p:spPr>
        <p:txBody>
          <a:bodyPr wrap="square" lIns="0" tIns="0" rIns="0" bIns="0" rtlCol="0" anchor="t"/>
          <a:lstStyle/>
          <a:p>
            <a:pPr marL="0" indent="0" algn="l">
              <a:lnSpc>
                <a:spcPts val="1550"/>
              </a:lnSpc>
              <a:buNone/>
            </a:pPr>
            <a:r>
              <a:rPr lang="en-US" sz="1200" b="1" dirty="0">
                <a:solidFill>
                  <a:srgbClr val="E2E6E9"/>
                </a:solidFill>
                <a:latin typeface="Montserrat Bold" pitchFamily="34" charset="0"/>
                <a:ea typeface="Montserrat Bold" pitchFamily="34" charset="-122"/>
                <a:cs typeface="Montserrat Bold" pitchFamily="34" charset="-120"/>
              </a:rPr>
              <a:t>Why use llama3.1-70b for SQL but llama3.1-8b for narrative?</a:t>
            </a:r>
            <a:endParaRPr lang="en-US" sz="1200" dirty="0"/>
          </a:p>
        </p:txBody>
      </p:sp>
      <p:sp>
        <p:nvSpPr>
          <p:cNvPr id="6" name="Text 4"/>
          <p:cNvSpPr/>
          <p:nvPr/>
        </p:nvSpPr>
        <p:spPr>
          <a:xfrm>
            <a:off x="2478048" y="2876907"/>
            <a:ext cx="4637723" cy="687229"/>
          </a:xfrm>
          <a:prstGeom prst="rect">
            <a:avLst/>
          </a:prstGeom>
          <a:noFill/>
          <a:ln/>
        </p:spPr>
        <p:txBody>
          <a:bodyPr wrap="square" lIns="0" tIns="0" rIns="0" bIns="0" rtlCol="0" anchor="t"/>
          <a:lstStyle/>
          <a:p>
            <a:pPr marL="0" indent="0" algn="l">
              <a:lnSpc>
                <a:spcPts val="1350"/>
              </a:lnSpc>
              <a:buNone/>
            </a:pPr>
            <a:r>
              <a:rPr lang="en-US" sz="1050" dirty="0">
                <a:solidFill>
                  <a:srgbClr val="E2E6E9"/>
                </a:solidFill>
                <a:latin typeface="Source Sans 3" pitchFamily="34" charset="0"/>
                <a:ea typeface="Source Sans 3" pitchFamily="34" charset="-122"/>
                <a:cs typeface="Source Sans 3" pitchFamily="34" charset="-120"/>
              </a:rPr>
              <a:t>SQL generation requires complex reasoning: schema understanding, correct joins, aliasing, and following 7 explicit rules — this needs 70b. Narration is "read 10 rows, write 2 sentences" — well within 8b's capability. Matching model size to task complexity controls cost and latency.</a:t>
            </a:r>
            <a:endParaRPr lang="en-US" sz="1050" dirty="0"/>
          </a:p>
        </p:txBody>
      </p:sp>
      <p:sp>
        <p:nvSpPr>
          <p:cNvPr id="7" name="Shape 5"/>
          <p:cNvSpPr/>
          <p:nvPr/>
        </p:nvSpPr>
        <p:spPr>
          <a:xfrm>
            <a:off x="7359968" y="2273141"/>
            <a:ext cx="4946690" cy="1445419"/>
          </a:xfrm>
          <a:prstGeom prst="roundRect">
            <a:avLst>
              <a:gd name="adj" fmla="val 1445"/>
            </a:avLst>
          </a:prstGeom>
          <a:solidFill>
            <a:srgbClr val="111213"/>
          </a:solidFill>
          <a:ln w="15240">
            <a:solidFill>
              <a:srgbClr val="494A4B"/>
            </a:solidFill>
            <a:prstDash val="solid"/>
          </a:ln>
        </p:spPr>
      </p:sp>
      <p:sp>
        <p:nvSpPr>
          <p:cNvPr id="8" name="Text 6"/>
          <p:cNvSpPr/>
          <p:nvPr/>
        </p:nvSpPr>
        <p:spPr>
          <a:xfrm>
            <a:off x="7514392" y="2427565"/>
            <a:ext cx="4637842" cy="395526"/>
          </a:xfrm>
          <a:prstGeom prst="rect">
            <a:avLst/>
          </a:prstGeom>
          <a:noFill/>
          <a:ln/>
        </p:spPr>
        <p:txBody>
          <a:bodyPr wrap="square" lIns="0" tIns="0" rIns="0" bIns="0" rtlCol="0" anchor="t"/>
          <a:lstStyle/>
          <a:p>
            <a:pPr marL="0" indent="0" algn="l">
              <a:lnSpc>
                <a:spcPts val="1550"/>
              </a:lnSpc>
              <a:buNone/>
            </a:pPr>
            <a:r>
              <a:rPr lang="en-US" sz="1200" b="1" dirty="0">
                <a:solidFill>
                  <a:srgbClr val="E2E6E9"/>
                </a:solidFill>
                <a:latin typeface="Montserrat Bold" pitchFamily="34" charset="0"/>
                <a:ea typeface="Montserrat Bold" pitchFamily="34" charset="-122"/>
                <a:cs typeface="Montserrat Bold" pitchFamily="34" charset="-120"/>
              </a:rPr>
              <a:t>Why does the schema string hard-code '2025-12-27' as "today"?</a:t>
            </a:r>
            <a:endParaRPr lang="en-US" sz="1200" dirty="0"/>
          </a:p>
        </p:txBody>
      </p:sp>
      <p:sp>
        <p:nvSpPr>
          <p:cNvPr id="9" name="Text 7"/>
          <p:cNvSpPr/>
          <p:nvPr/>
        </p:nvSpPr>
        <p:spPr>
          <a:xfrm>
            <a:off x="7514392" y="2876907"/>
            <a:ext cx="4637842" cy="523042"/>
          </a:xfrm>
          <a:prstGeom prst="rect">
            <a:avLst/>
          </a:prstGeom>
          <a:noFill/>
          <a:ln/>
        </p:spPr>
        <p:txBody>
          <a:bodyPr wrap="square" lIns="0" tIns="0" rIns="0" bIns="0" rtlCol="0" anchor="t"/>
          <a:lstStyle/>
          <a:p>
            <a:pPr marL="0" indent="0" algn="l">
              <a:lnSpc>
                <a:spcPts val="1350"/>
              </a:lnSpc>
              <a:buNone/>
            </a:pPr>
            <a:r>
              <a:rPr lang="en-US" sz="1050" dirty="0">
                <a:solidFill>
                  <a:srgbClr val="E2E6E9"/>
                </a:solidFill>
                <a:latin typeface="Source Sans 3" pitchFamily="34" charset="0"/>
                <a:ea typeface="Source Sans 3" pitchFamily="34" charset="-122"/>
                <a:cs typeface="Source Sans 3" pitchFamily="34" charset="-120"/>
              </a:rPr>
              <a:t>Transaction data covers Dec 2024–Dec 2025. If you use </a:t>
            </a:r>
            <a:r>
              <a:rPr lang="en-US" sz="1050" dirty="0">
                <a:solidFill>
                  <a:srgbClr val="E2E6E9"/>
                </a:solidFill>
                <a:highlight>
                  <a:srgbClr val="1E1F20"/>
                </a:highlight>
                <a:latin typeface="Consolas" pitchFamily="34" charset="0"/>
                <a:ea typeface="Consolas" pitchFamily="34" charset="-122"/>
                <a:cs typeface="Consolas" pitchFamily="34" charset="-120"/>
              </a:rPr>
              <a:t>CURRENT_DATE()</a:t>
            </a:r>
            <a:r>
              <a:rPr lang="en-US" sz="1050" dirty="0">
                <a:solidFill>
                  <a:srgbClr val="E2E6E9"/>
                </a:solidFill>
                <a:latin typeface="Source Sans 3" pitchFamily="34" charset="0"/>
                <a:ea typeface="Source Sans 3" pitchFamily="34" charset="-122"/>
                <a:cs typeface="Source Sans 3" pitchFamily="34" charset="-120"/>
              </a:rPr>
              <a:t> (2026 at class time), all queries like "last 30 days" return 0 rows. Hard-coding the last date in the dataset ensures all time-based queries return meaningful results.</a:t>
            </a:r>
            <a:endParaRPr lang="en-US" sz="1050" dirty="0"/>
          </a:p>
        </p:txBody>
      </p:sp>
      <p:sp>
        <p:nvSpPr>
          <p:cNvPr id="10" name="Shape 8"/>
          <p:cNvSpPr/>
          <p:nvPr/>
        </p:nvSpPr>
        <p:spPr>
          <a:xfrm>
            <a:off x="2323624" y="3808333"/>
            <a:ext cx="4946571" cy="1453039"/>
          </a:xfrm>
          <a:prstGeom prst="roundRect">
            <a:avLst>
              <a:gd name="adj" fmla="val 1438"/>
            </a:avLst>
          </a:prstGeom>
          <a:solidFill>
            <a:srgbClr val="111213"/>
          </a:solidFill>
          <a:ln w="15240">
            <a:solidFill>
              <a:srgbClr val="494A4B"/>
            </a:solidFill>
            <a:prstDash val="solid"/>
          </a:ln>
        </p:spPr>
      </p:sp>
      <p:sp>
        <p:nvSpPr>
          <p:cNvPr id="11" name="Text 9"/>
          <p:cNvSpPr/>
          <p:nvPr/>
        </p:nvSpPr>
        <p:spPr>
          <a:xfrm>
            <a:off x="2478048" y="3962757"/>
            <a:ext cx="4637723" cy="395526"/>
          </a:xfrm>
          <a:prstGeom prst="rect">
            <a:avLst/>
          </a:prstGeom>
          <a:noFill/>
          <a:ln/>
        </p:spPr>
        <p:txBody>
          <a:bodyPr wrap="square" lIns="0" tIns="0" rIns="0" bIns="0" rtlCol="0" anchor="t"/>
          <a:lstStyle/>
          <a:p>
            <a:pPr marL="0" indent="0" algn="l">
              <a:lnSpc>
                <a:spcPts val="1550"/>
              </a:lnSpc>
              <a:buNone/>
            </a:pPr>
            <a:r>
              <a:rPr lang="en-US" sz="1200" b="1" dirty="0">
                <a:solidFill>
                  <a:srgbClr val="E2E6E9"/>
                </a:solidFill>
                <a:latin typeface="Montserrat Bold" pitchFamily="34" charset="0"/>
                <a:ea typeface="Montserrat Bold" pitchFamily="34" charset="-122"/>
                <a:cs typeface="Montserrat Bold" pitchFamily="34" charset="-120"/>
              </a:rPr>
              <a:t>What does EXECUTE AS OWNER mean and why does it matter?</a:t>
            </a:r>
            <a:endParaRPr lang="en-US" sz="1200" dirty="0"/>
          </a:p>
        </p:txBody>
      </p:sp>
      <p:sp>
        <p:nvSpPr>
          <p:cNvPr id="12" name="Text 10"/>
          <p:cNvSpPr/>
          <p:nvPr/>
        </p:nvSpPr>
        <p:spPr>
          <a:xfrm>
            <a:off x="2478048" y="4412099"/>
            <a:ext cx="4637723" cy="694849"/>
          </a:xfrm>
          <a:prstGeom prst="rect">
            <a:avLst/>
          </a:prstGeom>
          <a:noFill/>
          <a:ln/>
        </p:spPr>
        <p:txBody>
          <a:bodyPr wrap="square" lIns="0" tIns="0" rIns="0" bIns="0" rtlCol="0" anchor="t"/>
          <a:lstStyle/>
          <a:p>
            <a:pPr marL="0" indent="0" algn="l">
              <a:lnSpc>
                <a:spcPts val="1350"/>
              </a:lnSpc>
              <a:buNone/>
            </a:pPr>
            <a:r>
              <a:rPr lang="en-US" sz="1050" dirty="0">
                <a:solidFill>
                  <a:srgbClr val="E2E6E9"/>
                </a:solidFill>
                <a:latin typeface="Source Sans 3" pitchFamily="34" charset="0"/>
                <a:ea typeface="Source Sans 3" pitchFamily="34" charset="-122"/>
                <a:cs typeface="Source Sans 3" pitchFamily="34" charset="-120"/>
              </a:rPr>
              <a:t>The SP runs with the privileges of the account that created it, not the caller. A Streamlit user with minimal privileges can call SP_SQL_ANALYST and get results from tables they have no direct SELECT access to. The owner's read permissions are delegated through the SP — this is Snowflake's equivalent of Linux </a:t>
            </a:r>
            <a:r>
              <a:rPr lang="en-US" sz="1050" dirty="0">
                <a:solidFill>
                  <a:srgbClr val="E2E6E9"/>
                </a:solidFill>
                <a:highlight>
                  <a:srgbClr val="1E1F20"/>
                </a:highlight>
                <a:latin typeface="Consolas" pitchFamily="34" charset="0"/>
                <a:ea typeface="Consolas" pitchFamily="34" charset="-122"/>
                <a:cs typeface="Consolas" pitchFamily="34" charset="-120"/>
              </a:rPr>
              <a:t>setuid</a:t>
            </a:r>
            <a:r>
              <a:rPr lang="en-US" sz="1050" dirty="0">
                <a:solidFill>
                  <a:srgbClr val="E2E6E9"/>
                </a:solidFill>
                <a:latin typeface="Source Sans 3" pitchFamily="34" charset="0"/>
                <a:ea typeface="Source Sans 3" pitchFamily="34" charset="-122"/>
                <a:cs typeface="Source Sans 3" pitchFamily="34" charset="-120"/>
              </a:rPr>
              <a:t>.</a:t>
            </a:r>
            <a:endParaRPr lang="en-US" sz="1050" dirty="0"/>
          </a:p>
        </p:txBody>
      </p:sp>
      <p:sp>
        <p:nvSpPr>
          <p:cNvPr id="13" name="Shape 11"/>
          <p:cNvSpPr/>
          <p:nvPr/>
        </p:nvSpPr>
        <p:spPr>
          <a:xfrm>
            <a:off x="7359968" y="3808333"/>
            <a:ext cx="4946690" cy="1453039"/>
          </a:xfrm>
          <a:prstGeom prst="roundRect">
            <a:avLst>
              <a:gd name="adj" fmla="val 1438"/>
            </a:avLst>
          </a:prstGeom>
          <a:solidFill>
            <a:srgbClr val="111213"/>
          </a:solidFill>
          <a:ln w="15240">
            <a:solidFill>
              <a:srgbClr val="494A4B"/>
            </a:solidFill>
            <a:prstDash val="solid"/>
          </a:ln>
        </p:spPr>
      </p:sp>
      <p:sp>
        <p:nvSpPr>
          <p:cNvPr id="14" name="Text 12"/>
          <p:cNvSpPr/>
          <p:nvPr/>
        </p:nvSpPr>
        <p:spPr>
          <a:xfrm>
            <a:off x="7514392" y="3962757"/>
            <a:ext cx="4637842" cy="395526"/>
          </a:xfrm>
          <a:prstGeom prst="rect">
            <a:avLst/>
          </a:prstGeom>
          <a:noFill/>
          <a:ln/>
        </p:spPr>
        <p:txBody>
          <a:bodyPr wrap="square" lIns="0" tIns="0" rIns="0" bIns="0" rtlCol="0" anchor="t"/>
          <a:lstStyle/>
          <a:p>
            <a:pPr marL="0" indent="0" algn="l">
              <a:lnSpc>
                <a:spcPts val="1550"/>
              </a:lnSpc>
              <a:buNone/>
            </a:pPr>
            <a:r>
              <a:rPr lang="en-US" sz="1200" b="1" dirty="0">
                <a:solidFill>
                  <a:srgbClr val="E2E6E9"/>
                </a:solidFill>
                <a:latin typeface="Montserrat Bold" pitchFamily="34" charset="0"/>
                <a:ea typeface="Montserrat Bold" pitchFamily="34" charset="-122"/>
                <a:cs typeface="Montserrat Bold" pitchFamily="34" charset="-120"/>
              </a:rPr>
              <a:t>Could the LLM accidentally write a SQL injection attack?</a:t>
            </a:r>
            <a:endParaRPr lang="en-US" sz="1200" dirty="0"/>
          </a:p>
        </p:txBody>
      </p:sp>
      <p:sp>
        <p:nvSpPr>
          <p:cNvPr id="15" name="Text 13"/>
          <p:cNvSpPr/>
          <p:nvPr/>
        </p:nvSpPr>
        <p:spPr>
          <a:xfrm>
            <a:off x="7514392" y="4412099"/>
            <a:ext cx="4637842" cy="694849"/>
          </a:xfrm>
          <a:prstGeom prst="rect">
            <a:avLst/>
          </a:prstGeom>
          <a:noFill/>
          <a:ln/>
        </p:spPr>
        <p:txBody>
          <a:bodyPr wrap="square" lIns="0" tIns="0" rIns="0" bIns="0" rtlCol="0" anchor="t"/>
          <a:lstStyle/>
          <a:p>
            <a:pPr marL="0" indent="0" algn="l">
              <a:lnSpc>
                <a:spcPts val="1350"/>
              </a:lnSpc>
              <a:buNone/>
            </a:pPr>
            <a:r>
              <a:rPr lang="en-US" sz="1050" dirty="0">
                <a:solidFill>
                  <a:srgbClr val="E2E6E9"/>
                </a:solidFill>
                <a:highlight>
                  <a:srgbClr val="1E1F20"/>
                </a:highlight>
                <a:latin typeface="Consolas" pitchFamily="34" charset="0"/>
                <a:ea typeface="Consolas" pitchFamily="34" charset="-122"/>
                <a:cs typeface="Consolas" pitchFamily="34" charset="-120"/>
              </a:rPr>
              <a:t>_validate_sql</a:t>
            </a:r>
            <a:r>
              <a:rPr lang="en-US" sz="1050" dirty="0">
                <a:solidFill>
                  <a:srgbClr val="E2E6E9"/>
                </a:solidFill>
                <a:latin typeface="Source Sans 3" pitchFamily="34" charset="0"/>
                <a:ea typeface="Source Sans 3" pitchFamily="34" charset="-122"/>
                <a:cs typeface="Source Sans 3" pitchFamily="34" charset="-120"/>
              </a:rPr>
              <a:t> rejects any SQL with UPDATE/DELETE/DROP. Additionally, EXECUTE AS OWNER means the owner has SELECT privileges only — even if malicious SQL passed validation, it would fail at execution. Two independent layers of protection.</a:t>
            </a:r>
            <a:endParaRPr lang="en-US" sz="1050" dirty="0"/>
          </a:p>
        </p:txBody>
      </p:sp>
      <p:sp>
        <p:nvSpPr>
          <p:cNvPr id="16" name="Shape 14"/>
          <p:cNvSpPr/>
          <p:nvPr/>
        </p:nvSpPr>
        <p:spPr>
          <a:xfrm>
            <a:off x="2323624" y="5351145"/>
            <a:ext cx="4946571" cy="1453039"/>
          </a:xfrm>
          <a:prstGeom prst="roundRect">
            <a:avLst>
              <a:gd name="adj" fmla="val 1438"/>
            </a:avLst>
          </a:prstGeom>
          <a:solidFill>
            <a:srgbClr val="111213"/>
          </a:solidFill>
          <a:ln w="15240">
            <a:solidFill>
              <a:srgbClr val="494A4B"/>
            </a:solidFill>
            <a:prstDash val="solid"/>
          </a:ln>
        </p:spPr>
      </p:sp>
      <p:sp>
        <p:nvSpPr>
          <p:cNvPr id="17" name="Text 15"/>
          <p:cNvSpPr/>
          <p:nvPr/>
        </p:nvSpPr>
        <p:spPr>
          <a:xfrm>
            <a:off x="2478048" y="5505569"/>
            <a:ext cx="4637723" cy="395526"/>
          </a:xfrm>
          <a:prstGeom prst="rect">
            <a:avLst/>
          </a:prstGeom>
          <a:noFill/>
          <a:ln/>
        </p:spPr>
        <p:txBody>
          <a:bodyPr wrap="square" lIns="0" tIns="0" rIns="0" bIns="0" rtlCol="0" anchor="t"/>
          <a:lstStyle/>
          <a:p>
            <a:pPr marL="0" indent="0" algn="l">
              <a:lnSpc>
                <a:spcPts val="1550"/>
              </a:lnSpc>
              <a:buNone/>
            </a:pPr>
            <a:r>
              <a:rPr lang="en-US" sz="1200" b="1" dirty="0">
                <a:solidFill>
                  <a:srgbClr val="E2E6E9"/>
                </a:solidFill>
                <a:latin typeface="Montserrat Bold" pitchFamily="34" charset="0"/>
                <a:ea typeface="Montserrat Bold" pitchFamily="34" charset="-122"/>
                <a:cs typeface="Montserrat Bold" pitchFamily="34" charset="-120"/>
              </a:rPr>
              <a:t>Why does _extract_sql use regex instead of returning LLM output directly?</a:t>
            </a:r>
            <a:endParaRPr lang="en-US" sz="1200" dirty="0"/>
          </a:p>
        </p:txBody>
      </p:sp>
      <p:sp>
        <p:nvSpPr>
          <p:cNvPr id="18" name="Text 16"/>
          <p:cNvSpPr/>
          <p:nvPr/>
        </p:nvSpPr>
        <p:spPr>
          <a:xfrm>
            <a:off x="2478048" y="5954911"/>
            <a:ext cx="4637723" cy="694849"/>
          </a:xfrm>
          <a:prstGeom prst="rect">
            <a:avLst/>
          </a:prstGeom>
          <a:noFill/>
          <a:ln/>
        </p:spPr>
        <p:txBody>
          <a:bodyPr wrap="square" lIns="0" tIns="0" rIns="0" bIns="0" rtlCol="0" anchor="t"/>
          <a:lstStyle/>
          <a:p>
            <a:pPr marL="0" indent="0" algn="l">
              <a:lnSpc>
                <a:spcPts val="1350"/>
              </a:lnSpc>
              <a:buNone/>
            </a:pPr>
            <a:r>
              <a:rPr lang="en-US" sz="1050" dirty="0">
                <a:solidFill>
                  <a:srgbClr val="E2E6E9"/>
                </a:solidFill>
                <a:latin typeface="Source Sans 3" pitchFamily="34" charset="0"/>
                <a:ea typeface="Source Sans 3" pitchFamily="34" charset="-122"/>
                <a:cs typeface="Source Sans 3" pitchFamily="34" charset="-120"/>
              </a:rPr>
              <a:t>LLMs frequently wrap SQL in markdown code fences despite explicit instructions not to, and add explanatory text before or after. The regex finds the first SELECT and everything after, ignoring preamble. Without </a:t>
            </a:r>
            <a:r>
              <a:rPr lang="en-US" sz="1050" dirty="0">
                <a:solidFill>
                  <a:srgbClr val="E2E6E9"/>
                </a:solidFill>
                <a:highlight>
                  <a:srgbClr val="1E1F20"/>
                </a:highlight>
                <a:latin typeface="Consolas" pitchFamily="34" charset="0"/>
                <a:ea typeface="Consolas" pitchFamily="34" charset="-122"/>
                <a:cs typeface="Consolas" pitchFamily="34" charset="-120"/>
              </a:rPr>
              <a:t>_extract_sql</a:t>
            </a:r>
            <a:r>
              <a:rPr lang="en-US" sz="1050" dirty="0">
                <a:solidFill>
                  <a:srgbClr val="E2E6E9"/>
                </a:solidFill>
                <a:latin typeface="Source Sans 3" pitchFamily="34" charset="0"/>
                <a:ea typeface="Source Sans 3" pitchFamily="34" charset="-122"/>
                <a:cs typeface="Source Sans 3" pitchFamily="34" charset="-120"/>
              </a:rPr>
              <a:t>, execution fails on roughly 30% of LLM responses.</a:t>
            </a:r>
            <a:endParaRPr lang="en-US" sz="1050" dirty="0"/>
          </a:p>
        </p:txBody>
      </p:sp>
      <p:sp>
        <p:nvSpPr>
          <p:cNvPr id="19" name="Shape 17"/>
          <p:cNvSpPr/>
          <p:nvPr/>
        </p:nvSpPr>
        <p:spPr>
          <a:xfrm>
            <a:off x="7359968" y="5351145"/>
            <a:ext cx="4946690" cy="1453039"/>
          </a:xfrm>
          <a:prstGeom prst="roundRect">
            <a:avLst>
              <a:gd name="adj" fmla="val 1438"/>
            </a:avLst>
          </a:prstGeom>
          <a:solidFill>
            <a:srgbClr val="111213"/>
          </a:solidFill>
          <a:ln w="15240">
            <a:solidFill>
              <a:srgbClr val="494A4B"/>
            </a:solidFill>
            <a:prstDash val="solid"/>
          </a:ln>
        </p:spPr>
      </p:sp>
      <p:sp>
        <p:nvSpPr>
          <p:cNvPr id="20" name="Text 18"/>
          <p:cNvSpPr/>
          <p:nvPr/>
        </p:nvSpPr>
        <p:spPr>
          <a:xfrm>
            <a:off x="7514392" y="5505569"/>
            <a:ext cx="4637842" cy="395526"/>
          </a:xfrm>
          <a:prstGeom prst="rect">
            <a:avLst/>
          </a:prstGeom>
          <a:noFill/>
          <a:ln/>
        </p:spPr>
        <p:txBody>
          <a:bodyPr wrap="square" lIns="0" tIns="0" rIns="0" bIns="0" rtlCol="0" anchor="t"/>
          <a:lstStyle/>
          <a:p>
            <a:pPr marL="0" indent="0" algn="l">
              <a:lnSpc>
                <a:spcPts val="1550"/>
              </a:lnSpc>
              <a:buNone/>
            </a:pPr>
            <a:r>
              <a:rPr lang="en-US" sz="1200" b="1" dirty="0">
                <a:solidFill>
                  <a:srgbClr val="E2E6E9"/>
                </a:solidFill>
                <a:latin typeface="Montserrat Bold" pitchFamily="34" charset="0"/>
                <a:ea typeface="Montserrat Bold" pitchFamily="34" charset="-122"/>
                <a:cs typeface="Montserrat Bold" pitchFamily="34" charset="-120"/>
              </a:rPr>
              <a:t>What happens to a 158,000-row result from a query without LIMIT?</a:t>
            </a:r>
            <a:endParaRPr lang="en-US" sz="1200" dirty="0"/>
          </a:p>
        </p:txBody>
      </p:sp>
      <p:sp>
        <p:nvSpPr>
          <p:cNvPr id="21" name="Text 19"/>
          <p:cNvSpPr/>
          <p:nvPr/>
        </p:nvSpPr>
        <p:spPr>
          <a:xfrm>
            <a:off x="7514392" y="5954911"/>
            <a:ext cx="4637842" cy="523042"/>
          </a:xfrm>
          <a:prstGeom prst="rect">
            <a:avLst/>
          </a:prstGeom>
          <a:noFill/>
          <a:ln/>
        </p:spPr>
        <p:txBody>
          <a:bodyPr wrap="square" lIns="0" tIns="0" rIns="0" bIns="0" rtlCol="0" anchor="t"/>
          <a:lstStyle/>
          <a:p>
            <a:pPr marL="0" indent="0" algn="l">
              <a:lnSpc>
                <a:spcPts val="1350"/>
              </a:lnSpc>
              <a:buNone/>
            </a:pPr>
            <a:r>
              <a:rPr lang="en-US" sz="1050" dirty="0">
                <a:solidFill>
                  <a:srgbClr val="E2E6E9"/>
                </a:solidFill>
                <a:latin typeface="Source Sans 3" pitchFamily="34" charset="0"/>
                <a:ea typeface="Source Sans 3" pitchFamily="34" charset="-122"/>
                <a:cs typeface="Source Sans 3" pitchFamily="34" charset="-120"/>
              </a:rPr>
              <a:t>The SQL prompt tells the LLM to add LIMIT 500 by default. </a:t>
            </a:r>
            <a:r>
              <a:rPr lang="en-US" sz="1050" dirty="0">
                <a:solidFill>
                  <a:srgbClr val="E2E6E9"/>
                </a:solidFill>
                <a:highlight>
                  <a:srgbClr val="1E1F20"/>
                </a:highlight>
                <a:latin typeface="Consolas" pitchFamily="34" charset="0"/>
                <a:ea typeface="Consolas" pitchFamily="34" charset="-122"/>
                <a:cs typeface="Consolas" pitchFamily="34" charset="-120"/>
              </a:rPr>
              <a:t>_rows_to_list()</a:t>
            </a:r>
            <a:r>
              <a:rPr lang="en-US" sz="1050" dirty="0">
                <a:solidFill>
                  <a:srgbClr val="E2E6E9"/>
                </a:solidFill>
                <a:latin typeface="Source Sans 3" pitchFamily="34" charset="0"/>
                <a:ea typeface="Source Sans 3" pitchFamily="34" charset="-122"/>
                <a:cs typeface="Source Sans 3" pitchFamily="34" charset="-120"/>
              </a:rPr>
              <a:t> caps at 500 as a safety backstop. 158,000 rows would timeout the compute, exceed the VARIANT size limit (~16MB), and crash the browser. Two-layer protection.</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3422809" y="970359"/>
            <a:ext cx="6795135" cy="308491"/>
          </a:xfrm>
          <a:prstGeom prst="rect">
            <a:avLst/>
          </a:prstGeom>
          <a:noFill/>
          <a:ln/>
        </p:spPr>
        <p:txBody>
          <a:bodyPr wrap="none" lIns="0" tIns="0" rIns="0" bIns="0" rtlCol="0" anchor="t"/>
          <a:lstStyle/>
          <a:p>
            <a:pPr marL="0" indent="0" algn="l">
              <a:lnSpc>
                <a:spcPts val="2400"/>
              </a:lnSpc>
              <a:buNone/>
            </a:pPr>
            <a:r>
              <a:rPr lang="en-US" sz="1900" b="1" dirty="0">
                <a:solidFill>
                  <a:srgbClr val="FFFFFF"/>
                </a:solidFill>
                <a:latin typeface="Montserrat Bold" pitchFamily="34" charset="0"/>
                <a:ea typeface="Montserrat Bold" pitchFamily="34" charset="-122"/>
                <a:cs typeface="Montserrat Bold" pitchFamily="34" charset="-120"/>
              </a:rPr>
              <a:t>Steps 05 &amp; 06 — Summary and the Complete System</a:t>
            </a:r>
            <a:endParaRPr lang="en-US" sz="1900" dirty="0"/>
          </a:p>
        </p:txBody>
      </p:sp>
      <p:sp>
        <p:nvSpPr>
          <p:cNvPr id="3" name="Text 1"/>
          <p:cNvSpPr/>
          <p:nvPr/>
        </p:nvSpPr>
        <p:spPr>
          <a:xfrm>
            <a:off x="3422809" y="1415177"/>
            <a:ext cx="2477929" cy="154186"/>
          </a:xfrm>
          <a:prstGeom prst="rect">
            <a:avLst/>
          </a:prstGeom>
          <a:noFill/>
          <a:ln/>
        </p:spPr>
        <p:txBody>
          <a:bodyPr wrap="none" lIns="0" tIns="0" rIns="0" bIns="0" rtlCol="0" anchor="t"/>
          <a:lstStyle/>
          <a:p>
            <a:pPr marL="0" indent="0" algn="l">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SP_GATEWAY (Step 05) — what it does</a:t>
            </a:r>
            <a:endParaRPr lang="en-US" sz="950" dirty="0"/>
          </a:p>
        </p:txBody>
      </p:sp>
      <p:sp>
        <p:nvSpPr>
          <p:cNvPr id="4" name="Shape 2"/>
          <p:cNvSpPr/>
          <p:nvPr/>
        </p:nvSpPr>
        <p:spPr>
          <a:xfrm>
            <a:off x="3422809" y="1684973"/>
            <a:ext cx="54293" cy="54293"/>
          </a:xfrm>
          <a:prstGeom prst="roundRect">
            <a:avLst>
              <a:gd name="adj" fmla="val 842098"/>
            </a:avLst>
          </a:prstGeom>
          <a:solidFill>
            <a:srgbClr val="FFFFFF"/>
          </a:solidFill>
          <a:ln/>
        </p:spPr>
      </p:sp>
      <p:sp>
        <p:nvSpPr>
          <p:cNvPr id="5" name="Text 3"/>
          <p:cNvSpPr/>
          <p:nvPr/>
        </p:nvSpPr>
        <p:spPr>
          <a:xfrm>
            <a:off x="3531632" y="1630680"/>
            <a:ext cx="3651171" cy="129897"/>
          </a:xfrm>
          <a:prstGeom prst="rect">
            <a:avLst/>
          </a:prstGeom>
          <a:noFill/>
          <a:ln/>
        </p:spPr>
        <p:txBody>
          <a:bodyPr wrap="none" lIns="0" tIns="0" rIns="0" bIns="0" rtlCol="0" anchor="t"/>
          <a:lstStyle/>
          <a:p>
            <a:pPr marL="0" indent="0" algn="l">
              <a:lnSpc>
                <a:spcPts val="95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Receives every user message from Streamlit</a:t>
            </a:r>
            <a:endParaRPr lang="en-US" sz="850" dirty="0"/>
          </a:p>
        </p:txBody>
      </p:sp>
      <p:sp>
        <p:nvSpPr>
          <p:cNvPr id="6" name="Shape 4"/>
          <p:cNvSpPr/>
          <p:nvPr/>
        </p:nvSpPr>
        <p:spPr>
          <a:xfrm>
            <a:off x="3422809" y="1929884"/>
            <a:ext cx="54293" cy="54293"/>
          </a:xfrm>
          <a:prstGeom prst="roundRect">
            <a:avLst>
              <a:gd name="adj" fmla="val 842098"/>
            </a:avLst>
          </a:prstGeom>
          <a:solidFill>
            <a:srgbClr val="FFFFFF"/>
          </a:solidFill>
          <a:ln/>
        </p:spPr>
      </p:sp>
      <p:sp>
        <p:nvSpPr>
          <p:cNvPr id="7" name="Text 5"/>
          <p:cNvSpPr/>
          <p:nvPr/>
        </p:nvSpPr>
        <p:spPr>
          <a:xfrm>
            <a:off x="3531632" y="1875592"/>
            <a:ext cx="3651171" cy="129897"/>
          </a:xfrm>
          <a:prstGeom prst="rect">
            <a:avLst/>
          </a:prstGeom>
          <a:noFill/>
          <a:ln/>
        </p:spPr>
        <p:txBody>
          <a:bodyPr wrap="none" lIns="0" tIns="0" rIns="0" bIns="0" rtlCol="0" anchor="t"/>
          <a:lstStyle/>
          <a:p>
            <a:pPr marL="0" indent="0" algn="l">
              <a:lnSpc>
                <a:spcPts val="95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Classifies intent using llama3.1-8b with few-shot prompt</a:t>
            </a:r>
            <a:endParaRPr lang="en-US" sz="850" dirty="0"/>
          </a:p>
        </p:txBody>
      </p:sp>
      <p:sp>
        <p:nvSpPr>
          <p:cNvPr id="8" name="Shape 6"/>
          <p:cNvSpPr/>
          <p:nvPr/>
        </p:nvSpPr>
        <p:spPr>
          <a:xfrm>
            <a:off x="3422809" y="2174796"/>
            <a:ext cx="54293" cy="54293"/>
          </a:xfrm>
          <a:prstGeom prst="roundRect">
            <a:avLst>
              <a:gd name="adj" fmla="val 842098"/>
            </a:avLst>
          </a:prstGeom>
          <a:solidFill>
            <a:srgbClr val="FFFFFF"/>
          </a:solidFill>
          <a:ln/>
        </p:spPr>
      </p:sp>
      <p:sp>
        <p:nvSpPr>
          <p:cNvPr id="9" name="Text 7"/>
          <p:cNvSpPr/>
          <p:nvPr/>
        </p:nvSpPr>
        <p:spPr>
          <a:xfrm>
            <a:off x="3531632" y="2120503"/>
            <a:ext cx="3651171" cy="129897"/>
          </a:xfrm>
          <a:prstGeom prst="rect">
            <a:avLst/>
          </a:prstGeom>
          <a:noFill/>
          <a:ln/>
        </p:spPr>
        <p:txBody>
          <a:bodyPr wrap="none" lIns="0" tIns="0" rIns="0" bIns="0" rtlCol="0" anchor="t"/>
          <a:lstStyle/>
          <a:p>
            <a:pPr marL="0" indent="0" algn="l">
              <a:lnSpc>
                <a:spcPts val="95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Persists user turn to SWIGGY_CONVERSATION_HISTORY</a:t>
            </a:r>
            <a:endParaRPr lang="en-US" sz="850" dirty="0"/>
          </a:p>
        </p:txBody>
      </p:sp>
      <p:sp>
        <p:nvSpPr>
          <p:cNvPr id="10" name="Shape 8"/>
          <p:cNvSpPr/>
          <p:nvPr/>
        </p:nvSpPr>
        <p:spPr>
          <a:xfrm>
            <a:off x="3422809" y="2419707"/>
            <a:ext cx="54293" cy="54293"/>
          </a:xfrm>
          <a:prstGeom prst="roundRect">
            <a:avLst>
              <a:gd name="adj" fmla="val 842098"/>
            </a:avLst>
          </a:prstGeom>
          <a:solidFill>
            <a:srgbClr val="FFFFFF"/>
          </a:solidFill>
          <a:ln/>
        </p:spPr>
      </p:sp>
      <p:sp>
        <p:nvSpPr>
          <p:cNvPr id="11" name="Text 9"/>
          <p:cNvSpPr/>
          <p:nvPr/>
        </p:nvSpPr>
        <p:spPr>
          <a:xfrm>
            <a:off x="3531632" y="2365415"/>
            <a:ext cx="3651171" cy="129897"/>
          </a:xfrm>
          <a:prstGeom prst="rect">
            <a:avLst/>
          </a:prstGeom>
          <a:noFill/>
          <a:ln/>
        </p:spPr>
        <p:txBody>
          <a:bodyPr wrap="none" lIns="0" tIns="0" rIns="0" bIns="0" rtlCol="0" anchor="t"/>
          <a:lstStyle/>
          <a:p>
            <a:pPr marL="0" indent="0" algn="l">
              <a:lnSpc>
                <a:spcPts val="95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Routes to SP_SQL_ANALYST or SP_PLAYBOOK_RAG</a:t>
            </a:r>
            <a:endParaRPr lang="en-US" sz="850" dirty="0"/>
          </a:p>
        </p:txBody>
      </p:sp>
      <p:sp>
        <p:nvSpPr>
          <p:cNvPr id="12" name="Shape 10"/>
          <p:cNvSpPr/>
          <p:nvPr/>
        </p:nvSpPr>
        <p:spPr>
          <a:xfrm>
            <a:off x="3422809" y="2664619"/>
            <a:ext cx="54293" cy="54293"/>
          </a:xfrm>
          <a:prstGeom prst="roundRect">
            <a:avLst>
              <a:gd name="adj" fmla="val 842098"/>
            </a:avLst>
          </a:prstGeom>
          <a:solidFill>
            <a:srgbClr val="FFFFFF"/>
          </a:solidFill>
          <a:ln/>
        </p:spPr>
      </p:sp>
      <p:sp>
        <p:nvSpPr>
          <p:cNvPr id="13" name="Text 11"/>
          <p:cNvSpPr/>
          <p:nvPr/>
        </p:nvSpPr>
        <p:spPr>
          <a:xfrm>
            <a:off x="3531632" y="2610326"/>
            <a:ext cx="3651171" cy="129897"/>
          </a:xfrm>
          <a:prstGeom prst="rect">
            <a:avLst/>
          </a:prstGeom>
          <a:noFill/>
          <a:ln/>
        </p:spPr>
        <p:txBody>
          <a:bodyPr wrap="none" lIns="0" tIns="0" rIns="0" bIns="0" rtlCol="0" anchor="t"/>
          <a:lstStyle/>
          <a:p>
            <a:pPr marL="0" indent="0" algn="l">
              <a:lnSpc>
                <a:spcPts val="95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Handles cross-SP fallback if primary fails</a:t>
            </a:r>
            <a:endParaRPr lang="en-US" sz="850" dirty="0"/>
          </a:p>
        </p:txBody>
      </p:sp>
      <p:sp>
        <p:nvSpPr>
          <p:cNvPr id="14" name="Shape 12"/>
          <p:cNvSpPr/>
          <p:nvPr/>
        </p:nvSpPr>
        <p:spPr>
          <a:xfrm>
            <a:off x="3422809" y="2909530"/>
            <a:ext cx="54293" cy="54293"/>
          </a:xfrm>
          <a:prstGeom prst="roundRect">
            <a:avLst>
              <a:gd name="adj" fmla="val 842098"/>
            </a:avLst>
          </a:prstGeom>
          <a:solidFill>
            <a:srgbClr val="FFFFFF"/>
          </a:solidFill>
          <a:ln/>
        </p:spPr>
      </p:sp>
      <p:sp>
        <p:nvSpPr>
          <p:cNvPr id="15" name="Text 13"/>
          <p:cNvSpPr/>
          <p:nvPr/>
        </p:nvSpPr>
        <p:spPr>
          <a:xfrm>
            <a:off x="3531632" y="2855238"/>
            <a:ext cx="3651171" cy="129897"/>
          </a:xfrm>
          <a:prstGeom prst="rect">
            <a:avLst/>
          </a:prstGeom>
          <a:noFill/>
          <a:ln/>
        </p:spPr>
        <p:txBody>
          <a:bodyPr wrap="none" lIns="0" tIns="0" rIns="0" bIns="0" rtlCol="0" anchor="t"/>
          <a:lstStyle/>
          <a:p>
            <a:pPr marL="0" indent="0" algn="l">
              <a:lnSpc>
                <a:spcPts val="95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Returns full response + _gateway metadata to Streamlit</a:t>
            </a:r>
            <a:endParaRPr lang="en-US" sz="850" dirty="0"/>
          </a:p>
        </p:txBody>
      </p:sp>
      <p:sp>
        <p:nvSpPr>
          <p:cNvPr id="16" name="Text 14"/>
          <p:cNvSpPr/>
          <p:nvPr/>
        </p:nvSpPr>
        <p:spPr>
          <a:xfrm>
            <a:off x="3422809" y="3052286"/>
            <a:ext cx="2757368" cy="154186"/>
          </a:xfrm>
          <a:prstGeom prst="rect">
            <a:avLst/>
          </a:prstGeom>
          <a:noFill/>
          <a:ln/>
        </p:spPr>
        <p:txBody>
          <a:bodyPr wrap="none" lIns="0" tIns="0" rIns="0" bIns="0" rtlCol="0" anchor="t"/>
          <a:lstStyle/>
          <a:p>
            <a:pPr marL="0" indent="0" algn="l">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SP_SQL_ANALYST (Step 06) — what it does</a:t>
            </a:r>
            <a:endParaRPr lang="en-US" sz="950" dirty="0"/>
          </a:p>
        </p:txBody>
      </p:sp>
      <p:sp>
        <p:nvSpPr>
          <p:cNvPr id="17" name="Shape 15"/>
          <p:cNvSpPr/>
          <p:nvPr/>
        </p:nvSpPr>
        <p:spPr>
          <a:xfrm>
            <a:off x="3422809" y="3322082"/>
            <a:ext cx="54293" cy="54293"/>
          </a:xfrm>
          <a:prstGeom prst="roundRect">
            <a:avLst>
              <a:gd name="adj" fmla="val 842098"/>
            </a:avLst>
          </a:prstGeom>
          <a:solidFill>
            <a:srgbClr val="FFFFFF"/>
          </a:solidFill>
          <a:ln/>
        </p:spPr>
      </p:sp>
      <p:sp>
        <p:nvSpPr>
          <p:cNvPr id="18" name="Text 16"/>
          <p:cNvSpPr/>
          <p:nvPr/>
        </p:nvSpPr>
        <p:spPr>
          <a:xfrm>
            <a:off x="3531632" y="3267789"/>
            <a:ext cx="3651171" cy="129897"/>
          </a:xfrm>
          <a:prstGeom prst="rect">
            <a:avLst/>
          </a:prstGeom>
          <a:noFill/>
          <a:ln/>
        </p:spPr>
        <p:txBody>
          <a:bodyPr wrap="none" lIns="0" tIns="0" rIns="0" bIns="0" rtlCol="0" anchor="t"/>
          <a:lstStyle/>
          <a:p>
            <a:pPr marL="0" indent="0" algn="l">
              <a:lnSpc>
                <a:spcPts val="95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Builds SQL prompt with full schema + last 3 turns</a:t>
            </a:r>
            <a:endParaRPr lang="en-US" sz="850" dirty="0"/>
          </a:p>
        </p:txBody>
      </p:sp>
      <p:sp>
        <p:nvSpPr>
          <p:cNvPr id="19" name="Shape 17"/>
          <p:cNvSpPr/>
          <p:nvPr/>
        </p:nvSpPr>
        <p:spPr>
          <a:xfrm>
            <a:off x="3422809" y="3566993"/>
            <a:ext cx="54293" cy="54293"/>
          </a:xfrm>
          <a:prstGeom prst="roundRect">
            <a:avLst>
              <a:gd name="adj" fmla="val 842098"/>
            </a:avLst>
          </a:prstGeom>
          <a:solidFill>
            <a:srgbClr val="FFFFFF"/>
          </a:solidFill>
          <a:ln/>
        </p:spPr>
      </p:sp>
      <p:sp>
        <p:nvSpPr>
          <p:cNvPr id="20" name="Text 18"/>
          <p:cNvSpPr/>
          <p:nvPr/>
        </p:nvSpPr>
        <p:spPr>
          <a:xfrm>
            <a:off x="3531632" y="3512701"/>
            <a:ext cx="3651171" cy="129897"/>
          </a:xfrm>
          <a:prstGeom prst="rect">
            <a:avLst/>
          </a:prstGeom>
          <a:noFill/>
          <a:ln/>
        </p:spPr>
        <p:txBody>
          <a:bodyPr wrap="none" lIns="0" tIns="0" rIns="0" bIns="0" rtlCol="0" anchor="t"/>
          <a:lstStyle/>
          <a:p>
            <a:pPr marL="0" indent="0" algn="l">
              <a:lnSpc>
                <a:spcPts val="95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Calls llama3.1-70b to generate Snowflake SELECT</a:t>
            </a:r>
            <a:endParaRPr lang="en-US" sz="850" dirty="0"/>
          </a:p>
        </p:txBody>
      </p:sp>
      <p:sp>
        <p:nvSpPr>
          <p:cNvPr id="21" name="Shape 19"/>
          <p:cNvSpPr/>
          <p:nvPr/>
        </p:nvSpPr>
        <p:spPr>
          <a:xfrm>
            <a:off x="3422809" y="3811905"/>
            <a:ext cx="54293" cy="54293"/>
          </a:xfrm>
          <a:prstGeom prst="roundRect">
            <a:avLst>
              <a:gd name="adj" fmla="val 842098"/>
            </a:avLst>
          </a:prstGeom>
          <a:solidFill>
            <a:srgbClr val="FFFFFF"/>
          </a:solidFill>
          <a:ln/>
        </p:spPr>
      </p:sp>
      <p:sp>
        <p:nvSpPr>
          <p:cNvPr id="22" name="Text 20"/>
          <p:cNvSpPr/>
          <p:nvPr/>
        </p:nvSpPr>
        <p:spPr>
          <a:xfrm>
            <a:off x="3531632" y="3757613"/>
            <a:ext cx="3651171" cy="129897"/>
          </a:xfrm>
          <a:prstGeom prst="rect">
            <a:avLst/>
          </a:prstGeom>
          <a:noFill/>
          <a:ln/>
        </p:spPr>
        <p:txBody>
          <a:bodyPr wrap="none" lIns="0" tIns="0" rIns="0" bIns="0" rtlCol="0" anchor="t"/>
          <a:lstStyle/>
          <a:p>
            <a:pPr marL="0" indent="0" algn="l">
              <a:lnSpc>
                <a:spcPts val="95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Extracts and validates SQL (read-only guard)</a:t>
            </a:r>
            <a:endParaRPr lang="en-US" sz="850" dirty="0"/>
          </a:p>
        </p:txBody>
      </p:sp>
      <p:sp>
        <p:nvSpPr>
          <p:cNvPr id="23" name="Shape 21"/>
          <p:cNvSpPr/>
          <p:nvPr/>
        </p:nvSpPr>
        <p:spPr>
          <a:xfrm>
            <a:off x="3422809" y="4056817"/>
            <a:ext cx="54293" cy="54293"/>
          </a:xfrm>
          <a:prstGeom prst="roundRect">
            <a:avLst>
              <a:gd name="adj" fmla="val 842098"/>
            </a:avLst>
          </a:prstGeom>
          <a:solidFill>
            <a:srgbClr val="FFFFFF"/>
          </a:solidFill>
          <a:ln/>
        </p:spPr>
      </p:sp>
      <p:sp>
        <p:nvSpPr>
          <p:cNvPr id="24" name="Text 22"/>
          <p:cNvSpPr/>
          <p:nvPr/>
        </p:nvSpPr>
        <p:spPr>
          <a:xfrm>
            <a:off x="3531632" y="4002524"/>
            <a:ext cx="3651171" cy="129897"/>
          </a:xfrm>
          <a:prstGeom prst="rect">
            <a:avLst/>
          </a:prstGeom>
          <a:noFill/>
          <a:ln/>
        </p:spPr>
        <p:txBody>
          <a:bodyPr wrap="none" lIns="0" tIns="0" rIns="0" bIns="0" rtlCol="0" anchor="t"/>
          <a:lstStyle/>
          <a:p>
            <a:pPr marL="0" indent="0" algn="l">
              <a:lnSpc>
                <a:spcPts val="95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Executes SQL against live Swiggy tables</a:t>
            </a:r>
            <a:endParaRPr lang="en-US" sz="850" dirty="0"/>
          </a:p>
        </p:txBody>
      </p:sp>
      <p:sp>
        <p:nvSpPr>
          <p:cNvPr id="25" name="Shape 23"/>
          <p:cNvSpPr/>
          <p:nvPr/>
        </p:nvSpPr>
        <p:spPr>
          <a:xfrm>
            <a:off x="3422809" y="4301728"/>
            <a:ext cx="54293" cy="54293"/>
          </a:xfrm>
          <a:prstGeom prst="roundRect">
            <a:avLst>
              <a:gd name="adj" fmla="val 842098"/>
            </a:avLst>
          </a:prstGeom>
          <a:solidFill>
            <a:srgbClr val="FFFFFF"/>
          </a:solidFill>
          <a:ln/>
        </p:spPr>
      </p:sp>
      <p:sp>
        <p:nvSpPr>
          <p:cNvPr id="26" name="Text 24"/>
          <p:cNvSpPr/>
          <p:nvPr/>
        </p:nvSpPr>
        <p:spPr>
          <a:xfrm>
            <a:off x="3531632" y="4247436"/>
            <a:ext cx="3651171" cy="129897"/>
          </a:xfrm>
          <a:prstGeom prst="rect">
            <a:avLst/>
          </a:prstGeom>
          <a:noFill/>
          <a:ln/>
        </p:spPr>
        <p:txBody>
          <a:bodyPr wrap="none" lIns="0" tIns="0" rIns="0" bIns="0" rtlCol="0" anchor="t"/>
          <a:lstStyle/>
          <a:p>
            <a:pPr marL="0" indent="0" algn="l">
              <a:lnSpc>
                <a:spcPts val="95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Serialises results (handles Decimal, datetime, NULL)</a:t>
            </a:r>
            <a:endParaRPr lang="en-US" sz="850" dirty="0"/>
          </a:p>
        </p:txBody>
      </p:sp>
      <p:sp>
        <p:nvSpPr>
          <p:cNvPr id="27" name="Shape 25"/>
          <p:cNvSpPr/>
          <p:nvPr/>
        </p:nvSpPr>
        <p:spPr>
          <a:xfrm>
            <a:off x="3422809" y="4546640"/>
            <a:ext cx="54293" cy="54293"/>
          </a:xfrm>
          <a:prstGeom prst="roundRect">
            <a:avLst>
              <a:gd name="adj" fmla="val 842098"/>
            </a:avLst>
          </a:prstGeom>
          <a:solidFill>
            <a:srgbClr val="FFFFFF"/>
          </a:solidFill>
          <a:ln/>
        </p:spPr>
      </p:sp>
      <p:sp>
        <p:nvSpPr>
          <p:cNvPr id="28" name="Text 26"/>
          <p:cNvSpPr/>
          <p:nvPr/>
        </p:nvSpPr>
        <p:spPr>
          <a:xfrm>
            <a:off x="3531632" y="4492347"/>
            <a:ext cx="3651171" cy="129897"/>
          </a:xfrm>
          <a:prstGeom prst="rect">
            <a:avLst/>
          </a:prstGeom>
          <a:noFill/>
          <a:ln/>
        </p:spPr>
        <p:txBody>
          <a:bodyPr wrap="none" lIns="0" tIns="0" rIns="0" bIns="0" rtlCol="0" anchor="t"/>
          <a:lstStyle/>
          <a:p>
            <a:pPr marL="0" indent="0" algn="l">
              <a:lnSpc>
                <a:spcPts val="95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Calls llama3.1-8b to narrate results in plain English</a:t>
            </a:r>
            <a:endParaRPr lang="en-US" sz="850" dirty="0"/>
          </a:p>
        </p:txBody>
      </p:sp>
      <p:sp>
        <p:nvSpPr>
          <p:cNvPr id="29" name="Shape 27"/>
          <p:cNvSpPr/>
          <p:nvPr/>
        </p:nvSpPr>
        <p:spPr>
          <a:xfrm>
            <a:off x="3422809" y="4791551"/>
            <a:ext cx="54293" cy="54293"/>
          </a:xfrm>
          <a:prstGeom prst="roundRect">
            <a:avLst>
              <a:gd name="adj" fmla="val 842098"/>
            </a:avLst>
          </a:prstGeom>
          <a:solidFill>
            <a:srgbClr val="FFFFFF"/>
          </a:solidFill>
          <a:ln/>
        </p:spPr>
      </p:sp>
      <p:sp>
        <p:nvSpPr>
          <p:cNvPr id="30" name="Text 28"/>
          <p:cNvSpPr/>
          <p:nvPr/>
        </p:nvSpPr>
        <p:spPr>
          <a:xfrm>
            <a:off x="3531632" y="4737259"/>
            <a:ext cx="3651171" cy="129897"/>
          </a:xfrm>
          <a:prstGeom prst="rect">
            <a:avLst/>
          </a:prstGeom>
          <a:noFill/>
          <a:ln/>
        </p:spPr>
        <p:txBody>
          <a:bodyPr wrap="none" lIns="0" tIns="0" rIns="0" bIns="0" rtlCol="0" anchor="t"/>
          <a:lstStyle/>
          <a:p>
            <a:pPr marL="0" indent="0" algn="l">
              <a:lnSpc>
                <a:spcPts val="95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Returns {status, sql, narrative, results, columns, row_count}</a:t>
            </a:r>
            <a:endParaRPr lang="en-US" sz="850" dirty="0"/>
          </a:p>
        </p:txBody>
      </p:sp>
      <p:sp>
        <p:nvSpPr>
          <p:cNvPr id="31" name="Shape 29"/>
          <p:cNvSpPr/>
          <p:nvPr/>
        </p:nvSpPr>
        <p:spPr>
          <a:xfrm>
            <a:off x="3422809" y="5036463"/>
            <a:ext cx="54293" cy="54293"/>
          </a:xfrm>
          <a:prstGeom prst="roundRect">
            <a:avLst>
              <a:gd name="adj" fmla="val 842098"/>
            </a:avLst>
          </a:prstGeom>
          <a:solidFill>
            <a:srgbClr val="FFFFFF"/>
          </a:solidFill>
          <a:ln/>
        </p:spPr>
      </p:sp>
      <p:sp>
        <p:nvSpPr>
          <p:cNvPr id="32" name="Text 30"/>
          <p:cNvSpPr/>
          <p:nvPr/>
        </p:nvSpPr>
        <p:spPr>
          <a:xfrm>
            <a:off x="3531632" y="4982170"/>
            <a:ext cx="3651171" cy="129897"/>
          </a:xfrm>
          <a:prstGeom prst="rect">
            <a:avLst/>
          </a:prstGeom>
          <a:noFill/>
          <a:ln/>
        </p:spPr>
        <p:txBody>
          <a:bodyPr wrap="none" lIns="0" tIns="0" rIns="0" bIns="0" rtlCol="0" anchor="t"/>
          <a:lstStyle/>
          <a:p>
            <a:pPr marL="0" indent="0" algn="l">
              <a:lnSpc>
                <a:spcPts val="950"/>
              </a:lnSpc>
              <a:buNone/>
            </a:pPr>
            <a:r>
              <a:rPr lang="en-US" sz="850" dirty="0">
                <a:solidFill>
                  <a:srgbClr val="000000"/>
                </a:solidFill>
                <a:latin typeface="Source Sans 3" pitchFamily="34" charset="0"/>
                <a:ea typeface="Source Sans 3" pitchFamily="34" charset="-122"/>
                <a:cs typeface="Source Sans 3" pitchFamily="34" charset="-120"/>
              </a:rPr>
              <a:t>✅</a:t>
            </a:r>
            <a:r>
              <a:rPr lang="en-US" sz="850" dirty="0">
                <a:solidFill>
                  <a:srgbClr val="E2E6E9"/>
                </a:solidFill>
                <a:latin typeface="Source Sans 3" pitchFamily="34" charset="0"/>
                <a:ea typeface="Source Sans 3" pitchFamily="34" charset="-122"/>
                <a:cs typeface="Source Sans 3" pitchFamily="34" charset="-120"/>
              </a:rPr>
              <a:t> Retries with simplified prompt if attempt 1 fails</a:t>
            </a:r>
            <a:endParaRPr lang="en-US" sz="850" dirty="0"/>
          </a:p>
        </p:txBody>
      </p:sp>
      <p:sp>
        <p:nvSpPr>
          <p:cNvPr id="33" name="Shape 31"/>
          <p:cNvSpPr/>
          <p:nvPr/>
        </p:nvSpPr>
        <p:spPr>
          <a:xfrm>
            <a:off x="7377113" y="1360646"/>
            <a:ext cx="3916204" cy="5285303"/>
          </a:xfrm>
          <a:prstGeom prst="roundRect">
            <a:avLst>
              <a:gd name="adj" fmla="val 416"/>
            </a:avLst>
          </a:prstGeom>
          <a:solidFill>
            <a:srgbClr val="1D1F22"/>
          </a:solidFill>
          <a:ln/>
        </p:spPr>
      </p:sp>
      <p:sp>
        <p:nvSpPr>
          <p:cNvPr id="34" name="Text 32"/>
          <p:cNvSpPr/>
          <p:nvPr/>
        </p:nvSpPr>
        <p:spPr>
          <a:xfrm>
            <a:off x="7485698" y="1415177"/>
            <a:ext cx="2234089" cy="154186"/>
          </a:xfrm>
          <a:prstGeom prst="rect">
            <a:avLst/>
          </a:prstGeom>
          <a:noFill/>
          <a:ln/>
        </p:spPr>
        <p:txBody>
          <a:bodyPr wrap="none" lIns="0" tIns="0" rIns="0" bIns="0" rtlCol="0" anchor="t"/>
          <a:lstStyle/>
          <a:p>
            <a:pPr marL="0" indent="0" algn="l">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Complete 8-file system at a glance</a:t>
            </a:r>
            <a:endParaRPr lang="en-US" sz="950" dirty="0"/>
          </a:p>
        </p:txBody>
      </p:sp>
      <p:pic>
        <p:nvPicPr>
          <p:cNvPr id="35" name="Image 0" descr="preencoded.png"/>
          <p:cNvPicPr>
            <a:picLocks noChangeAspect="1"/>
          </p:cNvPicPr>
          <p:nvPr/>
        </p:nvPicPr>
        <p:blipFill>
          <a:blip r:embed="rId3"/>
          <a:stretch>
            <a:fillRect/>
          </a:stretch>
        </p:blipFill>
        <p:spPr>
          <a:xfrm>
            <a:off x="7485698" y="1630680"/>
            <a:ext cx="3699034" cy="4953953"/>
          </a:xfrm>
          <a:prstGeom prst="rect">
            <a:avLst/>
          </a:prstGeom>
        </p:spPr>
      </p:pic>
      <p:pic>
        <p:nvPicPr>
          <p:cNvPr id="36" name="Image 1" descr="preencoded.png"/>
          <p:cNvPicPr>
            <a:picLocks noChangeAspect="1"/>
          </p:cNvPicPr>
          <p:nvPr/>
        </p:nvPicPr>
        <p:blipFill>
          <a:blip r:embed="rId4"/>
          <a:stretch>
            <a:fillRect/>
          </a:stretch>
        </p:blipFill>
        <p:spPr>
          <a:xfrm>
            <a:off x="7485698" y="1630680"/>
            <a:ext cx="3699034" cy="4953953"/>
          </a:xfrm>
          <a:prstGeom prst="rect">
            <a:avLst/>
          </a:prstGeom>
        </p:spPr>
      </p:pic>
      <p:sp>
        <p:nvSpPr>
          <p:cNvPr id="37" name="Shape 33"/>
          <p:cNvSpPr/>
          <p:nvPr/>
        </p:nvSpPr>
        <p:spPr>
          <a:xfrm>
            <a:off x="3422809" y="6707267"/>
            <a:ext cx="7784783" cy="551855"/>
          </a:xfrm>
          <a:prstGeom prst="roundRect">
            <a:avLst>
              <a:gd name="adj" fmla="val 2952"/>
            </a:avLst>
          </a:prstGeom>
          <a:solidFill>
            <a:srgbClr val="262626"/>
          </a:solidFill>
          <a:ln/>
        </p:spPr>
      </p:sp>
      <p:pic>
        <p:nvPicPr>
          <p:cNvPr id="38" name="Image 2" descr="preencoded.png"/>
          <p:cNvPicPr>
            <a:picLocks noChangeAspect="1"/>
          </p:cNvPicPr>
          <p:nvPr/>
        </p:nvPicPr>
        <p:blipFill>
          <a:blip r:embed="rId5"/>
          <a:stretch>
            <a:fillRect/>
          </a:stretch>
        </p:blipFill>
        <p:spPr>
          <a:xfrm>
            <a:off x="3531394" y="6842998"/>
            <a:ext cx="135731" cy="108585"/>
          </a:xfrm>
          <a:prstGeom prst="rect">
            <a:avLst/>
          </a:prstGeom>
        </p:spPr>
      </p:pic>
      <p:sp>
        <p:nvSpPr>
          <p:cNvPr id="39" name="Text 34"/>
          <p:cNvSpPr/>
          <p:nvPr/>
        </p:nvSpPr>
        <p:spPr>
          <a:xfrm>
            <a:off x="3775710" y="6788944"/>
            <a:ext cx="7323296" cy="366832"/>
          </a:xfrm>
          <a:prstGeom prst="rect">
            <a:avLst/>
          </a:prstGeom>
          <a:noFill/>
          <a:ln/>
        </p:spPr>
        <p:txBody>
          <a:bodyPr wrap="square" lIns="0" tIns="0" rIns="0" bIns="0" rtlCol="0" anchor="t"/>
          <a:lstStyle/>
          <a:p>
            <a:pPr marL="0" indent="0" algn="l">
              <a:lnSpc>
                <a:spcPts val="950"/>
              </a:lnSpc>
              <a:buNone/>
            </a:pPr>
            <a:r>
              <a:rPr lang="en-US" sz="850" b="1" dirty="0">
                <a:solidFill>
                  <a:srgbClr val="FFFFFF"/>
                </a:solidFill>
                <a:latin typeface="Source Sans 3" pitchFamily="34" charset="0"/>
                <a:ea typeface="Source Sans 3" pitchFamily="34" charset="-122"/>
                <a:cs typeface="Source Sans 3" pitchFamily="34" charset="-120"/>
              </a:rPr>
              <a:t>Two procedures. Two responsibilities. One clean interface.</a:t>
            </a:r>
            <a:r>
              <a:rPr lang="en-US" sz="850" dirty="0">
                <a:solidFill>
                  <a:srgbClr val="FFFFFF"/>
                </a:solidFill>
                <a:latin typeface="Source Sans 3" pitchFamily="34" charset="0"/>
                <a:ea typeface="Source Sans 3" pitchFamily="34" charset="-122"/>
                <a:cs typeface="Source Sans 3" pitchFamily="34" charset="-120"/>
              </a:rPr>
              <a:t> Streamlit calls one thing (SP_GATEWAY). The gateway knows what to do. This separation of concerns is what makes the system maintainable, testable, and extensible. </a:t>
            </a:r>
            <a:r>
              <a:rPr lang="en-US" sz="850" b="1" dirty="0">
                <a:solidFill>
                  <a:srgbClr val="FFFFFF"/>
                </a:solidFill>
                <a:latin typeface="Source Sans 3" pitchFamily="34" charset="0"/>
                <a:ea typeface="Source Sans 3" pitchFamily="34" charset="-122"/>
                <a:cs typeface="Source Sans 3" pitchFamily="34" charset="-120"/>
              </a:rPr>
              <a:t>Next: Step 07 (SP_PLAYBOOK_RAG)</a:t>
            </a:r>
            <a:r>
              <a:rPr lang="en-US" sz="850" dirty="0">
                <a:solidFill>
                  <a:srgbClr val="FFFFFF"/>
                </a:solidFill>
                <a:latin typeface="Source Sans 3" pitchFamily="34" charset="0"/>
                <a:ea typeface="Source Sans 3" pitchFamily="34" charset="-122"/>
                <a:cs typeface="Source Sans 3" pitchFamily="34" charset="-120"/>
              </a:rPr>
              <a:t> — how strategy questions are answered using RAG. After Step 07, the chatbot is fully functional. Step 08 just provides the visual interface on top.</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6596</Words>
  <Application>Microsoft Office PowerPoint</Application>
  <PresentationFormat>Custom</PresentationFormat>
  <Paragraphs>666</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Montserrat Bold</vt:lpstr>
      <vt:lpstr>Montserrat Light</vt:lpstr>
      <vt:lpstr>Consolas</vt:lpstr>
      <vt:lpstr>Arial</vt:lpstr>
      <vt:lpstr>Source Sans 3</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Mubashir Hussain S M</cp:lastModifiedBy>
  <cp:revision>2</cp:revision>
  <dcterms:created xsi:type="dcterms:W3CDTF">2026-04-08T19:46:41Z</dcterms:created>
  <dcterms:modified xsi:type="dcterms:W3CDTF">2026-04-08T19:50:27Z</dcterms:modified>
</cp:coreProperties>
</file>